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8fde3fe1-81a3-e996-7a1d-3fafadf6570b}">
          <p14:sldIdLst>
            <p14:sldId id="256"/>
          </p14:sldIdLst>
        </p14:section>
        <p14:section name="Hintergrund" id="{2ff3b851-370b-7bf5-595e-10d471d7bd19}">
          <p14:sldIdLst>
            <p14:sldId id="257"/>
            <p14:sldId id="258"/>
            <p14:sldId id="259"/>
            <p14:sldId id="260"/>
          </p14:sldIdLst>
        </p14:section>
        <p14:section name="Methode" id="{05e2c5e8-274e-028b-9a2c-30b8cb076fea}">
          <p14:sldIdLst>
            <p14:sldId id="261"/>
            <p14:sldId id="262"/>
            <p14:sldId id="263"/>
            <p14:sldId id="264"/>
            <p14:sldId id="265"/>
            <p14:sldId id="266"/>
          </p14:sldIdLst>
        </p14:section>
        <p14:section name="Prüfstufen 1 bis 3" id="{20f4cf55-de93-8531-0a1a-d4edee4f43c9}">
          <p14:sldIdLst>
            <p14:sldId id="267"/>
            <p14:sldId id="268"/>
            <p14:sldId id="269"/>
            <p14:sldId id="270"/>
            <p14:sldId id="271"/>
          </p14:sldIdLst>
        </p14:section>
        <p14:section name="Prüfstufe 4: eigene Messungen" id="{d09c4c35-8783-08c2-7574-83b0a3a48fd7}">
          <p14:sldIdLst>
            <p14:sldId id="272"/>
            <p14:sldId id="273"/>
            <p14:sldId id="274"/>
          </p14:sldIdLst>
        </p14:section>
        <p14:section name="Fazit" id="{2af36fea-2356-db6f-149f-0655087ae88e}">
          <p14:sldIdLst>
            <p14:sldId id="275"/>
          </p14:sldIdLst>
        </p14:section>
        <p14:section name="Anhang" id="{9506262b-c4f8-e066-d5c2-b76673cc6518}">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Elektrische Messsignale können nach einer Änderung des Betriebszustands pendeln: Ein Messwert steigt und fällt wiederholt, bevor er sich beruhigt. Diese Projektarbeit bestimmt solche Schwingungen aus aufgezeichneten Kurven mit dem Verfahren Matrix Pencil und beschreibt sie mit wenigen Zahlen: Frequenz, Stärke und Abklingen.
Danach prüfen wir, ob sich ein ausgewählter Anteil rechnerisch abziehen lässt. Erkennen und Entfernen werden dabei getrennt beurteilt.
Untersucht werden zwei Projektmessungen des Leistungskanals P pos nach einem positiven und einem negativen Frequenzsprung. Als externer Vergleichsfall folgt eine veröffentlichte Netzfrequenzmessung aus Mexiko. Beide Fälle haben unterschiedliche Messgrößen und werden getrennt besprochen.
Die Welle unten ist nur Dekoration: eine gedämpfte Schwingung, wie sie das Modell beschreibt.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Warum beschäftigen wir uns überhaupt mit diesem Verfahren?
Mit dem Rückbau konventioneller Kraftwerke fehlen Anlagen, die das Netz stützen. Deshalb sollen Umrichteranlagen wie Wind- und Solaranlagen oder Speicher netzbildend wirken. Sie sollen Momentanreserve liefern und Leistungspendelungen dämpfen. Der FNN-Hinweis „Netzbildende Eigenschaften“ legt fest, wie das nachgewiesen wird.
Der Nachweis funktioniert wie das Antippen eines Glases: Ein Frequenzsprung stößt die Anlage an, und aus dem Abklingen der Wirkleistungspendelung wird die Dämpfung bewertet.
Bei Windenergieanlagen gibt es dabei ein Problem. Mechanische Resonanzen, etwa im Triebstrang, können die Wirkleistung überlagern. Dann misst man nicht nur die Regelung der Anlage, sondern auch die Mechanik, und die Bewertung wird verfälscht.
Unser Ziel ist deshalb nicht, die Kurve zu glätten. Wir wollen genau den mechanisch bedingten Anteil erkennen, beschreiben und abziehen. Alles andere bleibt in der Messung.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 genau fordert der FNN-Hinweis? Drei Stellen sind für uns wichtig.
Abschnitt 4.2.1.12: Die netzbildende Einheit muss Frequenz-Leistungspendelungen zwischen 0,05 und 10 Hertz dämpfen. Das Dämpfungsmaß darf 0,5 nicht unterschreiten. Nachzuweisen ist das bei einem SCR von mindestens 3. SCR steht für Short Circuit Ratio, auf Deutsch Kurzschlussleistungsverhältnis: das Verhältnis der Kurzschlussleistung am Netzanschlusspunkt zur Leistung der Anlage. Je größer der Wert, desto stärker ist das Netz an dieser Stelle.
Abschnitt 5.5.5.8 beschreibt die Prüfung. Bei Messverfahren 1 springt die Frequenz um etwa 250 bis 500 Millihertz, während die Einheit 50 bis 75 Prozent ihrer maximalen Wirkleistung PEmax einspeist. Gemessen wird p1, die Mitsystem-Wirkleistung der Grundschwingung. Unsere Messung passt dazu: Die Frequenz springt von 50,0 auf 49,5 Hertz, also um 500 Millihertz.
Ausgewertet werden die Überschwinger der Wirkleistung nach dem Sprung, gemessen gegenüber dem neuen Endwert. AV21 ist der zweite Überschwinger geteilt durch den ersten, AV32 der dritte durch den zweiten. Nach dem TR8-Hinweis, also der Bewertungsgrundlage für die Zertifizierung, muss das Dämpfungsmaß mindestens 0,45 betragen. Sind drei Extrema erkennbar, müssen beide Amplitudenverhältnisse unter 0,2 liegen. Beide Grenzen passen zusammen: Bei D gleich 0,45 schrumpft ein Überschwinger zum nächsten auf etwa 0,2.
Rechts steht die Definition des Dämpfungsmaßes. Für die 2,27-Hertz-Pendelung unserer Messung ergibt sie etwa 0,013, weit unter 0,45. Wenn diese Pendelung mechanisch bedingt ist und nicht herausgerechnet wird, bestimmt sie die Bewertung, obwohl sie nichts über die Regelung der Anlage aussagt. Ob sie tatsächlich mechanisch ist, ist in unseren Daten nicht dokumentiert; im Projekt wird eine Resonanz um 2,2 Hertz angenommen.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Anhang A.V des FNN-Hinweises beschreibt, wie mechanische Schwingungen aus dem Wirkleistungs- oder Frequenzverlauf entfernt werden dürfen. Oben steht das Modell aus dem Anhang: eine Summe gedämpfter Kosinusschwingungen, jede mit Amplitude A, Dämpfung d, Frequenz f und Phase phi. Die Tabelle gibt die vier Schritte wieder, rechts daneben unsere Umsetzung.
Erstens wird der Verlauf vor dem Ereignis abgeschnitten; die Zeit beginnt mit dem Sprung. Bei uns beginnt die Analyse bei einer Sekunde.
Zweitens wird das Signal nach diesem Modell zerlegt. Der Hinweis nennt dafür die Prony-Analyse. Wir verwenden Matrix Pencil: Es schätzt dasselbe Modell, ist aber weniger rauschempfindlich.
Drittens werden die gefundenen Frequenzen mit den Herstellerangaben verglichen. Der Hersteller darf bis zu drei mechanische Resonanzfrequenzen nennen, jeweils mit einem Toleranzband von plus minus 0,1 Hertz bzw. plus minus 20 Prozent. Im Projekt nehmen wir eine Resonanz bei 2,2 Hertz an; mit 20 Prozent ergibt das 1,76 bis 2,64 Hertz.
Viertens werden nur die Komponenten in diesem Band abgezogen. Laut Abschnitt 5.5.5.8.4 müssen beide Verläufe, vor und nach der Bereinigung, im Messbericht dargestellt werden.
Damit ist auch klar, was das Verfahren nicht darf: beliebige störende Schwingungen entfernen. Sonst ließe sich eine Anlage künstlich besser darstellen.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Bevor wir rechnen, der Plan für den Rest des Vortrags. Ergebnisse zeige ich bewusst noch nicht: Zahlen wie ein Modellfehler oder eine Frequenz sagen erst etwas, wenn man weiß, wie sie entstehen und wie weit man ihnen trauen kann.
Deshalb gehen wir vom Bekannten zum Unbekannten, in vier Stufen. Von links nach rechts wird die Referenz, an der wir das Ergebnis messen können, schwächer.
Stufe eins ist ein künstliches Signal ohne Rauschen. Wir kennen jeden Anteil und damit auch das gewünschte Ergebnis nach dem Filtern, die Sollkurve. Hier lässt sich der komplette Rechenweg bis zum Abzug exakt prüfen.
Stufe zwei ist ein Referenzdatensatz des amerikanischen Normungsinstituts NIST. Bekannt sind die zertifizierten Modellparameter. Geprüft wird nur, ob Matrix Pencil diese Parameter wiederfindet.
Stufe drei ist eine echte Messung aus Mexiko, die andere Autoren bereits ausgewertet haben. Deren Werte sind selbst Schätzungen, also keine Wahrheit, aber ein unabhängiger Vergleich. Hier sehen wir auch, wie die Schutzregel des Filters reagiert, wenn das Modell die Kurve nicht gut genug beschreibt.
Stufe vier sind unsere eigenen Messungen. Dafür gibt es keine unabhängige Referenz. Wir können ihnen nur so weit trauen, wie die ersten drei Stufen das Verfahren bestätigt haben.
Vorher, auf den Folien sechs bis elf, schauen wir uns die Messung an und wie Matrix Pencil aus ihr Frequenz und Abklingen gewinnt.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sehen wir eine der beiden Projektmessungen. Oben steht der Frequenzkanal f, unten der Leistungskanal P pos. Beide haben in der Datei eine eigene Zeitspalte; die Zeitachse ist die Dateizeit in Sekunden.
Bei etwa einer Sekunde fällt die Netzfrequenz von 50 auf 49,5 Hertz. Das ist der negative Frequenzsprung. P pos reagiert ab etwa 1,007 Sekunden: zuerst mit einer kurzen Spitze bis 8,37, danach mit einer Pendelung, die langsam abklingt.
Zur senkrechten Achse: Die Werte von P pos sind durch eine Million geteilt, damit die Beschriftung kurze Zahlen zeigt. 6,9 steht also für 6 900 000. Die physikalische Einheit ist in der Datei nicht dokumentiert; die Division macht daraus kein Megawatt.
Der markierte Rahmen von zwei bis sieben Sekunden und 6,85 bis 7,00 ist der Ausschnitt, den die nächste Folie vergrößert. Die Analyse selbst beginnt bei einer Sekunde.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Bevor wir rechnen, lesen wir die Schwingung direkt an der Kurve ab. Gezeigt sind alle 20 001 Messpunkte zwischen zwei und sieben Sekunden; die Werte liegen 0,25 Millisekunden auseinander, das sind 4000 Werte pro Sekunde.
Wichtig für die Achse: Sie beginnt nicht bei null, sondern zeigt nur den Bereich von 6,85 bis 7,00. Die Schwingung ist in Wirklichkeit nur etwa 1,3 Prozent des Signalniveaus groß. Auf einer Achse ab null wäre sie kaum zu sehen.
Zwischen dem ersten und dem letzten markierten Maximum liegen zehn Perioden in 4,41 Sekunden. Eine Periode dauert also 0,441 Sekunden, und die Frequenz ist eins durch T, rund 2,268 Hertz.
Der Ausschlag von Spitze zu Spitze sinkt von 0,087 auf 0,038. Der natürliche Logarithmus dieses Verhältnisses, geteilt durch die vergangene Zeit, ergibt grob eine Abklingrate von minus 0,19 pro Sekunde. Das Modell liefert später fast dieselben Werte. Diese Ablesung ist eine Plausibilitätsprüfung, kein Ersatz für das Modell.
Außerdem steigt die Mittellinie langsam an: Das Signal pendelt um einen sich ändernden Verlauf, nicht um einen festen Wert.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Bevor wir die Rechenschritte ansehen, die Grundidee.
Links: Ein einzelner gedämpfter Schwingungsanteil hat eine einfache Eigenschaft. Der nächste Abtastwert entsteht aus dem aktuellen durch Multiplikation mit derselben komplexen Zahl z. Der Betrag von z sagt, wie schnell der Anteil abklingt, der Winkel, wie schnell er sich dreht, also die Frequenz.
Mitte: Die Messung ist eine Summe vieler solcher Anteile, deshalb kann man nicht einfach zwei Messwerte durcheinander teilen. Aber wir können die ganze Messkurve gegen sich selbst um einen Schritt verschieben. Die verschobene Hankel-Matrix H1 enthält dieselben Zeilen wie H0, nur jeweils eine Zeile später. Darin ist jeder Anteil mit seinem eigenen z multipliziert.
Rechts: Bildet man H1 minus z mal H0, dann verliert diese Matrix genau dann an Rang, wenn z einer der Pole des Signals ist. Ein solcher Ausdruck mit einem freien Parameter heißt Matrizenbüschel, englisch Matrix Pencil. Daher der Name.
Der Vorteil gegenüber der klassischen Prony-Methode, die der FNN-Hinweis nennt: Prony bestimmt die Pole als Nullstellen eines Polynoms, was empfindlich auf Rauschen reagiert. Matrix Pencil reduziert die Daten zuerst mit einer Singulärwertzerlegung, kurz SVD, auf die wichtigsten Richtungen und bestimmt die Pole dann als Eigenwerte. Hua und Sarkar haben 1990 gezeigt, dass das bei unbekannter Dämpfung weniger rauschempfindlich ist als die SVD-Prony-Variante.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kommt das Verfahren von der Kurve zu den Schwingungsparametern.
Erstens: Wir nehmen P pos von einer bis sieben Sekunden und ziehen den Mittelwert ab. Nach einem Tiefpass werden aus 4000 Werten pro Sekunde 100. Der Tiefpass verhindert, dass beim Ausdünnen schnelle Anteile als langsame Schwingungen erscheinen. Die Formel rechts: x von k ist der Leistungswert zum k-ten Zeitpunkt nach t0, abzüglich des Mittelwerts; zwischen zwei Werten liegen 0,01 Sekunden.
Zweitens: Aus dieser Folge entstehen zwei Hankel-Matrizen. Jede Zeile ist ein Ausschnitt der Kurve, die nächste Zeile beginnt einen Wert später. H1 ist dieselbe Anordnung, nur um einen Zeitschritt verschoben. Bei 601 Werten und 256 Spalten hat jede Matrix 345 Zeilen.
Drittens: Die Singulärwertzerlegung von H0 behält die zwölf wichtigsten Richtungen. Daraus entsteht die kleine Matrix B mit zwölf Zeilen und Spalten. Ihre Eigenwerte sind die diskreten Pole z. Wie das konkret aussieht, zeigt die nächste Folie an einem kleinen Zahlenbeispiel.
Viertens: Die Gewichte aller Anteile werden gemeinsam auf dem ursprünglichen Messraster angepasst. Abgezogen wird ein Anteil nur, wenn die Prüfregeln erfüllt sind: relativer Fehler höchstens zehn Prozent, Pol im Zielband, relative Dämpfung höchstens 0,3 und ein begrenzter Abzug. Diese Regeln sind heuristische Schutzregeln, kein physikalischer Nachweis.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Wie entsteht aus Messpunkten die kleine Matrix B? Hier dieselben Schritte wie im Programm, nur mit sieben Werten, damit man jede Zahl sehen kann.
Erstens: Als Messwerte nehmen wir eine einzelne gedämpfte Schwingung. Betrag und Winkel stammen vom Pol der negativen Sprungantwort, den wir gleich genauer ansehen. Das ergibt die sieben Werte oben.
Zweitens: Mit drei Spalten bilden wir die Hankel-Matrizen. In H0 steht in jeder Zeile ein Ausschnitt von drei aufeinanderfolgenden Werten, jede Zeile einen Wert später. Auf jeder Gegendiagonale steht deshalb derselbe Wert. H1 ist genauso aufgebaut, beginnt aber einen Wert später: Die erste Zeile von H1 ist die zweite Zeile von H0.
Drittens: Die Singulärwertzerlegung von H0 liefert drei Singulärwerte: 3,179, 0,067 und praktisch null. Nur zwei Richtungen tragen also Information. Das passt: Eine reelle Schwingung entsteht aus einem konjugierten Polpaar. Wir behalten deshalb r gleich zwei Richtungen; im Projekt sind es zwölf.
Viertens: Aus den behaltenen Richtungen entsteht die reduzierte Matrix B. Sie ist nur noch zwei mal zwei groß. Ihre Eigenwerte sind 0,988 plus minus 0,142 i, genau der Pol z und sein konjugierter Partner, mit denen wir die Werte erzeugt haben. Das Verfahren findet also aus den Messpunkten allein die richtigen Pole wieder.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ein konkreter Pol aus der negativen Sprungantwort. Die Eigenwertberechnung liefert ungefähr 0,988 plus 0,142 i, derselbe Wert wie im Rechenbeispiel eben. Diese Zahl wurde aus der Messung geschätzt und nicht vorgegeben.
Eine komplexe Zahl hat einen Betrag und einen Winkel. Der Betrag r, etwa 0,998084, sagt: Pro Abtastschritt bleiben rund 99,8 Prozent der Amplitude erhalten. Der Winkel Theta, etwa 0,1425 Radiant, ist der Phasenfortschritt innerhalb von 0,01 Sekunden. Er ist nicht die Anfangsphase.
Rechts oben: Teilen wir den Winkel durch zwei Pi und durch die Schrittdauer, erhalten wir 2,268 Hertz. Darunter: Der natürliche Logarithmus von r, geteilt durch die Schrittdauer, ergibt die Abklingrate Sigma von etwa minus 0,192 pro Sekunde. Nach einer Sekunde ist die Amplitude also auf rund 82,6 Prozent gesunken.
Beide Werte passen zu der Ablesung an der Kurve auf Folie 7. Eine reelle Schwingung braucht dabei zwei Pole: z und seinen konjugierten Partner. Ordnung zwölf heißt deshalb nicht zwölf Schwingungen; hier sind es vier schwingende Paare und vier reelle Anteile.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Erste Prüfstufe: Funktioniert der Rechenweg, wenn wir die Antwort vorher kennen?
Dafür bauen wir ein Signal selbst. Bis eine Sekunde liegt es konstant bei 100, dann springt der Grundwert auf 120. Ab dem Sprung kommen zwei gedämpfte Schwingungen dazu: eine bei 2,24 Hertz mit Anfangsamplitude drei, die entfernt werden soll, und eine kleinere bei fünf Hertz, die bleiben soll. Die Formel rechts zeigt genau dieses Signal; tau ist die Zeit seit dem Sprung. Die Sollkurve ist damit eindeutig: Grundwert plus Fünf-Hertz-Anteil.
Oben im Diagramm: Blau ist der Eingang, Orange die Filterausgabe, schwarz gestrichelt die Sollkurve. Orange und Schwarz liegen aufeinander, deshalb sieht man die gestrichelte Linie mitten auf der orangen. Die verbleibende Welle ist gewollt, das ist der Fünf-Hertz-Anteil.
Warum liegen sie exakt übereinander? Das Signal erfüllt das Modell exakt, ohne Rauschen. Ordnung fünf reicht: zwei Polpaare für die beiden Schwingungen und ein reeller Pol für den Gleichanteil, der nach dem Mittelwertabzug übrig bleibt. Matrix Pencil findet diese Pole exakt, also wird genau der richtige Anteil abgezogen.
Unten sehen wir die Differenz der beiden Kurven, um den Faktor zehn hoch dreizehn vergrößert. Sie bleibt unter 6,7 mal zehn hoch minus dreizehn. Bei Werten um 120 ist das die Größenordnung der Rundungsfehler in der Gleitkommarechnung.
Diese Stufe bestätigt den Rechenweg. Rauschen, Modellfehler und echte Messdaten prüft sie nicht; dafür sind die nächsten Stufen 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Zweite Prüfstufe: Findet Matrix Pencil die Konstanten eines bekannten Modells wieder?
NIST, das amerikanische Normungsinstitut, veröffentlicht Referenzdatensätze, mit denen man Rechenprogramme prüft. Lanczos1 geht auf ein Beispiel von Cornelius Lanczos aus dem Jahr 1956 zurück: Die Summe von drei abklingenden Exponentialfunktionen wurde an 24 Stellen ausgewertet, x von null bis 1,15 in Schritten von 0,05, und auf 13 Stellen gerundet. Daher die 24 Werte. Der Datensatz ist bekannt dafür, dass sich solche Anteile schlecht trennen lassen. Die Achsen haben keine Einheit.
Im Diagramm sind die NIST-Werte blaue Ringe. Die orange Modellkurve läuft durch jede Ringmitte; das ist gemeint, wenn das Modell unter den Punkten zu liegen scheint: Es trifft sie. Grau gestrichelt sind die drei Einzelanteile, deren Summe die orange Kurve ergibt.
Die Tabelle liest man zeilenweise, ein Anteil pro Zeile: ein Gewicht, also der Startwert bei x gleich null, und eine Abklingrate. Gewicht und Rate sind die zertifizierten Werte von NIST. Die letzte Spalte sagt, wie weit unsere Schätzung davon abweicht, relativ gesehen: höchstens drei mal zehn hoch minus zehn. Auf vier Nachkommastellen sind die Werte also identisch.
Die Verbindung zu Matrix Pencil: Jeder Anteil liefert einen Pol z gleich e hoch minus b mal 0,05. Diese Pole sind reell und positiv, ihr Winkel ist null. Deshalb gibt es hier keine Frequenz, nur Abklingen.
Der relative Modellfehler liegt bei 8,74 mal zehn hoch minus vierzehn. Wichtig: Diese Referenzwerte sind Teil eines bekannten künstlichen Modells. In der nächsten Stufe, bei Mexiko, haben wir nur noch Schätzungen anderer Autoren als Vergleich.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Dritte Prüfstufe: eine echte Messung, die andere Autoren bereits ausgewertet haben. Wichtig: Die Messgröße ist hier nicht die Leistung, sondern die Netzfrequenz selbst, in Hertz. Die Aufzeichnung gehört zu einem Netzereignis in Mexiko vom 28. Dezember 2020; wir haben sie nicht selbst gemessen.
Links sehen wir 301 Werte über 30 Sekunden im Abstand von einer Zehntelsekunde. Die Netzfrequenz liegt knapp unter 60 Hertz und schwankt langsam darüber und darunter; die Ausschläge werden kleiner.
Andere Autoren haben dieselbe Zeitreihe im ROMA-Handbuch mit der ERA-Methode ausgewertet. Die Tabelle stellt ihre gerundeten Werte unseren Matrix-Pencil-Ergebnissen bei Ordnung zwölf gegenüber. Alle drei Frequenzen weichen um weniger als 0,06 Prozent ab, und auch die Abklingraten passen.
Das spricht dafür, dass beide Verfahren ähnliche Schwingungsanteile erkennen. Die Autorenwerte sind jedoch Schätzungen, keine bekannten Wahrheitswerte. Die nächste Folie stellt eine andere Frage: Wie gut bildet das Gesamtmodell die ganze Kurve nach?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Oben vergleichen wir die gemessene Netzfrequenz mit der Summe aller geschätzten Modellanteile. Der Mittelwert von etwa 59,773 Hertz ist abgezogen; die Achse zeigt deshalb Abweichungen in Millihertz. Unten steht der Rest: Messwert minus Modellwert an jedem Zeitpunkt.
Über große Bereiche liegen beide Kurven dicht zusammen. Zwischen 240 und 243 Sekunden treten aber schnelle Änderungen auf, die das Modell nicht nachbildet. Dieser kurze Abschnitt trägt etwa 55 Prozent zur Fehlerquadratsumme bei. Seine Ursache bleibt offen.
Die 17,05 Prozent entstehen so: Die typische Modellabweichung, der RMSE, beträgt 5,565 Millihertz. Bezogen wird sie auf die Stärke der gemessenen Schwankung, deren RMS 32,646 Millihertz beträgt. Verglichen werden also Signalwerte an denselben 301 Zeitpunkten, keine Frequenzen.
Deshalb können die Frequenzen sehr gut stimmen, während das Gesamtmodell einen deutlichen Fehler hat. Ein Mangel unserer Schätzung ist das nicht: Nimmt man die drei Frequenzen und Abklingraten der Autoren und wählt Amplituden und Phasen so gut wie möglich, bleibt ein Fehler von 40,6 Prozent. Drei Moden reichen für diese 30 Sekunden schlicht nicht aus. Lässt man den Abschnitt von 240 bis 243 Sekunden weg, liegt unser Fehler immer noch bei 11,8 Prozent; der kurze Abschnitt ist also nicht der einzige Grund. Der Fehler liegt über der eingestellten Grenze von zehn Prozent, und der Code blockiert den Abzug: Die Filterausgabe ist exakt das Eingangssignal. Die zehn Prozent sind eine heuristische Schutzregel des Prototyps.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Warum nehmen wir nicht einfach eine höhere Ordnung? Links steht der relative Fehler über der Modellordnung. Mit mehr Exponentialanteilen passt sich die Modellkurve immer besser an: 17,05 Prozent bei Ordnung zwölf, 12,83 bei 24 und 8,76 Prozent bei 36. Damit läge der Fehler unter der Zehn-Prozent-Grenze.
Rechts sehen wir, warum das allein nicht reicht. Hier wird das Modell nur aus jedem zweiten Messwert geschätzt, also aus 151 Punkten; die 150 Zwischenpunkte bleiben unbenutzt. Blau ist der Fehler auf den verwendeten Punkten, Orange auf den ausgelassenen. Bei Ordnung 36 sind es 4,72 und 10,13 Prozent. Bei Ordnung 72 sinkt Blau auf 0,36 Prozent, Orange steigt aber auf 13,99 Prozent. Das ist ein Hinweis auf Überanpassung.
Dazu verändert sich die Zerlegung: Für die Mode nahe 0,72 Hertz nennen die Autoren eine Amplitude von etwa 0,004 Hertz. Ordnung zwölf liefert 0,0045, Ordnung 36 dagegen 0,0213 Hertz. Eine bessere Gesamtkurve bedeutet also keine bessere physikalische Beschreibung.
Außerdem tauchen bei Ordnung 36 zwei Schwingungen mit positiver Abklingrate auf, also Anteile, die mit der Zeit wachsen. Nach einem abklingenden Netzereignis ist das physikalisch nicht plausibel; das Modell nutzt sie nur, um die Kurve nachzuzeichnen.
Deshalb nehmen wir keine höhere Ordnung, nur weil dann die Zehn-Prozent-Regel bestanden wäre. Die Ordnung so lange zu erhöhen, bis eine Prüfung besteht, würde die Schutzregel aushebeln, und der abgezogene Anteil hinge von einer willkürlichen Wahl ab.
Diese Prüfung bleibt innerhalb derselben Aufzeichnung; benachbarte Werte hängen zusammen. Eine unabhängige Messung wäre der stärkere Nachweis. Damit sind die drei Prüfstufen abgeschlossen, und wir wenden das Verfahren auf unsere eigenen Messungen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Nach den drei Prüfstufen kommen wir zur vierten: unseren eigenen Messungen, für die es keine unabhängige Referenz gibt. Die Tabelle fasst beide Leistungsmessungen zusammen, jeweils mit Ordnung zwölf von einer bis sieben Sekunden.
In beiden Messungen liegt die dominante Schwingung bei 2,268 Hertz. Beim negativen Sprung klingt sie schneller ab, mit minus 0,192 pro Sekunde gegenüber minus 0,107. Die Anfangsamplitude bezieht sich auf den Beginn des Analyseabschnitts bei einer Sekunde und ist in der Dateieinheit angegeben, also vor der Division durch eine Million.
Beide Modelle bilden die Messung auf dem Schätzraster mit weniger als einem Prozent Fehler nach, und beide Abzüge werden freigegeben.
Der Unterschied steckt in der Zerlegung: Beim positiven Sprung liegt ein zweiter Anteil bei 2,480 Hertz im Zielband. Er klingt deutlich schneller ab und wird mit abgezogen. Ein ähnlich kleiner Gesamtfehler bedeutet also nicht dieselbe Zerlegung.
Die letzte Zeile ist eine spektrale Vergleichsgröße: die Summe der quadrierten FFT-Beträge im Zielband zwischen vier und sieben Sekunden, vor und nach dem Abzug. Sie ist keine physikalische Energie.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Folie zeigt die Filterung der negativen Sprungantwort. Blau ist die Messung, Orange die Filterausgabe. Links steht der gesamte Verlauf, rechts der Abschnitt von vier bis sieben Sekunden vergrößert. In beiden Diagrammen ist P pos durch eine Million geteilt.
Entfernt wird ein Polpaar, die Schwingung bei 2,268 Hertz. Im rechten Ausschnitt ist der Effekt deutlich: Die Pendelung verschwindet, übrig bleibt der langsam steigende Verlauf. Im linken Diagramm würde der große Übergang diesen Unterschied optisch verdecken; deshalb der vergrößerte Ausschnitt.
Vor einer Sekunde sind Messung und Ausgabe identisch. Danach ist die Differenz genau der berechnete Abzugsanteil. Die Bandenergie im Zielband sinkt zwischen vier und sieben Sekunden um 99,999 Prozent.
Eine unabhängig bekannte, saubere Sollkurve gibt es für diese Messung nicht. Die Folie belegt den rechnerischen Eingriff, aber keine vollständig abgesicherte physikalische Bereinigung.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Auch hier ist die Messung blau und die Filterausgabe orange, links der gesamte Verlauf, rechts der Abschnitt von vier bis sieben Sekunden.
Beim positiven Frequenzsprung bricht P pos kurz nach einer Sekunde stark ein und pendelt danach. Abgezogen werden zwei Schwingungsanteile: der dominante bei 2,268 Hertz und ein zweiter bei 2,480 Hertz, der deutlich schneller abklingt. Die orange Kurve ist also die Messung minus die Summe beider Anteile.
Vor einer Sekunde bleiben alle Werte unverändert. Im Ausschnitt rechts sieht man aber, anders als beim negativen Sprung, noch kleine Restwellen in der orangen Kurve. Warum?
Das Modell beschreibt jede Schwingung als Amplitude mal e hoch Sigma t. Ihre Hüllkurve klingt also gleichmäßig exponentiell ab. Beim negativen Sprung verhält sich die Messung genau so: Sekunde für Sekunde weicht die gemessene 2,27-Hertz-Amplitude um weniger als ein Prozent vom Modell ab, und nach dem Abzug bleibt weniger als ein Prozent übrig.
Beim positiven Sprung nicht. Zwischen zwei und vier Sekunden steigt die gemessene Amplitude zunächst noch an, von etwa 15 500 auf 18 200 Dateieinheiten, und fällt erst danach. Eine einzelne exponentiell abklingende Schwingung kann das nicht nachbilden. Das Modell hilft sich mit dem zweiten, schnell abklingenden Anteil bei 2,48 Hertz, trifft die Amplitude aber nur ungefähr. Zwischen drei und sieben Sekunden bleiben deshalb je nach Sekunde 3 bis 11 Prozent der Amplitude stehen. Das ist die sichtbare Restwelle.
Die 99,87 Prozent weniger Bandenergie widersprechen dem nicht. Die Energie wächst mit dem Quadrat der Amplitude: Wenige Prozent Restamplitude sind nur Promille der Energie.
Warum die Hüllkurve nicht exponentiell verläuft, ist in den Daten nicht nachgewiesen. Ein möglicher Grund ist der tiefe Einbruch nach dem positiven Sprung: Solange die Anlage diesen großen Ausschlag ausregelt, verhält sie sich vermutlich nicht wie ein einfaches lineares System.
Beginnt man die Analyse bei 1,5 statt bei einer Sekunde, bleiben nur 1 bis 2 Prozent übrig. Dafür ändert sich die Zerlegung: drei Anteile im Band, und die Abklingrate der Hauptschwingung wird minus 0,177 statt minus 0,107 pro Sekunde. Wir bleiben bei einer Sekunde, weil der FNN-Hinweis die Zeit ab Beginn des Ereignisses zählt. Wie bei Mexiko gilt: Einen Parameter so lange zu verschieben, bis das Bild schöner aussieht, wäre keine bessere Bereinigung.
Das Gesamtmodell passt mit weniger als einem Prozent Fehler. Daraus folgt aber noch nicht, dass beide Anteile eindeutig reale Vorgänge beschreiben. Wie bei Mexiko gesehen, bestätigt ein kleiner Fehler allein keine physikalisch eindeutige Zerlegung.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Zum Schluss die vier Prüfstufen im Überblick.
Links die drei Stufen mit Referenz. Beim künstlichen Signal trifft die Filterausgabe die Sollkurve bis auf Rundungsfehler. Bei NIST findet Matrix Pencil die zertifizierten Parameter bis auf wenige Zehnmilliardstel relativ. Bei Mexiko stimmen die drei Frequenzen auf weniger als 0,06 Prozent mit der Veröffentlichung überein. Das Gesamtmodell hat dort aber 17,05 Prozent Fehler, und der Abzug bleibt blockiert. Eine höhere Ordnung würde die Grenze unterschreiten, zeigt aber Überanpassung und eine veränderte Zerlegung.
Rechts unsere eigenen Messungen des Leistungskanals P pos. Nach beiden Frequenzsprüngen pendelt die Leistung mit etwa 2,268 Hertz. Das Modell bildet die Messungen mit 0,763 und 0,594 Prozent Fehler nach. Nach dem Abzug sinkt die spektrale Bandenergie im Zielband zwischen vier und sieben Sekunden um mehr als 99,8 Prozent. Beide Abzüge werden mit der Standardeinstellung freigegeben, beim positiven Sprung mit zwei Anteilen.
Daraus folgt: Eine gut erkannte Frequenz bestätigt noch keine ausreichende Rekonstruktion, und eine ausgeführte Filterung beweist noch keine physikalisch richtige Bereinigung. Für die eigenen Messungen gibt es keine unabhängig bekannte, saubere Referenzkurve. Ihr Ergebnis ist so belastbar, wie die Prüfstufen das Verfahren bestätigt haben.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Zum Nachschlagen die Abkürzungen und Formelzeichen der Präsentation.
Die Begriffe aus dem FNN-Hinweis: SCR ist das Kurzschlussleistungsverhältnis, also das Verhältnis der Kurzschlussleistung am Netzanschlusspunkt zur Anlagenleistung; es beschreibt, wie stark das Netz an dieser Stelle ist. PEmax ist die maximale Wirkleistung der Einheit, definiert als höchster Zehn-Minuten-Mittelwert. p1 ist die Mitsystem-Wirkleistung der Grundschwingung, die bei der Prüfung aufgezeichnet wird. AV21 und AV32 sind Amplitudenverhältnisse aufeinanderfolgender Überschwinger nach dem Sprung. TR8 ist die Technische Richtlinie 8 der FGW für die Zertifizierung; die TR8-Hinweise im FNN-Hinweis sind die Bewertungsgrundlage.
Die übrigen Kürzel: ERA ist das Schätzverfahren, das die Autoren des ROMA-Handbuchs verwendet haben. FNET ist das Messnetz, aus dem die mexikanische Netzfrequenzaufzeichnung stammt. NIST ist das amerikanische Normungsinstitut, StRD seine statistischen Referenzdatensätze. SVD ist die Singulärwertzerlegung, RMS der Effektivwert und RMSE die Wurzel aus dem mittleren Fehlerquadrat.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ll">
    <p:bg>
      <p:bgPr>
        <a:solidFill>
          <a:srgbClr val="F4F3E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1104900"/>
            <a:ext cx="10566400" cy="508000"/>
          </a:xfrm>
          <a:prstGeom prst="rect">
            <a:avLst/>
          </a:prstGeom>
          <a:noFill/>
          <a:ln/>
        </p:spPr>
        <p:txBody>
          <a:bodyPr wrap="square" rtlCol="0"/>
          <a:lstStyle>
            <a:lvl1pPr algn="l" indent="0" marL="0">
              <a:buNone/>
              <a:defRPr lang="en-US" sz="3200" b="1" dirty="0">
                <a:solidFill>
                  <a:srgbClr val="14202E"/>
                </a:solidFill>
                <a:latin typeface="Calibri" pitchFamily="34" charset="0"/>
                <a:ea typeface="Calibri" pitchFamily="34" charset="-122"/>
                <a:cs typeface="Calibri"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795000" y="6426200"/>
            <a:ext cx="5842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5F6873"/>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unkel">
    <p:bg>
      <p:bgPr>
        <a:solidFill>
          <a:srgbClr val="1420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1104900"/>
            <a:ext cx="10566400" cy="508000"/>
          </a:xfrm>
          <a:prstGeom prst="rect">
            <a:avLst/>
          </a:prstGeom>
          <a:noFill/>
          <a:ln/>
        </p:spPr>
        <p:txBody>
          <a:bodyPr wrap="square" rtlCol="0"/>
          <a:lstStyle>
            <a:lvl1pPr algn="l" indent="0" marL="0">
              <a:buNone/>
              <a:defRPr lang="en-US" sz="3200" b="1" dirty="0">
                <a:solidFill>
                  <a:srgbClr val="F4F3EF"/>
                </a:solidFill>
                <a:latin typeface="Calibri" pitchFamily="34" charset="0"/>
                <a:ea typeface="Calibri" pitchFamily="34" charset="-122"/>
                <a:cs typeface="Calibri"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795000" y="6426200"/>
            <a:ext cx="5842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B8C3CF"/>
                </a:solidFill>
                <a:latin typeface="Consolas"/>
                <a:ea typeface="Consolas"/>
                <a:cs typeface="Consolas"/>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95000" y="6426200"/>
            <a:ext cx="5842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5F6873"/>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2.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Sevgi\projects\prony_matrix_pencil_filter\outputs\ergebnisdeck\00_welle.png">    </p:cNvPr>
          <p:cNvPicPr>
            <a:picLocks noChangeAspect="1"/>
          </p:cNvPicPr>
          <p:nvPr/>
        </p:nvPicPr>
        <p:blipFill>
          <a:blip r:embed="rId1"/>
          <a:stretch>
            <a:fillRect/>
          </a:stretch>
        </p:blipFill>
        <p:spPr>
          <a:xfrm>
            <a:off x="812800" y="4699000"/>
            <a:ext cx="10566400" cy="889000"/>
          </a:xfrm>
          <a:prstGeom prst="rect">
            <a:avLst/>
          </a:prstGeom>
        </p:spPr>
      </p:pic>
      <p:sp>
        <p:nvSpPr>
          <p:cNvPr id="3" name="Text 0"/>
          <p:cNvSpPr txBox="1"/>
          <p:nvPr/>
        </p:nvSpPr>
        <p:spPr>
          <a:xfrm>
            <a:off x="812800" y="1638300"/>
            <a:ext cx="10566400" cy="215900"/>
          </a:xfrm>
          <a:prstGeom prst="rect">
            <a:avLst/>
          </a:prstGeom>
          <a:noFill/>
          <a:ln/>
        </p:spPr>
        <p:txBody>
          <a:bodyPr wrap="square" lIns="0" tIns="0" rIns="0" bIns="0" rtlCol="0" anchor="t"/>
          <a:lstStyle/>
          <a:p>
            <a:pPr indent="0" marL="0">
              <a:lnSpc>
                <a:spcPct val="115000"/>
              </a:lnSpc>
              <a:buNone/>
            </a:pPr>
            <a:r>
              <a:rPr lang="en-US" sz="1200" spc="100" kern="0" dirty="0">
                <a:solidFill>
                  <a:srgbClr val="7FB2EE"/>
                </a:solidFill>
                <a:latin typeface="Consolas" pitchFamily="34" charset="0"/>
                <a:ea typeface="Consolas" pitchFamily="34" charset="-122"/>
                <a:cs typeface="Consolas" pitchFamily="34" charset="-120"/>
              </a:rPr>
              <a:t>PROJEKTARBEIT · ERGEBNISSE</a:t>
            </a:r>
            <a:endParaRPr lang="en-US" sz="1200" dirty="0"/>
          </a:p>
        </p:txBody>
      </p:sp>
      <p:sp>
        <p:nvSpPr>
          <p:cNvPr id="4" name="Text 1"/>
          <p:cNvSpPr txBox="1"/>
          <p:nvPr/>
        </p:nvSpPr>
        <p:spPr>
          <a:xfrm>
            <a:off x="812800" y="2095500"/>
            <a:ext cx="10566400" cy="1460500"/>
          </a:xfrm>
          <a:prstGeom prst="rect">
            <a:avLst/>
          </a:prstGeom>
          <a:noFill/>
          <a:ln/>
        </p:spPr>
        <p:txBody>
          <a:bodyPr wrap="square" lIns="0" tIns="0" rIns="0" bIns="0" rtlCol="0" anchor="t"/>
          <a:lstStyle/>
          <a:p>
            <a:pPr indent="0" marL="0">
              <a:lnSpc>
                <a:spcPct val="100000"/>
              </a:lnSpc>
              <a:buNone/>
            </a:pPr>
            <a:r>
              <a:rPr lang="en-US" sz="4800" b="1" dirty="0">
                <a:solidFill>
                  <a:srgbClr val="F4F3EF"/>
                </a:solidFill>
                <a:latin typeface="Calibri" pitchFamily="34" charset="0"/>
                <a:ea typeface="Calibri" pitchFamily="34" charset="-122"/>
                <a:cs typeface="Calibri" pitchFamily="34" charset="-120"/>
              </a:rPr>
              <a:t>Schwingungsanalyse</a:t>
            </a:r>
            <a:endParaRPr lang="en-US" sz="4800" dirty="0"/>
          </a:p>
          <a:p>
            <a:pPr indent="0" marL="0">
              <a:lnSpc>
                <a:spcPct val="100000"/>
              </a:lnSpc>
              <a:buNone/>
            </a:pPr>
            <a:r>
              <a:rPr lang="en-US" sz="4800" b="1" dirty="0">
                <a:solidFill>
                  <a:srgbClr val="F4F3EF"/>
                </a:solidFill>
                <a:latin typeface="Calibri" pitchFamily="34" charset="0"/>
                <a:ea typeface="Calibri" pitchFamily="34" charset="-122"/>
                <a:cs typeface="Calibri" pitchFamily="34" charset="-120"/>
              </a:rPr>
              <a:t>mit Matrix Pencil</a:t>
            </a:r>
            <a:endParaRPr lang="en-US" sz="4800" dirty="0"/>
          </a:p>
        </p:txBody>
      </p:sp>
      <p:sp>
        <p:nvSpPr>
          <p:cNvPr id="5" name="Text 2"/>
          <p:cNvSpPr txBox="1"/>
          <p:nvPr/>
        </p:nvSpPr>
        <p:spPr>
          <a:xfrm>
            <a:off x="812800" y="3746500"/>
            <a:ext cx="10160000" cy="381000"/>
          </a:xfrm>
          <a:prstGeom prst="rect">
            <a:avLst/>
          </a:prstGeom>
          <a:noFill/>
          <a:ln/>
        </p:spPr>
        <p:txBody>
          <a:bodyPr wrap="square" lIns="0" tIns="0" rIns="0" bIns="0" rtlCol="0" anchor="t"/>
          <a:lstStyle/>
          <a:p>
            <a:pPr indent="0" marL="0">
              <a:lnSpc>
                <a:spcPct val="115000"/>
              </a:lnSpc>
              <a:buNone/>
            </a:pPr>
            <a:r>
              <a:rPr lang="en-US" sz="2000" dirty="0">
                <a:solidFill>
                  <a:srgbClr val="B8C3CF"/>
                </a:solidFill>
                <a:latin typeface="Calibri" pitchFamily="34" charset="0"/>
                <a:ea typeface="Calibri" pitchFamily="34" charset="-122"/>
                <a:cs typeface="Calibri" pitchFamily="34" charset="-120"/>
              </a:rPr>
              <a:t>Von der Messkurve zu Schwingungsparametern und gezieltem Signalabzug</a:t>
            </a:r>
            <a:endParaRPr lang="en-US" sz="2000" dirty="0"/>
          </a:p>
        </p:txBody>
      </p:sp>
      <p:sp>
        <p:nvSpPr>
          <p:cNvPr id="6" name="Text 3"/>
          <p:cNvSpPr txBox="1"/>
          <p:nvPr/>
        </p:nvSpPr>
        <p:spPr>
          <a:xfrm>
            <a:off x="812800" y="6426200"/>
            <a:ext cx="10566400" cy="228600"/>
          </a:xfrm>
          <a:prstGeom prst="rect">
            <a:avLst/>
          </a:prstGeom>
          <a:noFill/>
          <a:ln/>
        </p:spPr>
        <p:txBody>
          <a:bodyPr wrap="square" lIns="0" tIns="0" rIns="0" bIns="0" rtlCol="0" anchor="t"/>
          <a:lstStyle/>
          <a:p>
            <a:pPr indent="0" marL="0">
              <a:lnSpc>
                <a:spcPct val="115000"/>
              </a:lnSpc>
              <a:buNone/>
            </a:pPr>
            <a:r>
              <a:rPr lang="en-US" sz="1200" dirty="0">
                <a:solidFill>
                  <a:srgbClr val="B8C3CF"/>
                </a:solidFill>
                <a:latin typeface="Calibri" pitchFamily="34" charset="0"/>
                <a:ea typeface="Calibri" pitchFamily="34" charset="-122"/>
                <a:cs typeface="Calibri" pitchFamily="34" charset="-120"/>
              </a:rPr>
              <a:t>Leistungskanal P_pos nach Frequenzsprüngen · externer Vergleichsfall Mexiko · Stand 16.10.2026</a:t>
            </a:r>
            <a:endParaRPr lang="en-US" sz="1200" dirty="0"/>
          </a:p>
        </p:txBody>
      </p:sp>
      <p:sp>
        <p:nvSpPr>
          <p:cNvPr id="8" name="Text 0"/>
          <p:cNvSpPr/>
          <p:nvPr>
            <p:ph idx="100" type="title" hasCustomPrompt="1"/>
          </p:nvPr>
        </p:nvSpPr>
        <p:spPr>
          <a:xfrm>
            <a:off x="812800" y="1104900"/>
            <a:ext cx="10566400" cy="508000"/>
          </a:xfrm>
          <a:prstGeom prst="rect">
            <a:avLst/>
          </a:prstGeom>
          <a:noFill/>
          <a:ln/>
        </p:spPr>
        <p:txBody>
          <a:bodyPr wrap="square" lIns="0" tIns="0" rIns="0" bIns="0" rtlCol="0" anchor="t"/>
          <a:lstStyle/>
          <a:p>
            <a:pPr algn="l" indent="0" marL="0">
              <a:buNone/>
            </a:pPr>
            <a:endParaRPr lang="en-US" sz="3200" dirty="0"/>
          </a:p>
        </p:txBody>
      </p:sp>
      <p:sp>
        <p:nvSpPr>
          <p:cNvPr id="25" name="Slide Number Placeholder 0"/>
          <p:cNvSpPr>
            <a:spLocks noGrp="1"/>
          </p:cNvSpPr>
          <p:nvPr>
            <p:ph type="sldNum" sz="quarter" idx="4294967295"/>
          </p:nvPr>
        </p:nvSpPr>
        <p:spPr>
          <a:xfrm>
            <a:off x="10795000" y="6426200"/>
            <a:ext cx="5842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B8C3CF"/>
                </a:solidFill>
                <a:latin typeface="Consolas"/>
                <a:ea typeface="Consolas"/>
                <a:cs typeface="Consola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812800" y="812800"/>
            <a:ext cx="10566400" cy="215900"/>
          </a:xfrm>
          <a:prstGeom prst="rect">
            <a:avLst/>
          </a:prstGeom>
          <a:noFill/>
          <a:ln/>
        </p:spPr>
        <p:txBody>
          <a:bodyPr wrap="square" lIns="0" tIns="0" rIns="0" bIns="0" rtlCol="0" anchor="t"/>
          <a:lstStyle/>
          <a:p>
            <a:pPr indent="0" marL="0">
              <a:lnSpc>
                <a:spcPct val="115000"/>
              </a:lnSpc>
              <a:buNone/>
            </a:pPr>
            <a:r>
              <a:rPr lang="en-US" sz="1200" spc="100" kern="0" dirty="0">
                <a:solidFill>
                  <a:srgbClr val="1C5CAB"/>
                </a:solidFill>
                <a:latin typeface="Consolas" pitchFamily="34" charset="0"/>
                <a:ea typeface="Consolas" pitchFamily="34" charset="-122"/>
                <a:cs typeface="Consolas" pitchFamily="34" charset="-120"/>
              </a:rPr>
              <a:t>MOTIVATION</a:t>
            </a:r>
            <a:endParaRPr lang="en-US" sz="1200" dirty="0"/>
          </a:p>
        </p:txBody>
      </p:sp>
      <p:sp>
        <p:nvSpPr>
          <p:cNvPr id="3" name="Text 0"/>
          <p:cNvSpPr/>
          <p:nvPr>
            <p:ph idx="100" type="title" hasCustomPrompt="1"/>
          </p:nvPr>
        </p:nvSpPr>
        <p:spPr>
          <a:xfrm>
            <a:off x="812800" y="1104900"/>
            <a:ext cx="10566400" cy="508000"/>
          </a:xfrm>
          <a:prstGeom prst="rect">
            <a:avLst/>
          </a:prstGeom>
          <a:noFill/>
          <a:ln/>
        </p:spPr>
        <p:txBody>
          <a:bodyPr wrap="square" lIns="0" tIns="0" rIns="0" bIns="0" rtlCol="0" anchor="t"/>
          <a:lstStyle/>
          <a:p>
            <a:pPr algn="l" indent="0" marL="0">
              <a:buNone/>
            </a:pPr>
            <a:r>
              <a:rPr lang="en-US" sz="3200" b="1" dirty="0">
                <a:solidFill>
                  <a:srgbClr val="14202E"/>
                </a:solidFill>
                <a:latin typeface="Calibri" pitchFamily="34" charset="0"/>
                <a:ea typeface="Calibri" pitchFamily="34" charset="-122"/>
                <a:cs typeface="Calibri" pitchFamily="34" charset="-120"/>
              </a:rPr>
              <a:t>Warum Schwingungen herausgerechnet werden</a:t>
            </a:r>
            <a:endParaRPr lang="en-US" sz="3200" dirty="0"/>
          </a:p>
        </p:txBody>
      </p:sp>
      <p:sp>
        <p:nvSpPr>
          <p:cNvPr id="4" name="Text 2"/>
          <p:cNvSpPr txBox="1"/>
          <p:nvPr/>
        </p:nvSpPr>
        <p:spPr>
          <a:xfrm>
            <a:off x="812800" y="6426200"/>
            <a:ext cx="9779000" cy="228600"/>
          </a:xfrm>
          <a:prstGeom prst="rect">
            <a:avLst/>
          </a:prstGeom>
          <a:noFill/>
          <a:ln/>
        </p:spPr>
        <p:txBody>
          <a:bodyPr wrap="square" lIns="0" tIns="0" rIns="0" bIns="0" rtlCol="0" anchor="t"/>
          <a:lstStyle/>
          <a:p>
            <a:pPr indent="0" marL="0">
              <a:lnSpc>
                <a:spcPct val="115000"/>
              </a:lnSpc>
              <a:buNone/>
            </a:pPr>
            <a:r>
              <a:rPr lang="en-US" sz="1200" dirty="0">
                <a:solidFill>
                  <a:srgbClr val="5F6873"/>
                </a:solidFill>
                <a:latin typeface="Calibri" pitchFamily="34" charset="0"/>
                <a:ea typeface="Calibri" pitchFamily="34" charset="-122"/>
                <a:cs typeface="Calibri" pitchFamily="34" charset="-120"/>
              </a:rPr>
              <a:t>Quelle: VDE FNN Hinweis Netzbildende Eigenschaften v2.1, Vorwort, Abschnitte 4.2.1.12, 5.5.5.8 und Anhang A.V</a:t>
            </a:r>
            <a:endParaRPr lang="en-US" sz="1200" dirty="0"/>
          </a:p>
        </p:txBody>
      </p:sp>
      <p:sp>
        <p:nvSpPr>
          <p:cNvPr id="6" name="Shape 3"/>
          <p:cNvSpPr/>
          <p:nvPr/>
        </p:nvSpPr>
        <p:spPr>
          <a:xfrm>
            <a:off x="812800" y="1917700"/>
            <a:ext cx="3314700" cy="2286000"/>
          </a:xfrm>
          <a:prstGeom prst="roundRect">
            <a:avLst>
              <a:gd name="adj" fmla="val 4400"/>
            </a:avLst>
          </a:prstGeom>
          <a:solidFill>
            <a:srgbClr val="FCFCFB"/>
          </a:solidFill>
          <a:ln w="9525">
            <a:solidFill>
              <a:srgbClr val="E1E0D9"/>
            </a:solidFill>
            <a:prstDash val="solid"/>
          </a:ln>
        </p:spPr>
      </p:sp>
      <p:sp>
        <p:nvSpPr>
          <p:cNvPr id="7" name="Text 4"/>
          <p:cNvSpPr txBox="1"/>
          <p:nvPr/>
        </p:nvSpPr>
        <p:spPr>
          <a:xfrm>
            <a:off x="1041400" y="2146300"/>
            <a:ext cx="2857500" cy="215900"/>
          </a:xfrm>
          <a:prstGeom prst="rect">
            <a:avLst/>
          </a:prstGeom>
          <a:noFill/>
          <a:ln/>
        </p:spPr>
        <p:txBody>
          <a:bodyPr wrap="square" lIns="0" tIns="0" rIns="0" bIns="0" rtlCol="0" anchor="t"/>
          <a:lstStyle/>
          <a:p>
            <a:pPr indent="0" marL="0">
              <a:lnSpc>
                <a:spcPct val="115000"/>
              </a:lnSpc>
              <a:buNone/>
            </a:pPr>
            <a:r>
              <a:rPr lang="en-US" sz="1200" b="1" dirty="0">
                <a:solidFill>
                  <a:srgbClr val="1C5CAB"/>
                </a:solidFill>
                <a:latin typeface="Consolas" pitchFamily="34" charset="0"/>
                <a:ea typeface="Consolas" pitchFamily="34" charset="-122"/>
                <a:cs typeface="Consolas" pitchFamily="34" charset="-120"/>
              </a:rPr>
              <a:t>01</a:t>
            </a:r>
            <a:endParaRPr lang="en-US" sz="1200" dirty="0"/>
          </a:p>
        </p:txBody>
      </p:sp>
      <p:sp>
        <p:nvSpPr>
          <p:cNvPr id="8" name="Text 5"/>
          <p:cNvSpPr txBox="1"/>
          <p:nvPr/>
        </p:nvSpPr>
        <p:spPr>
          <a:xfrm>
            <a:off x="1041400" y="2438400"/>
            <a:ext cx="2857500" cy="317500"/>
          </a:xfrm>
          <a:prstGeom prst="rect">
            <a:avLst/>
          </a:prstGeom>
          <a:noFill/>
          <a:ln/>
        </p:spPr>
        <p:txBody>
          <a:bodyPr wrap="square" lIns="0" tIns="0" rIns="0" bIns="0" rtlCol="0" anchor="t"/>
          <a:lstStyle/>
          <a:p>
            <a:pPr indent="0" marL="0">
              <a:lnSpc>
                <a:spcPct val="115000"/>
              </a:lnSpc>
              <a:buNone/>
            </a:pPr>
            <a:r>
              <a:rPr lang="en-US" sz="2000" b="1" dirty="0">
                <a:solidFill>
                  <a:srgbClr val="14202E"/>
                </a:solidFill>
                <a:latin typeface="Calibri" pitchFamily="34" charset="0"/>
                <a:ea typeface="Calibri" pitchFamily="34" charset="-122"/>
                <a:cs typeface="Calibri" pitchFamily="34" charset="-120"/>
              </a:rPr>
              <a:t>Netzstabilität</a:t>
            </a:r>
            <a:endParaRPr lang="en-US" sz="2000" dirty="0"/>
          </a:p>
        </p:txBody>
      </p:sp>
      <p:sp>
        <p:nvSpPr>
          <p:cNvPr id="9" name="Text 6"/>
          <p:cNvSpPr txBox="1"/>
          <p:nvPr/>
        </p:nvSpPr>
        <p:spPr>
          <a:xfrm>
            <a:off x="1041400" y="2844800"/>
            <a:ext cx="2857500" cy="1270000"/>
          </a:xfrm>
          <a:prstGeom prst="rect">
            <a:avLst/>
          </a:prstGeom>
          <a:noFill/>
          <a:ln/>
        </p:spPr>
        <p:txBody>
          <a:bodyPr wrap="square" lIns="0" tIns="0" rIns="0" bIns="0" rtlCol="0" anchor="t"/>
          <a:lstStyle/>
          <a:p>
            <a:pPr indent="0" marL="0">
              <a:lnSpc>
                <a:spcPct val="115000"/>
              </a:lnSpc>
              <a:buNone/>
            </a:pPr>
            <a:r>
              <a:rPr lang="en-US" sz="1500" dirty="0">
                <a:solidFill>
                  <a:srgbClr val="44505E"/>
                </a:solidFill>
                <a:latin typeface="Calibri" pitchFamily="34" charset="0"/>
                <a:ea typeface="Calibri" pitchFamily="34" charset="-122"/>
                <a:cs typeface="Calibri" pitchFamily="34" charset="-120"/>
              </a:rPr>
              <a:t>Mit weniger Großkraftwerken sollen Umrichteranlagen netzbildend wirken: Momentanreserve liefern und Pendelungen dämpfen.</a:t>
            </a:r>
            <a:endParaRPr lang="en-US" sz="1500" dirty="0"/>
          </a:p>
        </p:txBody>
      </p:sp>
      <p:sp>
        <p:nvSpPr>
          <p:cNvPr id="10" name="Shape 7"/>
          <p:cNvSpPr/>
          <p:nvPr/>
        </p:nvSpPr>
        <p:spPr>
          <a:xfrm>
            <a:off x="4330700" y="1917700"/>
            <a:ext cx="3314700" cy="2286000"/>
          </a:xfrm>
          <a:prstGeom prst="roundRect">
            <a:avLst>
              <a:gd name="adj" fmla="val 4400"/>
            </a:avLst>
          </a:prstGeom>
          <a:solidFill>
            <a:srgbClr val="FCFCFB"/>
          </a:solidFill>
          <a:ln w="9525">
            <a:solidFill>
              <a:srgbClr val="E1E0D9"/>
            </a:solidFill>
            <a:prstDash val="solid"/>
          </a:ln>
        </p:spPr>
      </p:sp>
      <p:sp>
        <p:nvSpPr>
          <p:cNvPr id="11" name="Text 8"/>
          <p:cNvSpPr txBox="1"/>
          <p:nvPr/>
        </p:nvSpPr>
        <p:spPr>
          <a:xfrm>
            <a:off x="4559300" y="2146300"/>
            <a:ext cx="2857500" cy="215900"/>
          </a:xfrm>
          <a:prstGeom prst="rect">
            <a:avLst/>
          </a:prstGeom>
          <a:noFill/>
          <a:ln/>
        </p:spPr>
        <p:txBody>
          <a:bodyPr wrap="square" lIns="0" tIns="0" rIns="0" bIns="0" rtlCol="0" anchor="t"/>
          <a:lstStyle/>
          <a:p>
            <a:pPr indent="0" marL="0">
              <a:lnSpc>
                <a:spcPct val="115000"/>
              </a:lnSpc>
              <a:buNone/>
            </a:pPr>
            <a:r>
              <a:rPr lang="en-US" sz="1200" b="1" dirty="0">
                <a:solidFill>
                  <a:srgbClr val="1C5CAB"/>
                </a:solidFill>
                <a:latin typeface="Consolas" pitchFamily="34" charset="0"/>
                <a:ea typeface="Consolas" pitchFamily="34" charset="-122"/>
                <a:cs typeface="Consolas" pitchFamily="34" charset="-120"/>
              </a:rPr>
              <a:t>02</a:t>
            </a:r>
            <a:endParaRPr lang="en-US" sz="1200" dirty="0"/>
          </a:p>
        </p:txBody>
      </p:sp>
      <p:sp>
        <p:nvSpPr>
          <p:cNvPr id="12" name="Text 9"/>
          <p:cNvSpPr txBox="1"/>
          <p:nvPr/>
        </p:nvSpPr>
        <p:spPr>
          <a:xfrm>
            <a:off x="4559300" y="2438400"/>
            <a:ext cx="2857500" cy="317500"/>
          </a:xfrm>
          <a:prstGeom prst="rect">
            <a:avLst/>
          </a:prstGeom>
          <a:noFill/>
          <a:ln/>
        </p:spPr>
        <p:txBody>
          <a:bodyPr wrap="square" lIns="0" tIns="0" rIns="0" bIns="0" rtlCol="0" anchor="t"/>
          <a:lstStyle/>
          <a:p>
            <a:pPr indent="0" marL="0">
              <a:lnSpc>
                <a:spcPct val="115000"/>
              </a:lnSpc>
              <a:buNone/>
            </a:pPr>
            <a:r>
              <a:rPr lang="en-US" sz="2000" b="1" dirty="0">
                <a:solidFill>
                  <a:srgbClr val="14202E"/>
                </a:solidFill>
                <a:latin typeface="Calibri" pitchFamily="34" charset="0"/>
                <a:ea typeface="Calibri" pitchFamily="34" charset="-122"/>
                <a:cs typeface="Calibri" pitchFamily="34" charset="-120"/>
              </a:rPr>
              <a:t>Nachweis</a:t>
            </a:r>
            <a:endParaRPr lang="en-US" sz="2000" dirty="0"/>
          </a:p>
        </p:txBody>
      </p:sp>
      <p:sp>
        <p:nvSpPr>
          <p:cNvPr id="13" name="Text 10"/>
          <p:cNvSpPr txBox="1"/>
          <p:nvPr/>
        </p:nvSpPr>
        <p:spPr>
          <a:xfrm>
            <a:off x="4559300" y="2844800"/>
            <a:ext cx="2857500" cy="1270000"/>
          </a:xfrm>
          <a:prstGeom prst="rect">
            <a:avLst/>
          </a:prstGeom>
          <a:noFill/>
          <a:ln/>
        </p:spPr>
        <p:txBody>
          <a:bodyPr wrap="square" lIns="0" tIns="0" rIns="0" bIns="0" rtlCol="0" anchor="t"/>
          <a:lstStyle/>
          <a:p>
            <a:pPr indent="0" marL="0">
              <a:lnSpc>
                <a:spcPct val="115000"/>
              </a:lnSpc>
              <a:buNone/>
            </a:pPr>
            <a:r>
              <a:rPr lang="en-US" sz="1500" dirty="0">
                <a:solidFill>
                  <a:srgbClr val="44505E"/>
                </a:solidFill>
                <a:latin typeface="Calibri" pitchFamily="34" charset="0"/>
                <a:ea typeface="Calibri" pitchFamily="34" charset="-122"/>
                <a:cs typeface="Calibri" pitchFamily="34" charset="-120"/>
              </a:rPr>
              <a:t>Ein Frequenzsprung regt Leistungspendelungen an. Aus ihrem Abklingen wird die Dämpfung der Anlage bewertet.</a:t>
            </a:r>
            <a:endParaRPr lang="en-US" sz="1500" dirty="0"/>
          </a:p>
        </p:txBody>
      </p:sp>
      <p:sp>
        <p:nvSpPr>
          <p:cNvPr id="14" name="Shape 11"/>
          <p:cNvSpPr/>
          <p:nvPr/>
        </p:nvSpPr>
        <p:spPr>
          <a:xfrm>
            <a:off x="7848600" y="1917700"/>
            <a:ext cx="3314700" cy="2286000"/>
          </a:xfrm>
          <a:prstGeom prst="roundRect">
            <a:avLst>
              <a:gd name="adj" fmla="val 4400"/>
            </a:avLst>
          </a:prstGeom>
          <a:solidFill>
            <a:srgbClr val="FCFCFB"/>
          </a:solidFill>
          <a:ln w="9525">
            <a:solidFill>
              <a:srgbClr val="E1E0D9"/>
            </a:solidFill>
            <a:prstDash val="solid"/>
          </a:ln>
        </p:spPr>
      </p:sp>
      <p:sp>
        <p:nvSpPr>
          <p:cNvPr id="15" name="Text 12"/>
          <p:cNvSpPr txBox="1"/>
          <p:nvPr/>
        </p:nvSpPr>
        <p:spPr>
          <a:xfrm>
            <a:off x="8077200" y="2146300"/>
            <a:ext cx="2857500" cy="215900"/>
          </a:xfrm>
          <a:prstGeom prst="rect">
            <a:avLst/>
          </a:prstGeom>
          <a:noFill/>
          <a:ln/>
        </p:spPr>
        <p:txBody>
          <a:bodyPr wrap="square" lIns="0" tIns="0" rIns="0" bIns="0" rtlCol="0" anchor="t"/>
          <a:lstStyle/>
          <a:p>
            <a:pPr indent="0" marL="0">
              <a:lnSpc>
                <a:spcPct val="115000"/>
              </a:lnSpc>
              <a:buNone/>
            </a:pPr>
            <a:r>
              <a:rPr lang="en-US" sz="1200" b="1" dirty="0">
                <a:solidFill>
                  <a:srgbClr val="B5491B"/>
                </a:solidFill>
                <a:latin typeface="Consolas" pitchFamily="34" charset="0"/>
                <a:ea typeface="Consolas" pitchFamily="34" charset="-122"/>
                <a:cs typeface="Consolas" pitchFamily="34" charset="-120"/>
              </a:rPr>
              <a:t>03</a:t>
            </a:r>
            <a:endParaRPr lang="en-US" sz="1200" dirty="0"/>
          </a:p>
        </p:txBody>
      </p:sp>
      <p:sp>
        <p:nvSpPr>
          <p:cNvPr id="16" name="Text 13"/>
          <p:cNvSpPr txBox="1"/>
          <p:nvPr/>
        </p:nvSpPr>
        <p:spPr>
          <a:xfrm>
            <a:off x="8077200" y="2438400"/>
            <a:ext cx="2857500" cy="317500"/>
          </a:xfrm>
          <a:prstGeom prst="rect">
            <a:avLst/>
          </a:prstGeom>
          <a:noFill/>
          <a:ln/>
        </p:spPr>
        <p:txBody>
          <a:bodyPr wrap="square" lIns="0" tIns="0" rIns="0" bIns="0" rtlCol="0" anchor="t"/>
          <a:lstStyle/>
          <a:p>
            <a:pPr indent="0" marL="0">
              <a:lnSpc>
                <a:spcPct val="115000"/>
              </a:lnSpc>
              <a:buNone/>
            </a:pPr>
            <a:r>
              <a:rPr lang="en-US" sz="2000" b="1" dirty="0">
                <a:solidFill>
                  <a:srgbClr val="14202E"/>
                </a:solidFill>
                <a:latin typeface="Calibri" pitchFamily="34" charset="0"/>
                <a:ea typeface="Calibri" pitchFamily="34" charset="-122"/>
                <a:cs typeface="Calibri" pitchFamily="34" charset="-120"/>
              </a:rPr>
              <a:t>Störanteil</a:t>
            </a:r>
            <a:endParaRPr lang="en-US" sz="2000" dirty="0"/>
          </a:p>
        </p:txBody>
      </p:sp>
      <p:sp>
        <p:nvSpPr>
          <p:cNvPr id="17" name="Text 14"/>
          <p:cNvSpPr txBox="1"/>
          <p:nvPr/>
        </p:nvSpPr>
        <p:spPr>
          <a:xfrm>
            <a:off x="8077200" y="2844800"/>
            <a:ext cx="2857500" cy="1270000"/>
          </a:xfrm>
          <a:prstGeom prst="rect">
            <a:avLst/>
          </a:prstGeom>
          <a:noFill/>
          <a:ln/>
        </p:spPr>
        <p:txBody>
          <a:bodyPr wrap="square" lIns="0" tIns="0" rIns="0" bIns="0" rtlCol="0" anchor="t"/>
          <a:lstStyle/>
          <a:p>
            <a:pPr indent="0" marL="0">
              <a:lnSpc>
                <a:spcPct val="115000"/>
              </a:lnSpc>
              <a:buNone/>
            </a:pPr>
            <a:r>
              <a:rPr lang="en-US" sz="1500" dirty="0">
                <a:solidFill>
                  <a:srgbClr val="44505E"/>
                </a:solidFill>
                <a:latin typeface="Calibri" pitchFamily="34" charset="0"/>
                <a:ea typeface="Calibri" pitchFamily="34" charset="-122"/>
                <a:cs typeface="Calibri" pitchFamily="34" charset="-120"/>
              </a:rPr>
              <a:t>Bei Windenergieanlagen können mechanische Resonanzen die Wirkleistung überlagern und die Bewertung verfälschen.</a:t>
            </a:r>
            <a:endParaRPr lang="en-US" sz="1500" dirty="0"/>
          </a:p>
        </p:txBody>
      </p:sp>
      <p:sp>
        <p:nvSpPr>
          <p:cNvPr id="18" name="Text 15"/>
          <p:cNvSpPr txBox="1"/>
          <p:nvPr/>
        </p:nvSpPr>
        <p:spPr>
          <a:xfrm>
            <a:off x="812800" y="4508500"/>
            <a:ext cx="10566400" cy="381000"/>
          </a:xfrm>
          <a:prstGeom prst="rect">
            <a:avLst/>
          </a:prstGeom>
          <a:noFill/>
          <a:ln/>
        </p:spPr>
        <p:txBody>
          <a:bodyPr wrap="square" lIns="0" tIns="0" rIns="0" bIns="0" rtlCol="0" anchor="t"/>
          <a:lstStyle/>
          <a:p>
            <a:pPr indent="0" marL="0">
              <a:lnSpc>
                <a:spcPct val="115000"/>
              </a:lnSpc>
              <a:buNone/>
            </a:pPr>
            <a:r>
              <a:rPr lang="en-US" sz="2000" b="1" dirty="0">
                <a:solidFill>
                  <a:srgbClr val="14202E"/>
                </a:solidFill>
                <a:latin typeface="Calibri" pitchFamily="34" charset="0"/>
                <a:ea typeface="Calibri" pitchFamily="34" charset="-122"/>
                <a:cs typeface="Calibri" pitchFamily="34" charset="-120"/>
              </a:rPr>
              <a:t>Ziel: genau diesen Anteil erkennen und abziehen, nicht die ganze Kurve glätten.</a:t>
            </a:r>
            <a:endParaRPr lang="en-US" sz="2000" dirty="0"/>
          </a:p>
        </p:txBody>
      </p:sp>
      <p:sp>
        <p:nvSpPr>
          <p:cNvPr id="25" name="Slide Number Placeholder 0"/>
          <p:cNvSpPr>
            <a:spLocks noGrp="1"/>
          </p:cNvSpPr>
          <p:nvPr>
            <p:ph type="sldNum" sz="quarter" idx="4294967295"/>
          </p:nvPr>
        </p:nvSpPr>
        <p:spPr>
          <a:xfrm>
            <a:off x="10795000" y="6426200"/>
            <a:ext cx="5842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5F6873"/>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812800" y="812800"/>
            <a:ext cx="10566400" cy="215900"/>
          </a:xfrm>
          <a:prstGeom prst="rect">
            <a:avLst/>
          </a:prstGeom>
          <a:noFill/>
          <a:ln/>
        </p:spPr>
        <p:txBody>
          <a:bodyPr wrap="square" lIns="0" tIns="0" rIns="0" bIns="0" rtlCol="0" anchor="t"/>
          <a:lstStyle/>
          <a:p>
            <a:pPr indent="0" marL="0">
              <a:lnSpc>
                <a:spcPct val="115000"/>
              </a:lnSpc>
              <a:buNone/>
            </a:pPr>
            <a:r>
              <a:rPr lang="en-US" sz="1200" spc="100" kern="0" dirty="0">
                <a:solidFill>
                  <a:srgbClr val="1C5CAB"/>
                </a:solidFill>
                <a:latin typeface="Consolas" pitchFamily="34" charset="0"/>
                <a:ea typeface="Consolas" pitchFamily="34" charset="-122"/>
                <a:cs typeface="Consolas" pitchFamily="34" charset="-120"/>
              </a:rPr>
              <a:t>FNN-HINWEIS NETZBILDENDE EIGENSCHAFTEN V2.1</a:t>
            </a:r>
            <a:endParaRPr lang="en-US" sz="1200" dirty="0"/>
          </a:p>
        </p:txBody>
      </p:sp>
      <p:sp>
        <p:nvSpPr>
          <p:cNvPr id="3" name="Text 0"/>
          <p:cNvSpPr/>
          <p:nvPr>
            <p:ph idx="100" type="title" hasCustomPrompt="1"/>
          </p:nvPr>
        </p:nvSpPr>
        <p:spPr>
          <a:xfrm>
            <a:off x="812800" y="1104900"/>
            <a:ext cx="10566400" cy="508000"/>
          </a:xfrm>
          <a:prstGeom prst="rect">
            <a:avLst/>
          </a:prstGeom>
          <a:noFill/>
          <a:ln/>
        </p:spPr>
        <p:txBody>
          <a:bodyPr wrap="square" lIns="0" tIns="0" rIns="0" bIns="0" rtlCol="0" anchor="t"/>
          <a:lstStyle/>
          <a:p>
            <a:pPr algn="l" indent="0" marL="0">
              <a:buNone/>
            </a:pPr>
            <a:r>
              <a:rPr lang="en-US" sz="3200" b="1" dirty="0">
                <a:solidFill>
                  <a:srgbClr val="14202E"/>
                </a:solidFill>
                <a:latin typeface="Calibri" pitchFamily="34" charset="0"/>
                <a:ea typeface="Calibri" pitchFamily="34" charset="-122"/>
                <a:cs typeface="Calibri" pitchFamily="34" charset="-120"/>
              </a:rPr>
              <a:t>Gefordert: Pendelungen dämpfen</a:t>
            </a:r>
            <a:endParaRPr lang="en-US" sz="3200" dirty="0"/>
          </a:p>
        </p:txBody>
      </p:sp>
      <p:sp>
        <p:nvSpPr>
          <p:cNvPr id="4" name="Text 2"/>
          <p:cNvSpPr txBox="1"/>
          <p:nvPr/>
        </p:nvSpPr>
        <p:spPr>
          <a:xfrm>
            <a:off x="812800" y="6426200"/>
            <a:ext cx="9779000" cy="228600"/>
          </a:xfrm>
          <a:prstGeom prst="rect">
            <a:avLst/>
          </a:prstGeom>
          <a:noFill/>
          <a:ln/>
        </p:spPr>
        <p:txBody>
          <a:bodyPr wrap="square" lIns="0" tIns="0" rIns="0" bIns="0" rtlCol="0" anchor="t"/>
          <a:lstStyle/>
          <a:p>
            <a:pPr indent="0" marL="0">
              <a:lnSpc>
                <a:spcPct val="115000"/>
              </a:lnSpc>
              <a:buNone/>
            </a:pPr>
            <a:r>
              <a:rPr lang="en-US" sz="1200" dirty="0">
                <a:solidFill>
                  <a:srgbClr val="5F6873"/>
                </a:solidFill>
                <a:latin typeface="Calibri" pitchFamily="34" charset="0"/>
                <a:ea typeface="Calibri" pitchFamily="34" charset="-122"/>
                <a:cs typeface="Calibri" pitchFamily="34" charset="-120"/>
              </a:rPr>
              <a:t>Quelle: VDE FNN Hinweis Netzbildende Eigenschaften v2.1, Abschnitte 3.1.22, 4.2.1.12 und 5.5.5.8 (Tabelle 8, TR8-Hinweis)</a:t>
            </a:r>
            <a:endParaRPr lang="en-US" sz="1200" dirty="0"/>
          </a:p>
        </p:txBody>
      </p:sp>
      <p:sp>
        <p:nvSpPr>
          <p:cNvPr id="6" name="Shape 3"/>
          <p:cNvSpPr/>
          <p:nvPr/>
        </p:nvSpPr>
        <p:spPr>
          <a:xfrm>
            <a:off x="812800" y="1879600"/>
            <a:ext cx="6731000" cy="0"/>
          </a:xfrm>
          <a:prstGeom prst="line">
            <a:avLst/>
          </a:prstGeom>
          <a:noFill/>
          <a:ln w="9525">
            <a:solidFill>
              <a:srgbClr val="D9D8D1"/>
            </a:solidFill>
            <a:prstDash val="solid"/>
          </a:ln>
        </p:spPr>
      </p:sp>
      <p:sp>
        <p:nvSpPr>
          <p:cNvPr id="7" name="Text 4"/>
          <p:cNvSpPr txBox="1"/>
          <p:nvPr/>
        </p:nvSpPr>
        <p:spPr>
          <a:xfrm>
            <a:off x="812800" y="1968500"/>
            <a:ext cx="6731000" cy="215900"/>
          </a:xfrm>
          <a:prstGeom prst="rect">
            <a:avLst/>
          </a:prstGeom>
          <a:noFill/>
          <a:ln/>
        </p:spPr>
        <p:txBody>
          <a:bodyPr wrap="square" lIns="0" tIns="0" rIns="0" bIns="0" rtlCol="0" anchor="t"/>
          <a:lstStyle/>
          <a:p>
            <a:pPr indent="0" marL="0">
              <a:lnSpc>
                <a:spcPct val="115000"/>
              </a:lnSpc>
              <a:buNone/>
            </a:pPr>
            <a:r>
              <a:rPr lang="en-US" sz="1200" dirty="0">
                <a:solidFill>
                  <a:srgbClr val="1C5CAB"/>
                </a:solidFill>
                <a:latin typeface="Consolas" pitchFamily="34" charset="0"/>
                <a:ea typeface="Consolas" pitchFamily="34" charset="-122"/>
                <a:cs typeface="Consolas" pitchFamily="34" charset="-120"/>
              </a:rPr>
              <a:t>4.2.1.12 · Anforderung</a:t>
            </a:r>
            <a:endParaRPr lang="en-US" sz="1200" dirty="0"/>
          </a:p>
        </p:txBody>
      </p:sp>
      <p:sp>
        <p:nvSpPr>
          <p:cNvPr id="8" name="Text 5"/>
          <p:cNvSpPr txBox="1"/>
          <p:nvPr/>
        </p:nvSpPr>
        <p:spPr>
          <a:xfrm>
            <a:off x="812800" y="2222500"/>
            <a:ext cx="6731000" cy="266700"/>
          </a:xfrm>
          <a:prstGeom prst="rect">
            <a:avLst/>
          </a:prstGeom>
          <a:noFill/>
          <a:ln/>
        </p:spPr>
        <p:txBody>
          <a:bodyPr wrap="square" lIns="0" tIns="0" rIns="0" bIns="0" rtlCol="0" anchor="t"/>
          <a:lstStyle/>
          <a:p>
            <a:pPr indent="0" marL="0">
              <a:lnSpc>
                <a:spcPct val="115000"/>
              </a:lnSpc>
              <a:buNone/>
            </a:pPr>
            <a:r>
              <a:rPr lang="en-US" sz="1500" dirty="0">
                <a:solidFill>
                  <a:srgbClr val="14202E"/>
                </a:solidFill>
                <a:latin typeface="Calibri" pitchFamily="34" charset="0"/>
                <a:ea typeface="Calibri" pitchFamily="34" charset="-122"/>
                <a:cs typeface="Calibri" pitchFamily="34" charset="-120"/>
              </a:rPr>
              <a:t>0,05 bis 10 Hz dämpfen, Dämpfungsmaß D ≥ 0,5 bei SCR ≥ 3.</a:t>
            </a:r>
            <a:endParaRPr lang="en-US" sz="1500" dirty="0"/>
          </a:p>
        </p:txBody>
      </p:sp>
      <p:sp>
        <p:nvSpPr>
          <p:cNvPr id="9" name="Text 6"/>
          <p:cNvSpPr txBox="1"/>
          <p:nvPr/>
        </p:nvSpPr>
        <p:spPr>
          <a:xfrm>
            <a:off x="812800" y="2527300"/>
            <a:ext cx="6731000" cy="228600"/>
          </a:xfrm>
          <a:prstGeom prst="rect">
            <a:avLst/>
          </a:prstGeom>
          <a:noFill/>
          <a:ln/>
        </p:spPr>
        <p:txBody>
          <a:bodyPr wrap="square" lIns="0" tIns="0" rIns="0" bIns="0" rtlCol="0" anchor="t"/>
          <a:lstStyle/>
          <a:p>
            <a:pPr indent="0" marL="0">
              <a:lnSpc>
                <a:spcPct val="115000"/>
              </a:lnSpc>
              <a:buNone/>
            </a:pPr>
            <a:r>
              <a:rPr lang="en-US" sz="1200" dirty="0">
                <a:solidFill>
                  <a:srgbClr val="44505E"/>
                </a:solidFill>
                <a:latin typeface="Calibri" pitchFamily="34" charset="0"/>
                <a:ea typeface="Calibri" pitchFamily="34" charset="-122"/>
                <a:cs typeface="Calibri" pitchFamily="34" charset="-120"/>
              </a:rPr>
              <a:t>SCR: Kurzschlussleistungsverhältnis am Netzanschlusspunkt, ein Maß für die Netzstärke.</a:t>
            </a:r>
            <a:endParaRPr lang="en-US" sz="1200" dirty="0"/>
          </a:p>
        </p:txBody>
      </p:sp>
      <p:sp>
        <p:nvSpPr>
          <p:cNvPr id="10" name="Shape 7"/>
          <p:cNvSpPr/>
          <p:nvPr/>
        </p:nvSpPr>
        <p:spPr>
          <a:xfrm>
            <a:off x="812800" y="2844800"/>
            <a:ext cx="6731000" cy="0"/>
          </a:xfrm>
          <a:prstGeom prst="line">
            <a:avLst/>
          </a:prstGeom>
          <a:noFill/>
          <a:ln w="9525">
            <a:solidFill>
              <a:srgbClr val="D9D8D1"/>
            </a:solidFill>
            <a:prstDash val="solid"/>
          </a:ln>
        </p:spPr>
      </p:sp>
      <p:sp>
        <p:nvSpPr>
          <p:cNvPr id="11" name="Text 8"/>
          <p:cNvSpPr txBox="1"/>
          <p:nvPr/>
        </p:nvSpPr>
        <p:spPr>
          <a:xfrm>
            <a:off x="812800" y="2933700"/>
            <a:ext cx="6731000" cy="215900"/>
          </a:xfrm>
          <a:prstGeom prst="rect">
            <a:avLst/>
          </a:prstGeom>
          <a:noFill/>
          <a:ln/>
        </p:spPr>
        <p:txBody>
          <a:bodyPr wrap="square" lIns="0" tIns="0" rIns="0" bIns="0" rtlCol="0" anchor="t"/>
          <a:lstStyle/>
          <a:p>
            <a:pPr indent="0" marL="0">
              <a:lnSpc>
                <a:spcPct val="115000"/>
              </a:lnSpc>
              <a:buNone/>
            </a:pPr>
            <a:r>
              <a:rPr lang="en-US" sz="1200" dirty="0">
                <a:solidFill>
                  <a:srgbClr val="1C5CAB"/>
                </a:solidFill>
                <a:latin typeface="Consolas" pitchFamily="34" charset="0"/>
                <a:ea typeface="Consolas" pitchFamily="34" charset="-122"/>
                <a:cs typeface="Consolas" pitchFamily="34" charset="-120"/>
              </a:rPr>
              <a:t>5.5.5.8 · Prüfung</a:t>
            </a:r>
            <a:endParaRPr lang="en-US" sz="1200" dirty="0"/>
          </a:p>
        </p:txBody>
      </p:sp>
      <p:sp>
        <p:nvSpPr>
          <p:cNvPr id="12" name="Text 9"/>
          <p:cNvSpPr txBox="1"/>
          <p:nvPr/>
        </p:nvSpPr>
        <p:spPr>
          <a:xfrm>
            <a:off x="812800" y="3187700"/>
            <a:ext cx="6731000" cy="266700"/>
          </a:xfrm>
          <a:prstGeom prst="rect">
            <a:avLst/>
          </a:prstGeom>
          <a:noFill/>
          <a:ln/>
        </p:spPr>
        <p:txBody>
          <a:bodyPr wrap="square" lIns="0" tIns="0" rIns="0" bIns="0" rtlCol="0" anchor="t"/>
          <a:lstStyle/>
          <a:p>
            <a:pPr indent="0" marL="0">
              <a:lnSpc>
                <a:spcPct val="115000"/>
              </a:lnSpc>
              <a:buNone/>
            </a:pPr>
            <a:r>
              <a:rPr lang="en-US" sz="1500" dirty="0">
                <a:solidFill>
                  <a:srgbClr val="14202E"/>
                </a:solidFill>
                <a:latin typeface="Calibri" pitchFamily="34" charset="0"/>
                <a:ea typeface="Calibri" pitchFamily="34" charset="-122"/>
                <a:cs typeface="Calibri" pitchFamily="34" charset="-120"/>
              </a:rPr>
              <a:t>Frequenzsprung um 250 bis 500 mHz bei 50 bis 75 % von PEmax.</a:t>
            </a:r>
            <a:endParaRPr lang="en-US" sz="1500" dirty="0"/>
          </a:p>
        </p:txBody>
      </p:sp>
      <p:sp>
        <p:nvSpPr>
          <p:cNvPr id="13" name="Text 10"/>
          <p:cNvSpPr txBox="1"/>
          <p:nvPr/>
        </p:nvSpPr>
        <p:spPr>
          <a:xfrm>
            <a:off x="812800" y="3492500"/>
            <a:ext cx="6731000" cy="228600"/>
          </a:xfrm>
          <a:prstGeom prst="rect">
            <a:avLst/>
          </a:prstGeom>
          <a:noFill/>
          <a:ln/>
        </p:spPr>
        <p:txBody>
          <a:bodyPr wrap="square" lIns="0" tIns="0" rIns="0" bIns="0" rtlCol="0" anchor="t"/>
          <a:lstStyle/>
          <a:p>
            <a:pPr indent="0" marL="0">
              <a:lnSpc>
                <a:spcPct val="115000"/>
              </a:lnSpc>
              <a:buNone/>
            </a:pPr>
            <a:r>
              <a:rPr lang="en-US" sz="1200" dirty="0">
                <a:solidFill>
                  <a:srgbClr val="44505E"/>
                </a:solidFill>
                <a:latin typeface="Calibri" pitchFamily="34" charset="0"/>
                <a:ea typeface="Calibri" pitchFamily="34" charset="-122"/>
                <a:cs typeface="Calibri" pitchFamily="34" charset="-120"/>
              </a:rPr>
              <a:t>PEmax: maximale Wirkleistung der Einheit · gemessen wird p1, die Mitsystem-Wirkleistung.</a:t>
            </a:r>
            <a:endParaRPr lang="en-US" sz="1200" dirty="0"/>
          </a:p>
        </p:txBody>
      </p:sp>
      <p:sp>
        <p:nvSpPr>
          <p:cNvPr id="14" name="Shape 11"/>
          <p:cNvSpPr/>
          <p:nvPr/>
        </p:nvSpPr>
        <p:spPr>
          <a:xfrm>
            <a:off x="812800" y="3810000"/>
            <a:ext cx="6731000" cy="0"/>
          </a:xfrm>
          <a:prstGeom prst="line">
            <a:avLst/>
          </a:prstGeom>
          <a:noFill/>
          <a:ln w="9525">
            <a:solidFill>
              <a:srgbClr val="D9D8D1"/>
            </a:solidFill>
            <a:prstDash val="solid"/>
          </a:ln>
        </p:spPr>
      </p:sp>
      <p:sp>
        <p:nvSpPr>
          <p:cNvPr id="15" name="Text 12"/>
          <p:cNvSpPr txBox="1"/>
          <p:nvPr/>
        </p:nvSpPr>
        <p:spPr>
          <a:xfrm>
            <a:off x="812800" y="3898900"/>
            <a:ext cx="6731000" cy="215900"/>
          </a:xfrm>
          <a:prstGeom prst="rect">
            <a:avLst/>
          </a:prstGeom>
          <a:noFill/>
          <a:ln/>
        </p:spPr>
        <p:txBody>
          <a:bodyPr wrap="square" lIns="0" tIns="0" rIns="0" bIns="0" rtlCol="0" anchor="t"/>
          <a:lstStyle/>
          <a:p>
            <a:pPr indent="0" marL="0">
              <a:lnSpc>
                <a:spcPct val="115000"/>
              </a:lnSpc>
              <a:buNone/>
            </a:pPr>
            <a:r>
              <a:rPr lang="en-US" sz="1200" dirty="0">
                <a:solidFill>
                  <a:srgbClr val="1C5CAB"/>
                </a:solidFill>
                <a:latin typeface="Consolas" pitchFamily="34" charset="0"/>
                <a:ea typeface="Consolas" pitchFamily="34" charset="-122"/>
                <a:cs typeface="Consolas" pitchFamily="34" charset="-120"/>
              </a:rPr>
              <a:t>5.5.5.8.3 · Auswertung</a:t>
            </a:r>
            <a:endParaRPr lang="en-US" sz="1200" dirty="0"/>
          </a:p>
        </p:txBody>
      </p:sp>
      <p:sp>
        <p:nvSpPr>
          <p:cNvPr id="16" name="Text 13"/>
          <p:cNvSpPr txBox="1"/>
          <p:nvPr/>
        </p:nvSpPr>
        <p:spPr>
          <a:xfrm>
            <a:off x="812800" y="4152900"/>
            <a:ext cx="6731000" cy="533400"/>
          </a:xfrm>
          <a:prstGeom prst="rect">
            <a:avLst/>
          </a:prstGeom>
          <a:noFill/>
          <a:ln/>
        </p:spPr>
        <p:txBody>
          <a:bodyPr wrap="square" lIns="0" tIns="0" rIns="0" bIns="0" rtlCol="0" anchor="t"/>
          <a:lstStyle/>
          <a:p>
            <a:pPr indent="0" marL="0">
              <a:lnSpc>
                <a:spcPct val="115000"/>
              </a:lnSpc>
              <a:buNone/>
            </a:pPr>
            <a:r>
              <a:rPr lang="en-US" sz="1500" dirty="0">
                <a:solidFill>
                  <a:srgbClr val="14202E"/>
                </a:solidFill>
                <a:latin typeface="Calibri" pitchFamily="34" charset="0"/>
                <a:ea typeface="Calibri" pitchFamily="34" charset="-122"/>
                <a:cs typeface="Calibri" pitchFamily="34" charset="-120"/>
              </a:rPr>
              <a:t>Überschwinger ΔP nach dem Sprung: D ≥ 0,45, bei drei Extrema zudem beide Amplitudenverhältnisse &lt; 0,2.</a:t>
            </a:r>
            <a:endParaRPr lang="en-US" sz="1500" dirty="0"/>
          </a:p>
        </p:txBody>
      </p:sp>
      <p:pic>
        <p:nvPicPr>
          <p:cNvPr id="17" name="Image 0" descr="av">    </p:cNvPr>
          <p:cNvPicPr>
            <a:picLocks noChangeAspect="1"/>
          </p:cNvPicPr>
          <p:nvPr/>
        </p:nvPicPr>
        <p:blipFill>
          <a:blip r:embed="rId1"/>
          <a:stretch>
            <a:fillRect/>
          </a:stretch>
        </p:blipFill>
        <p:spPr>
          <a:xfrm>
            <a:off x="812800" y="4737100"/>
            <a:ext cx="2895600" cy="533400"/>
          </a:xfrm>
          <a:prstGeom prst="rect">
            <a:avLst/>
          </a:prstGeom>
        </p:spPr>
      </p:pic>
      <p:sp>
        <p:nvSpPr>
          <p:cNvPr id="18" name="Shape 14"/>
          <p:cNvSpPr/>
          <p:nvPr/>
        </p:nvSpPr>
        <p:spPr>
          <a:xfrm>
            <a:off x="812800" y="5372100"/>
            <a:ext cx="6731000" cy="0"/>
          </a:xfrm>
          <a:prstGeom prst="line">
            <a:avLst/>
          </a:prstGeom>
          <a:noFill/>
          <a:ln w="9525">
            <a:solidFill>
              <a:srgbClr val="D9D8D1"/>
            </a:solidFill>
            <a:prstDash val="solid"/>
          </a:ln>
        </p:spPr>
      </p:sp>
      <p:sp>
        <p:nvSpPr>
          <p:cNvPr id="19" name="Shape 15"/>
          <p:cNvSpPr/>
          <p:nvPr/>
        </p:nvSpPr>
        <p:spPr>
          <a:xfrm>
            <a:off x="7950200" y="1879600"/>
            <a:ext cx="3429000" cy="3810000"/>
          </a:xfrm>
          <a:prstGeom prst="roundRect">
            <a:avLst>
              <a:gd name="adj" fmla="val 2933"/>
            </a:avLst>
          </a:prstGeom>
          <a:solidFill>
            <a:srgbClr val="FCFCFB"/>
          </a:solidFill>
          <a:ln w="9525">
            <a:solidFill>
              <a:srgbClr val="E1E0D9"/>
            </a:solidFill>
            <a:prstDash val="solid"/>
          </a:ln>
        </p:spPr>
      </p:sp>
      <p:sp>
        <p:nvSpPr>
          <p:cNvPr id="20" name="Text 16"/>
          <p:cNvSpPr txBox="1"/>
          <p:nvPr/>
        </p:nvSpPr>
        <p:spPr>
          <a:xfrm>
            <a:off x="8153400" y="2082800"/>
            <a:ext cx="3048000" cy="317500"/>
          </a:xfrm>
          <a:prstGeom prst="rect">
            <a:avLst/>
          </a:prstGeom>
          <a:noFill/>
          <a:ln/>
        </p:spPr>
        <p:txBody>
          <a:bodyPr wrap="square" lIns="0" tIns="0" rIns="0" bIns="0" rtlCol="0" anchor="t"/>
          <a:lstStyle/>
          <a:p>
            <a:pPr indent="0" marL="0">
              <a:lnSpc>
                <a:spcPct val="115000"/>
              </a:lnSpc>
              <a:buNone/>
            </a:pPr>
            <a:r>
              <a:rPr lang="en-US" sz="2000" b="1" dirty="0">
                <a:solidFill>
                  <a:srgbClr val="14202E"/>
                </a:solidFill>
                <a:latin typeface="Calibri" pitchFamily="34" charset="0"/>
                <a:ea typeface="Calibri" pitchFamily="34" charset="-122"/>
                <a:cs typeface="Calibri" pitchFamily="34" charset="-120"/>
              </a:rPr>
              <a:t>Dämpfungsmaß</a:t>
            </a:r>
            <a:endParaRPr lang="en-US" sz="2000" dirty="0"/>
          </a:p>
        </p:txBody>
      </p:sp>
      <p:pic>
        <p:nvPicPr>
          <p:cNvPr id="21" name="Image 1" descr="d_def">    </p:cNvPr>
          <p:cNvPicPr>
            <a:picLocks noChangeAspect="1"/>
          </p:cNvPicPr>
          <p:nvPr/>
        </p:nvPicPr>
        <p:blipFill>
          <a:blip r:embed="rId2"/>
          <a:stretch>
            <a:fillRect/>
          </a:stretch>
        </p:blipFill>
        <p:spPr>
          <a:xfrm>
            <a:off x="8153400" y="2489200"/>
            <a:ext cx="1873250" cy="641350"/>
          </a:xfrm>
          <a:prstGeom prst="rect">
            <a:avLst/>
          </a:prstGeom>
        </p:spPr>
      </p:pic>
      <p:sp>
        <p:nvSpPr>
          <p:cNvPr id="22" name="Text 17"/>
          <p:cNvSpPr txBox="1"/>
          <p:nvPr/>
        </p:nvSpPr>
        <p:spPr>
          <a:xfrm>
            <a:off x="8153400" y="3213100"/>
            <a:ext cx="3048000" cy="444500"/>
          </a:xfrm>
          <a:prstGeom prst="rect">
            <a:avLst/>
          </a:prstGeom>
          <a:noFill/>
          <a:ln/>
        </p:spPr>
        <p:txBody>
          <a:bodyPr wrap="square" lIns="0" tIns="0" rIns="0" bIns="0" rtlCol="0" anchor="t"/>
          <a:lstStyle/>
          <a:p>
            <a:pPr indent="0" marL="0">
              <a:lnSpc>
                <a:spcPct val="115000"/>
              </a:lnSpc>
              <a:buNone/>
            </a:pPr>
            <a:r>
              <a:rPr lang="en-US" sz="1200" dirty="0">
                <a:solidFill>
                  <a:srgbClr val="44505E"/>
                </a:solidFill>
                <a:latin typeface="Calibri" pitchFamily="34" charset="0"/>
                <a:ea typeface="Calibri" pitchFamily="34" charset="-122"/>
                <a:cs typeface="Calibri" pitchFamily="34" charset="-120"/>
              </a:rPr>
              <a:t>σ: Abklingrate, ω = 2πf; es zählt der kleinste Wert.</a:t>
            </a:r>
            <a:endParaRPr lang="en-US" sz="1200" dirty="0"/>
          </a:p>
        </p:txBody>
      </p:sp>
      <p:sp>
        <p:nvSpPr>
          <p:cNvPr id="23" name="Shape 18"/>
          <p:cNvSpPr/>
          <p:nvPr/>
        </p:nvSpPr>
        <p:spPr>
          <a:xfrm>
            <a:off x="8153400" y="3733800"/>
            <a:ext cx="3022600" cy="0"/>
          </a:xfrm>
          <a:prstGeom prst="line">
            <a:avLst/>
          </a:prstGeom>
          <a:noFill/>
          <a:ln w="9525">
            <a:solidFill>
              <a:srgbClr val="E1E0D9"/>
            </a:solidFill>
            <a:prstDash val="solid"/>
          </a:ln>
        </p:spPr>
      </p:sp>
      <p:sp>
        <p:nvSpPr>
          <p:cNvPr id="24" name="Text 19"/>
          <p:cNvSpPr txBox="1"/>
          <p:nvPr/>
        </p:nvSpPr>
        <p:spPr>
          <a:xfrm>
            <a:off x="8153400" y="3835400"/>
            <a:ext cx="3048000" cy="266700"/>
          </a:xfrm>
          <a:prstGeom prst="rect">
            <a:avLst/>
          </a:prstGeom>
          <a:noFill/>
          <a:ln/>
        </p:spPr>
        <p:txBody>
          <a:bodyPr wrap="square" lIns="0" tIns="0" rIns="0" bIns="0" rtlCol="0" anchor="t"/>
          <a:lstStyle/>
          <a:p>
            <a:pPr indent="0" marL="0">
              <a:lnSpc>
                <a:spcPct val="115000"/>
              </a:lnSpc>
              <a:buNone/>
            </a:pPr>
            <a:r>
              <a:rPr lang="en-US" sz="1500" dirty="0">
                <a:solidFill>
                  <a:srgbClr val="14202E"/>
                </a:solidFill>
                <a:latin typeface="Calibri" pitchFamily="34" charset="0"/>
                <a:ea typeface="Calibri" pitchFamily="34" charset="-122"/>
                <a:cs typeface="Calibri" pitchFamily="34" charset="-120"/>
              </a:rPr>
              <a:t>2,27-Hz-Pendelung unserer Messung:</a:t>
            </a:r>
            <a:endParaRPr lang="en-US" sz="1500" dirty="0"/>
          </a:p>
        </p:txBody>
      </p:sp>
      <p:pic>
        <p:nvPicPr>
          <p:cNvPr id="25" name="Image 2" descr="d_val">    </p:cNvPr>
          <p:cNvPicPr>
            <a:picLocks noChangeAspect="1"/>
          </p:cNvPicPr>
          <p:nvPr/>
        </p:nvPicPr>
        <p:blipFill>
          <a:blip r:embed="rId3"/>
          <a:stretch>
            <a:fillRect/>
          </a:stretch>
        </p:blipFill>
        <p:spPr>
          <a:xfrm>
            <a:off x="8153400" y="4165600"/>
            <a:ext cx="2717800" cy="584200"/>
          </a:xfrm>
          <a:prstGeom prst="rect">
            <a:avLst/>
          </a:prstGeom>
        </p:spPr>
      </p:pic>
      <p:sp>
        <p:nvSpPr>
          <p:cNvPr id="26" name="Text 20"/>
          <p:cNvSpPr txBox="1"/>
          <p:nvPr/>
        </p:nvSpPr>
        <p:spPr>
          <a:xfrm>
            <a:off x="8153400" y="4851400"/>
            <a:ext cx="3048000" cy="508000"/>
          </a:xfrm>
          <a:prstGeom prst="rect">
            <a:avLst/>
          </a:prstGeom>
          <a:noFill/>
          <a:ln/>
        </p:spPr>
        <p:txBody>
          <a:bodyPr wrap="square" lIns="0" tIns="0" rIns="0" bIns="0" rtlCol="0" anchor="t"/>
          <a:lstStyle/>
          <a:p>
            <a:pPr indent="0" marL="0">
              <a:lnSpc>
                <a:spcPct val="115000"/>
              </a:lnSpc>
              <a:buNone/>
            </a:pPr>
            <a:r>
              <a:rPr lang="en-US" sz="1200" dirty="0">
                <a:solidFill>
                  <a:srgbClr val="44505E"/>
                </a:solidFill>
                <a:latin typeface="Calibri" pitchFamily="34" charset="0"/>
                <a:ea typeface="Calibri" pitchFamily="34" charset="-122"/>
                <a:cs typeface="Calibri" pitchFamily="34" charset="-120"/>
              </a:rPr>
              <a:t>Weit unter 0,45. Ist sie mechanisch bedingt, verfälscht sie den Nachweis.</a:t>
            </a:r>
            <a:endParaRPr lang="en-US" sz="1200" dirty="0"/>
          </a:p>
        </p:txBody>
      </p:sp>
      <p:sp>
        <p:nvSpPr>
          <p:cNvPr id="25" name="Slide Number Placeholder 0"/>
          <p:cNvSpPr>
            <a:spLocks noGrp="1"/>
          </p:cNvSpPr>
          <p:nvPr>
            <p:ph type="sldNum" sz="quarter" idx="4294967295"/>
          </p:nvPr>
        </p:nvSpPr>
        <p:spPr>
          <a:xfrm>
            <a:off x="10795000" y="6426200"/>
            <a:ext cx="5842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5F6873"/>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812800" y="812800"/>
            <a:ext cx="10566400" cy="215900"/>
          </a:xfrm>
          <a:prstGeom prst="rect">
            <a:avLst/>
          </a:prstGeom>
          <a:noFill/>
          <a:ln/>
        </p:spPr>
        <p:txBody>
          <a:bodyPr wrap="square" lIns="0" tIns="0" rIns="0" bIns="0" rtlCol="0" anchor="t"/>
          <a:lstStyle/>
          <a:p>
            <a:pPr indent="0" marL="0">
              <a:lnSpc>
                <a:spcPct val="115000"/>
              </a:lnSpc>
              <a:buNone/>
            </a:pPr>
            <a:r>
              <a:rPr lang="en-US" sz="1200" spc="100" kern="0" dirty="0">
                <a:solidFill>
                  <a:srgbClr val="1C5CAB"/>
                </a:solidFill>
                <a:latin typeface="Consolas" pitchFamily="34" charset="0"/>
                <a:ea typeface="Consolas" pitchFamily="34" charset="-122"/>
                <a:cs typeface="Consolas" pitchFamily="34" charset="-120"/>
              </a:rPr>
              <a:t>FNN-HINWEIS · ANHANG A.V</a:t>
            </a:r>
            <a:endParaRPr lang="en-US" sz="1200" dirty="0"/>
          </a:p>
        </p:txBody>
      </p:sp>
      <p:sp>
        <p:nvSpPr>
          <p:cNvPr id="3" name="Text 0"/>
          <p:cNvSpPr/>
          <p:nvPr>
            <p:ph idx="100" type="title" hasCustomPrompt="1"/>
          </p:nvPr>
        </p:nvSpPr>
        <p:spPr>
          <a:xfrm>
            <a:off x="812800" y="1104900"/>
            <a:ext cx="10566400" cy="508000"/>
          </a:xfrm>
          <a:prstGeom prst="rect">
            <a:avLst/>
          </a:prstGeom>
          <a:noFill/>
          <a:ln/>
        </p:spPr>
        <p:txBody>
          <a:bodyPr wrap="square" lIns="0" tIns="0" rIns="0" bIns="0" rtlCol="0" anchor="t"/>
          <a:lstStyle/>
          <a:p>
            <a:pPr algn="l" indent="0" marL="0">
              <a:buNone/>
            </a:pPr>
            <a:r>
              <a:rPr lang="en-US" sz="3200" b="1" dirty="0">
                <a:solidFill>
                  <a:srgbClr val="14202E"/>
                </a:solidFill>
                <a:latin typeface="Calibri" pitchFamily="34" charset="0"/>
                <a:ea typeface="Calibri" pitchFamily="34" charset="-122"/>
                <a:cs typeface="Calibri" pitchFamily="34" charset="-120"/>
              </a:rPr>
              <a:t>Erlaubt: mechanische Anteile abziehen</a:t>
            </a:r>
            <a:endParaRPr lang="en-US" sz="3200" dirty="0"/>
          </a:p>
        </p:txBody>
      </p:sp>
      <p:sp>
        <p:nvSpPr>
          <p:cNvPr id="4" name="Text 2"/>
          <p:cNvSpPr txBox="1"/>
          <p:nvPr/>
        </p:nvSpPr>
        <p:spPr>
          <a:xfrm>
            <a:off x="812800" y="6426200"/>
            <a:ext cx="9779000" cy="228600"/>
          </a:xfrm>
          <a:prstGeom prst="rect">
            <a:avLst/>
          </a:prstGeom>
          <a:noFill/>
          <a:ln/>
        </p:spPr>
        <p:txBody>
          <a:bodyPr wrap="square" lIns="0" tIns="0" rIns="0" bIns="0" rtlCol="0" anchor="t"/>
          <a:lstStyle/>
          <a:p>
            <a:pPr indent="0" marL="0">
              <a:lnSpc>
                <a:spcPct val="115000"/>
              </a:lnSpc>
              <a:buNone/>
            </a:pPr>
            <a:r>
              <a:rPr lang="en-US" sz="1200" dirty="0">
                <a:solidFill>
                  <a:srgbClr val="5F6873"/>
                </a:solidFill>
                <a:latin typeface="Calibri" pitchFamily="34" charset="0"/>
                <a:ea typeface="Calibri" pitchFamily="34" charset="-122"/>
                <a:cs typeface="Calibri" pitchFamily="34" charset="-120"/>
              </a:rPr>
              <a:t>Quelle: VDE FNN Hinweis Netzbildende Eigenschaften v2.1, Anhang A.V und Abschnitt 5.5.5.8.4</a:t>
            </a:r>
            <a:endParaRPr lang="en-US" sz="1200" dirty="0"/>
          </a:p>
        </p:txBody>
      </p:sp>
      <p:sp>
        <p:nvSpPr>
          <p:cNvPr id="6" name="Text 3"/>
          <p:cNvSpPr txBox="1"/>
          <p:nvPr/>
        </p:nvSpPr>
        <p:spPr>
          <a:xfrm>
            <a:off x="812800" y="2095500"/>
            <a:ext cx="2413000" cy="533400"/>
          </a:xfrm>
          <a:prstGeom prst="rect">
            <a:avLst/>
          </a:prstGeom>
          <a:noFill/>
          <a:ln/>
        </p:spPr>
        <p:txBody>
          <a:bodyPr wrap="square" lIns="0" tIns="0" rIns="0" bIns="0" rtlCol="0" anchor="t"/>
          <a:lstStyle/>
          <a:p>
            <a:pPr indent="0" marL="0">
              <a:lnSpc>
                <a:spcPct val="115000"/>
              </a:lnSpc>
              <a:buNone/>
            </a:pPr>
            <a:r>
              <a:rPr lang="en-US" sz="1500" dirty="0">
                <a:solidFill>
                  <a:srgbClr val="44505E"/>
                </a:solidFill>
                <a:latin typeface="Calibri" pitchFamily="34" charset="0"/>
                <a:ea typeface="Calibri" pitchFamily="34" charset="-122"/>
                <a:cs typeface="Calibri" pitchFamily="34" charset="-120"/>
              </a:rPr>
              <a:t>Modell nach Anhang A.V, Gleichung (43):</a:t>
            </a:r>
            <a:endParaRPr lang="en-US" sz="1500" dirty="0"/>
          </a:p>
        </p:txBody>
      </p:sp>
      <p:pic>
        <p:nvPicPr>
          <p:cNvPr id="7" name="Image 0" descr="prony">    </p:cNvPr>
          <p:cNvPicPr>
            <a:picLocks noChangeAspect="1"/>
          </p:cNvPicPr>
          <p:nvPr/>
        </p:nvPicPr>
        <p:blipFill>
          <a:blip r:embed="rId1"/>
          <a:stretch>
            <a:fillRect/>
          </a:stretch>
        </p:blipFill>
        <p:spPr>
          <a:xfrm>
            <a:off x="3479800" y="1879600"/>
            <a:ext cx="3848100" cy="806450"/>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2800" y="2844800"/>
          <a:ext cx="10566400" cy="914400"/>
        </p:xfrm>
        <a:graphic>
          <a:graphicData uri="http://schemas.openxmlformats.org/drawingml/2006/table">
            <a:tbl>
              <a:tblPr/>
              <a:tblGrid>
                <a:gridCol w="635000"/>
                <a:gridCol w="5492750"/>
                <a:gridCol w="4438650"/>
              </a:tblGrid>
              <a:tr h="0">
                <a:tc>
                  <a:txBody>
                    <a:bodyPr/>
                    <a:lstStyle/>
                    <a:p>
                      <a:pPr algn="l" indent="0" marL="0">
                        <a:buNone/>
                      </a:pPr>
                      <a:r>
                        <a:rPr lang="en-US" sz="1300" b="1" dirty="0">
                          <a:solidFill>
                            <a:srgbClr val="14202E"/>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E9E8E2"/>
                    </a:solidFill>
                  </a:tcPr>
                </a:tc>
                <a:tc>
                  <a:txBody>
                    <a:bodyPr/>
                    <a:lstStyle/>
                    <a:p>
                      <a:pPr algn="l" indent="0" marL="0">
                        <a:buNone/>
                      </a:pPr>
                      <a:r>
                        <a:rPr lang="en-US" sz="1300" b="1" dirty="0">
                          <a:solidFill>
                            <a:srgbClr val="14202E"/>
                          </a:solidFill>
                          <a:latin typeface="Calibri" pitchFamily="34" charset="0"/>
                          <a:ea typeface="Calibri" pitchFamily="34" charset="-122"/>
                          <a:cs typeface="Calibri" pitchFamily="34" charset="-120"/>
                        </a:rPr>
                        <a:t>Vorgabe im FNN-Hinweis</a:t>
                      </a:r>
                      <a:endParaRPr lang="en-US" sz="13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E9E8E2"/>
                    </a:solidFill>
                  </a:tcPr>
                </a:tc>
                <a:tc>
                  <a:txBody>
                    <a:bodyPr/>
                    <a:lstStyle/>
                    <a:p>
                      <a:pPr algn="l" indent="0" marL="0">
                        <a:buNone/>
                      </a:pPr>
                      <a:r>
                        <a:rPr lang="en-US" sz="1300" b="1" dirty="0">
                          <a:solidFill>
                            <a:srgbClr val="14202E"/>
                          </a:solidFill>
                          <a:latin typeface="Calibri" pitchFamily="34" charset="0"/>
                          <a:ea typeface="Calibri" pitchFamily="34" charset="-122"/>
                          <a:cs typeface="Calibri" pitchFamily="34" charset="-120"/>
                        </a:rPr>
                        <a:t>Umsetzung im Projekt</a:t>
                      </a:r>
                      <a:endParaRPr lang="en-US" sz="13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E9E8E2"/>
                    </a:solidFill>
                  </a:tcPr>
                </a:tc>
              </a:tr>
              <a:tr h="0">
                <a:tc>
                  <a:txBody>
                    <a:bodyPr/>
                    <a:lstStyle/>
                    <a:p>
                      <a:pPr algn="l" indent="0" marL="0">
                        <a:buNone/>
                      </a:pPr>
                      <a:r>
                        <a:rPr lang="en-US" sz="1300" dirty="0">
                          <a:solidFill>
                            <a:srgbClr val="14202E"/>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l" indent="0" marL="0">
                        <a:buNone/>
                      </a:pPr>
                      <a:r>
                        <a:rPr lang="en-US" sz="1300" dirty="0">
                          <a:solidFill>
                            <a:srgbClr val="14202E"/>
                          </a:solidFill>
                          <a:latin typeface="Calibri" pitchFamily="34" charset="0"/>
                          <a:ea typeface="Calibri" pitchFamily="34" charset="-122"/>
                          <a:cs typeface="Calibri" pitchFamily="34" charset="-120"/>
                        </a:rPr>
                        <a:t>Verlauf vor dem Ereignis entfernen; t = 0 am Beginn des Ereignisses</a:t>
                      </a:r>
                      <a:endParaRPr lang="en-US" sz="13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l" indent="0" marL="0">
                        <a:buNone/>
                      </a:pPr>
                      <a:r>
                        <a:rPr lang="en-US" sz="1300" dirty="0">
                          <a:solidFill>
                            <a:srgbClr val="14202E"/>
                          </a:solidFill>
                          <a:latin typeface="Calibri" pitchFamily="34" charset="0"/>
                          <a:ea typeface="Calibri" pitchFamily="34" charset="-122"/>
                          <a:cs typeface="Calibri" pitchFamily="34" charset="-120"/>
                        </a:rPr>
                        <a:t>Analyse ab t0 = 1 s, dem Frequenzsprung</a:t>
                      </a:r>
                      <a:endParaRPr lang="en-US" sz="13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r>
              <a:tr h="0">
                <a:tc>
                  <a:txBody>
                    <a:bodyPr/>
                    <a:lstStyle/>
                    <a:p>
                      <a:pPr algn="l" indent="0" marL="0">
                        <a:buNone/>
                      </a:pPr>
                      <a:r>
                        <a:rPr lang="en-US" sz="1300" dirty="0">
                          <a:solidFill>
                            <a:srgbClr val="14202E"/>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l" indent="0" marL="0">
                        <a:buNone/>
                      </a:pPr>
                      <a:r>
                        <a:rPr lang="en-US" sz="1300" dirty="0">
                          <a:solidFill>
                            <a:srgbClr val="14202E"/>
                          </a:solidFill>
                          <a:latin typeface="Calibri" pitchFamily="34" charset="0"/>
                          <a:ea typeface="Calibri" pitchFamily="34" charset="-122"/>
                          <a:cs typeface="Calibri" pitchFamily="34" charset="-120"/>
                        </a:rPr>
                        <a:t>Signal nach dem Modell oben zerlegen (Prony-Analyse)</a:t>
                      </a:r>
                      <a:endParaRPr lang="en-US" sz="13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l" indent="0" marL="0">
                        <a:buNone/>
                      </a:pPr>
                      <a:r>
                        <a:rPr lang="en-US" sz="1300" dirty="0">
                          <a:solidFill>
                            <a:srgbClr val="14202E"/>
                          </a:solidFill>
                          <a:latin typeface="Calibri" pitchFamily="34" charset="0"/>
                          <a:ea typeface="Calibri" pitchFamily="34" charset="-122"/>
                          <a:cs typeface="Calibri" pitchFamily="34" charset="-120"/>
                        </a:rPr>
                        <a:t>Matrix Pencil, Ordnung 12: dasselbe Modell</a:t>
                      </a:r>
                      <a:endParaRPr lang="en-US" sz="13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r>
              <a:tr h="0">
                <a:tc>
                  <a:txBody>
                    <a:bodyPr/>
                    <a:lstStyle/>
                    <a:p>
                      <a:pPr algn="l" indent="0" marL="0">
                        <a:buNone/>
                      </a:pPr>
                      <a:r>
                        <a:rPr lang="en-US" sz="1300" dirty="0">
                          <a:solidFill>
                            <a:srgbClr val="14202E"/>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l" indent="0" marL="0">
                        <a:buNone/>
                      </a:pPr>
                      <a:r>
                        <a:rPr lang="en-US" sz="1300" dirty="0">
                          <a:solidFill>
                            <a:srgbClr val="14202E"/>
                          </a:solidFill>
                          <a:latin typeface="Calibri" pitchFamily="34" charset="0"/>
                          <a:ea typeface="Calibri" pitchFamily="34" charset="-122"/>
                          <a:cs typeface="Calibri" pitchFamily="34" charset="-120"/>
                        </a:rPr>
                        <a:t>Mit bis zu 3 Herstellerfrequenzen vergleichen, Band ± 0,1 Hz bzw. ± 20 %</a:t>
                      </a:r>
                      <a:endParaRPr lang="en-US" sz="13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l" indent="0" marL="0">
                        <a:buNone/>
                      </a:pPr>
                      <a:r>
                        <a:rPr lang="en-US" sz="1300" dirty="0">
                          <a:solidFill>
                            <a:srgbClr val="14202E"/>
                          </a:solidFill>
                          <a:latin typeface="Calibri" pitchFamily="34" charset="0"/>
                          <a:ea typeface="Calibri" pitchFamily="34" charset="-122"/>
                          <a:cs typeface="Calibri" pitchFamily="34" charset="-120"/>
                        </a:rPr>
                        <a:t>Annahme 2,2 Hz ± 20 % = 1,76 bis 2,64 Hz</a:t>
                      </a:r>
                      <a:endParaRPr lang="en-US" sz="13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r>
              <a:tr h="0">
                <a:tc>
                  <a:txBody>
                    <a:bodyPr/>
                    <a:lstStyle/>
                    <a:p>
                      <a:pPr algn="l" indent="0" marL="0">
                        <a:buNone/>
                      </a:pPr>
                      <a:r>
                        <a:rPr lang="en-US" sz="1300" dirty="0">
                          <a:solidFill>
                            <a:srgbClr val="14202E"/>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l" indent="0" marL="0">
                        <a:buNone/>
                      </a:pPr>
                      <a:r>
                        <a:rPr lang="en-US" sz="1300" dirty="0">
                          <a:solidFill>
                            <a:srgbClr val="14202E"/>
                          </a:solidFill>
                          <a:latin typeface="Calibri" pitchFamily="34" charset="0"/>
                          <a:ea typeface="Calibri" pitchFamily="34" charset="-122"/>
                          <a:cs typeface="Calibri" pitchFamily="34" charset="-120"/>
                        </a:rPr>
                        <a:t>Komponenten im Band abziehen; Verlauf vor und nach der Bereinigung zeigen</a:t>
                      </a:r>
                      <a:endParaRPr lang="en-US" sz="13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l" indent="0" marL="0">
                        <a:buNone/>
                      </a:pPr>
                      <a:r>
                        <a:rPr lang="en-US" sz="1300" dirty="0">
                          <a:solidFill>
                            <a:srgbClr val="14202E"/>
                          </a:solidFill>
                          <a:latin typeface="Calibri" pitchFamily="34" charset="0"/>
                          <a:ea typeface="Calibri" pitchFamily="34" charset="-122"/>
                          <a:cs typeface="Calibri" pitchFamily="34" charset="-120"/>
                        </a:rPr>
                        <a:t>Abzug auf dem Messraster; beide Kurven im Bericht</a:t>
                      </a:r>
                      <a:endParaRPr lang="en-US" sz="13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r>
            </a:tbl>
          </a:graphicData>
        </a:graphic>
      </p:graphicFrame>
      <p:sp>
        <p:nvSpPr>
          <p:cNvPr id="9" name="Text 4"/>
          <p:cNvSpPr txBox="1"/>
          <p:nvPr/>
        </p:nvSpPr>
        <p:spPr>
          <a:xfrm>
            <a:off x="812800" y="5207000"/>
            <a:ext cx="10566400" cy="571500"/>
          </a:xfrm>
          <a:prstGeom prst="rect">
            <a:avLst/>
          </a:prstGeom>
          <a:noFill/>
          <a:ln/>
        </p:spPr>
        <p:txBody>
          <a:bodyPr wrap="square" lIns="0" tIns="0" rIns="0" bIns="0" rtlCol="0" anchor="t"/>
          <a:lstStyle/>
          <a:p>
            <a:pPr indent="0" marL="0">
              <a:lnSpc>
                <a:spcPct val="115000"/>
              </a:lnSpc>
              <a:buNone/>
            </a:pPr>
            <a:r>
              <a:rPr lang="en-US" sz="1500" b="1" dirty="0">
                <a:solidFill>
                  <a:srgbClr val="14202E"/>
                </a:solidFill>
                <a:latin typeface="Calibri" pitchFamily="34" charset="0"/>
                <a:ea typeface="Calibri" pitchFamily="34" charset="-122"/>
                <a:cs typeface="Calibri" pitchFamily="34" charset="-120"/>
              </a:rPr>
              <a:t>Entscheidend: </a:t>
            </a:r>
            <a:pPr indent="0" marL="0">
              <a:lnSpc>
                <a:spcPct val="115000"/>
              </a:lnSpc>
              <a:buNone/>
            </a:pPr>
            <a:r>
              <a:rPr lang="en-US" sz="1500" dirty="0">
                <a:solidFill>
                  <a:srgbClr val="44505E"/>
                </a:solidFill>
                <a:latin typeface="Calibri" pitchFamily="34" charset="0"/>
                <a:ea typeface="Calibri" pitchFamily="34" charset="-122"/>
                <a:cs typeface="Calibri" pitchFamily="34" charset="-120"/>
              </a:rPr>
              <a:t>Nur Anteile im vorab genannten Resonanzband dürfen weg. Alles andere bleibt Teil der Dämpfungsbewertung.</a:t>
            </a:r>
            <a:endParaRPr lang="en-US" sz="1500" dirty="0"/>
          </a:p>
        </p:txBody>
      </p:sp>
      <p:sp>
        <p:nvSpPr>
          <p:cNvPr id="25" name="Slide Number Placeholder 0"/>
          <p:cNvSpPr>
            <a:spLocks noGrp="1"/>
          </p:cNvSpPr>
          <p:nvPr>
            <p:ph type="sldNum" sz="quarter" idx="4294967295"/>
          </p:nvPr>
        </p:nvSpPr>
        <p:spPr>
          <a:xfrm>
            <a:off x="10795000" y="6426200"/>
            <a:ext cx="5842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5F6873"/>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812800" y="812800"/>
            <a:ext cx="10566400" cy="215900"/>
          </a:xfrm>
          <a:prstGeom prst="rect">
            <a:avLst/>
          </a:prstGeom>
          <a:noFill/>
          <a:ln/>
        </p:spPr>
        <p:txBody>
          <a:bodyPr wrap="square" lIns="0" tIns="0" rIns="0" bIns="0" rtlCol="0" anchor="t"/>
          <a:lstStyle/>
          <a:p>
            <a:pPr indent="0" marL="0">
              <a:lnSpc>
                <a:spcPct val="115000"/>
              </a:lnSpc>
              <a:buNone/>
            </a:pPr>
            <a:r>
              <a:rPr lang="en-US" sz="1200" spc="100" kern="0" dirty="0">
                <a:solidFill>
                  <a:srgbClr val="1C5CAB"/>
                </a:solidFill>
                <a:latin typeface="Consolas" pitchFamily="34" charset="0"/>
                <a:ea typeface="Consolas" pitchFamily="34" charset="-122"/>
                <a:cs typeface="Consolas" pitchFamily="34" charset="-120"/>
              </a:rPr>
              <a:t>VORGEHEN</a:t>
            </a:r>
            <a:endParaRPr lang="en-US" sz="1200" dirty="0"/>
          </a:p>
        </p:txBody>
      </p:sp>
      <p:sp>
        <p:nvSpPr>
          <p:cNvPr id="3" name="Text 0"/>
          <p:cNvSpPr/>
          <p:nvPr>
            <p:ph idx="100" type="title" hasCustomPrompt="1"/>
          </p:nvPr>
        </p:nvSpPr>
        <p:spPr>
          <a:xfrm>
            <a:off x="812800" y="1104900"/>
            <a:ext cx="10566400" cy="508000"/>
          </a:xfrm>
          <a:prstGeom prst="rect">
            <a:avLst/>
          </a:prstGeom>
          <a:noFill/>
          <a:ln/>
        </p:spPr>
        <p:txBody>
          <a:bodyPr wrap="square" lIns="0" tIns="0" rIns="0" bIns="0" rtlCol="0" anchor="t"/>
          <a:lstStyle/>
          <a:p>
            <a:pPr algn="l" indent="0" marL="0">
              <a:buNone/>
            </a:pPr>
            <a:r>
              <a:rPr lang="en-US" sz="3200" b="1" dirty="0">
                <a:solidFill>
                  <a:srgbClr val="14202E"/>
                </a:solidFill>
                <a:latin typeface="Calibri" pitchFamily="34" charset="0"/>
                <a:ea typeface="Calibri" pitchFamily="34" charset="-122"/>
                <a:cs typeface="Calibri" pitchFamily="34" charset="-120"/>
              </a:rPr>
              <a:t>Vom Bekannten zum Unbekannten</a:t>
            </a:r>
            <a:endParaRPr lang="en-US" sz="3200" dirty="0"/>
          </a:p>
        </p:txBody>
      </p:sp>
      <p:sp>
        <p:nvSpPr>
          <p:cNvPr id="4" name="Text 2"/>
          <p:cNvSpPr txBox="1"/>
          <p:nvPr/>
        </p:nvSpPr>
        <p:spPr>
          <a:xfrm>
            <a:off x="812800" y="6426200"/>
            <a:ext cx="9779000" cy="228600"/>
          </a:xfrm>
          <a:prstGeom prst="rect">
            <a:avLst/>
          </a:prstGeom>
          <a:noFill/>
          <a:ln/>
        </p:spPr>
        <p:txBody>
          <a:bodyPr wrap="square" lIns="0" tIns="0" rIns="0" bIns="0" rtlCol="0" anchor="t"/>
          <a:lstStyle/>
          <a:p>
            <a:pPr indent="0" marL="0">
              <a:lnSpc>
                <a:spcPct val="115000"/>
              </a:lnSpc>
              <a:buNone/>
            </a:pPr>
            <a:r>
              <a:rPr lang="en-US" sz="1200" dirty="0">
                <a:solidFill>
                  <a:srgbClr val="5F6873"/>
                </a:solidFill>
                <a:latin typeface="Calibri" pitchFamily="34" charset="0"/>
                <a:ea typeface="Calibri" pitchFamily="34" charset="-122"/>
                <a:cs typeface="Calibri" pitchFamily="34" charset="-120"/>
              </a:rPr>
              <a:t>Jede Stufe prüft, was die vorige nicht prüfen konnte</a:t>
            </a:r>
            <a:endParaRPr lang="en-US" sz="1200" dirty="0"/>
          </a:p>
        </p:txBody>
      </p:sp>
      <p:sp>
        <p:nvSpPr>
          <p:cNvPr id="6" name="Shape 3"/>
          <p:cNvSpPr/>
          <p:nvPr/>
        </p:nvSpPr>
        <p:spPr>
          <a:xfrm>
            <a:off x="812800" y="1841500"/>
            <a:ext cx="2527300" cy="2540000"/>
          </a:xfrm>
          <a:prstGeom prst="roundRect">
            <a:avLst>
              <a:gd name="adj" fmla="val 3980"/>
            </a:avLst>
          </a:prstGeom>
          <a:solidFill>
            <a:srgbClr val="FCFCFB"/>
          </a:solidFill>
          <a:ln w="9525">
            <a:solidFill>
              <a:srgbClr val="E1E0D9"/>
            </a:solidFill>
            <a:prstDash val="solid"/>
          </a:ln>
        </p:spPr>
      </p:sp>
      <p:sp>
        <p:nvSpPr>
          <p:cNvPr id="7" name="Shape 4"/>
          <p:cNvSpPr/>
          <p:nvPr/>
        </p:nvSpPr>
        <p:spPr>
          <a:xfrm>
            <a:off x="863600" y="1841500"/>
            <a:ext cx="2425700" cy="50800"/>
          </a:xfrm>
          <a:prstGeom prst="rect">
            <a:avLst/>
          </a:prstGeom>
          <a:solidFill>
            <a:srgbClr val="1C5CAB"/>
          </a:solidFill>
          <a:ln w="12700">
            <a:solidFill>
              <a:srgbClr val="1C5CAB"/>
            </a:solidFill>
            <a:prstDash val="solid"/>
          </a:ln>
        </p:spPr>
      </p:sp>
      <p:sp>
        <p:nvSpPr>
          <p:cNvPr id="8" name="Text 5"/>
          <p:cNvSpPr txBox="1"/>
          <p:nvPr/>
        </p:nvSpPr>
        <p:spPr>
          <a:xfrm>
            <a:off x="990600" y="2044700"/>
            <a:ext cx="2171700" cy="215900"/>
          </a:xfrm>
          <a:prstGeom prst="rect">
            <a:avLst/>
          </a:prstGeom>
          <a:noFill/>
          <a:ln/>
        </p:spPr>
        <p:txBody>
          <a:bodyPr wrap="square" lIns="0" tIns="0" rIns="0" bIns="0" rtlCol="0" anchor="t"/>
          <a:lstStyle/>
          <a:p>
            <a:pPr indent="0" marL="0">
              <a:lnSpc>
                <a:spcPct val="115000"/>
              </a:lnSpc>
              <a:buNone/>
            </a:pPr>
            <a:r>
              <a:rPr lang="en-US" sz="1200" dirty="0">
                <a:solidFill>
                  <a:srgbClr val="1C5CAB"/>
                </a:solidFill>
                <a:latin typeface="Consolas" pitchFamily="34" charset="0"/>
                <a:ea typeface="Consolas" pitchFamily="34" charset="-122"/>
                <a:cs typeface="Consolas" pitchFamily="34" charset="-120"/>
              </a:rPr>
              <a:t>Stufe 1 · Folie 12</a:t>
            </a:r>
            <a:endParaRPr lang="en-US" sz="1200" dirty="0"/>
          </a:p>
        </p:txBody>
      </p:sp>
      <p:sp>
        <p:nvSpPr>
          <p:cNvPr id="9" name="Text 6"/>
          <p:cNvSpPr txBox="1"/>
          <p:nvPr/>
        </p:nvSpPr>
        <p:spPr>
          <a:xfrm>
            <a:off x="990600" y="2324100"/>
            <a:ext cx="2171700" cy="292100"/>
          </a:xfrm>
          <a:prstGeom prst="rect">
            <a:avLst/>
          </a:prstGeom>
          <a:noFill/>
          <a:ln/>
        </p:spPr>
        <p:txBody>
          <a:bodyPr wrap="square" lIns="0" tIns="0" rIns="0" bIns="0" rtlCol="0" anchor="t"/>
          <a:lstStyle/>
          <a:p>
            <a:pPr indent="0" marL="0">
              <a:lnSpc>
                <a:spcPct val="115000"/>
              </a:lnSpc>
              <a:buNone/>
            </a:pPr>
            <a:r>
              <a:rPr lang="en-US" sz="1800" b="1" dirty="0">
                <a:solidFill>
                  <a:srgbClr val="14202E"/>
                </a:solidFill>
                <a:latin typeface="Calibri" pitchFamily="34" charset="0"/>
                <a:ea typeface="Calibri" pitchFamily="34" charset="-122"/>
                <a:cs typeface="Calibri" pitchFamily="34" charset="-120"/>
              </a:rPr>
              <a:t>Sollkurve</a:t>
            </a:r>
            <a:endParaRPr lang="en-US" sz="1800" dirty="0"/>
          </a:p>
        </p:txBody>
      </p:sp>
      <p:sp>
        <p:nvSpPr>
          <p:cNvPr id="10" name="Text 7"/>
          <p:cNvSpPr txBox="1"/>
          <p:nvPr/>
        </p:nvSpPr>
        <p:spPr>
          <a:xfrm>
            <a:off x="990600" y="2667000"/>
            <a:ext cx="2171700" cy="444500"/>
          </a:xfrm>
          <a:prstGeom prst="rect">
            <a:avLst/>
          </a:prstGeom>
          <a:noFill/>
          <a:ln/>
        </p:spPr>
        <p:txBody>
          <a:bodyPr wrap="square" lIns="0" tIns="0" rIns="0" bIns="0" rtlCol="0" anchor="t"/>
          <a:lstStyle/>
          <a:p>
            <a:pPr indent="0" marL="0">
              <a:lnSpc>
                <a:spcPct val="115000"/>
              </a:lnSpc>
              <a:buNone/>
            </a:pPr>
            <a:r>
              <a:rPr lang="en-US" sz="1200" dirty="0">
                <a:solidFill>
                  <a:srgbClr val="44505E"/>
                </a:solidFill>
                <a:latin typeface="Calibri" pitchFamily="34" charset="0"/>
                <a:ea typeface="Calibri" pitchFamily="34" charset="-122"/>
                <a:cs typeface="Calibri" pitchFamily="34" charset="-120"/>
              </a:rPr>
              <a:t>Künstliches Signal ohne Rauschen</a:t>
            </a:r>
            <a:endParaRPr lang="en-US" sz="1200" dirty="0"/>
          </a:p>
        </p:txBody>
      </p:sp>
      <p:sp>
        <p:nvSpPr>
          <p:cNvPr id="11" name="Text 8"/>
          <p:cNvSpPr txBox="1"/>
          <p:nvPr/>
        </p:nvSpPr>
        <p:spPr>
          <a:xfrm>
            <a:off x="990600" y="3136900"/>
            <a:ext cx="2171700" cy="508000"/>
          </a:xfrm>
          <a:prstGeom prst="rect">
            <a:avLst/>
          </a:prstGeom>
          <a:noFill/>
          <a:ln/>
        </p:spPr>
        <p:txBody>
          <a:bodyPr wrap="square" lIns="0" tIns="0" rIns="0" bIns="0" rtlCol="0" anchor="t"/>
          <a:lstStyle/>
          <a:p>
            <a:pPr indent="0" marL="0">
              <a:lnSpc>
                <a:spcPct val="115000"/>
              </a:lnSpc>
              <a:buNone/>
            </a:pPr>
            <a:r>
              <a:rPr lang="en-US" sz="1300" b="1" dirty="0">
                <a:solidFill>
                  <a:srgbClr val="14202E"/>
                </a:solidFill>
                <a:latin typeface="Calibri" pitchFamily="34" charset="0"/>
                <a:ea typeface="Calibri" pitchFamily="34" charset="-122"/>
                <a:cs typeface="Calibri" pitchFamily="34" charset="-120"/>
              </a:rPr>
              <a:t>Bekannt: </a:t>
            </a:r>
            <a:pPr indent="0" marL="0">
              <a:lnSpc>
                <a:spcPct val="115000"/>
              </a:lnSpc>
              <a:buNone/>
            </a:pPr>
            <a:r>
              <a:rPr lang="en-US" sz="1300" dirty="0">
                <a:solidFill>
                  <a:srgbClr val="14202E"/>
                </a:solidFill>
                <a:latin typeface="Calibri" pitchFamily="34" charset="0"/>
                <a:ea typeface="Calibri" pitchFamily="34" charset="-122"/>
                <a:cs typeface="Calibri" pitchFamily="34" charset="-120"/>
              </a:rPr>
              <a:t>jeder Anteil und das gewünschte Ergebnis</a:t>
            </a:r>
            <a:endParaRPr lang="en-US" sz="1300" dirty="0"/>
          </a:p>
        </p:txBody>
      </p:sp>
      <p:sp>
        <p:nvSpPr>
          <p:cNvPr id="12" name="Text 9"/>
          <p:cNvSpPr txBox="1"/>
          <p:nvPr/>
        </p:nvSpPr>
        <p:spPr>
          <a:xfrm>
            <a:off x="990600" y="3695700"/>
            <a:ext cx="2171700" cy="508000"/>
          </a:xfrm>
          <a:prstGeom prst="rect">
            <a:avLst/>
          </a:prstGeom>
          <a:noFill/>
          <a:ln/>
        </p:spPr>
        <p:txBody>
          <a:bodyPr wrap="square" lIns="0" tIns="0" rIns="0" bIns="0" rtlCol="0" anchor="t"/>
          <a:lstStyle/>
          <a:p>
            <a:pPr indent="0" marL="0">
              <a:lnSpc>
                <a:spcPct val="115000"/>
              </a:lnSpc>
              <a:buNone/>
            </a:pPr>
            <a:r>
              <a:rPr lang="en-US" sz="1300" b="1" dirty="0">
                <a:solidFill>
                  <a:srgbClr val="14202E"/>
                </a:solidFill>
                <a:latin typeface="Calibri" pitchFamily="34" charset="0"/>
                <a:ea typeface="Calibri" pitchFamily="34" charset="-122"/>
                <a:cs typeface="Calibri" pitchFamily="34" charset="-120"/>
              </a:rPr>
              <a:t>Prüft: </a:t>
            </a:r>
            <a:pPr indent="0" marL="0">
              <a:lnSpc>
                <a:spcPct val="115000"/>
              </a:lnSpc>
              <a:buNone/>
            </a:pPr>
            <a:r>
              <a:rPr lang="en-US" sz="1300" dirty="0">
                <a:solidFill>
                  <a:srgbClr val="14202E"/>
                </a:solidFill>
                <a:latin typeface="Calibri" pitchFamily="34" charset="0"/>
                <a:ea typeface="Calibri" pitchFamily="34" charset="-122"/>
                <a:cs typeface="Calibri" pitchFamily="34" charset="-120"/>
              </a:rPr>
              <a:t>den ganzen Rechenweg bis zum Abzug</a:t>
            </a:r>
            <a:endParaRPr lang="en-US" sz="1300" dirty="0"/>
          </a:p>
        </p:txBody>
      </p:sp>
      <p:sp>
        <p:nvSpPr>
          <p:cNvPr id="13" name="Shape 10"/>
          <p:cNvSpPr/>
          <p:nvPr/>
        </p:nvSpPr>
        <p:spPr>
          <a:xfrm>
            <a:off x="3492500" y="1841500"/>
            <a:ext cx="2527300" cy="2540000"/>
          </a:xfrm>
          <a:prstGeom prst="roundRect">
            <a:avLst>
              <a:gd name="adj" fmla="val 3980"/>
            </a:avLst>
          </a:prstGeom>
          <a:solidFill>
            <a:srgbClr val="FCFCFB"/>
          </a:solidFill>
          <a:ln w="9525">
            <a:solidFill>
              <a:srgbClr val="E1E0D9"/>
            </a:solidFill>
            <a:prstDash val="solid"/>
          </a:ln>
        </p:spPr>
      </p:sp>
      <p:sp>
        <p:nvSpPr>
          <p:cNvPr id="14" name="Shape 11"/>
          <p:cNvSpPr/>
          <p:nvPr/>
        </p:nvSpPr>
        <p:spPr>
          <a:xfrm>
            <a:off x="3543300" y="1841500"/>
            <a:ext cx="2425700" cy="50800"/>
          </a:xfrm>
          <a:prstGeom prst="rect">
            <a:avLst/>
          </a:prstGeom>
          <a:solidFill>
            <a:srgbClr val="2A78D6"/>
          </a:solidFill>
          <a:ln w="12700">
            <a:solidFill>
              <a:srgbClr val="2A78D6"/>
            </a:solidFill>
            <a:prstDash val="solid"/>
          </a:ln>
        </p:spPr>
      </p:sp>
      <p:sp>
        <p:nvSpPr>
          <p:cNvPr id="15" name="Text 12"/>
          <p:cNvSpPr txBox="1"/>
          <p:nvPr/>
        </p:nvSpPr>
        <p:spPr>
          <a:xfrm>
            <a:off x="3670300" y="2044700"/>
            <a:ext cx="2171700" cy="215900"/>
          </a:xfrm>
          <a:prstGeom prst="rect">
            <a:avLst/>
          </a:prstGeom>
          <a:noFill/>
          <a:ln/>
        </p:spPr>
        <p:txBody>
          <a:bodyPr wrap="square" lIns="0" tIns="0" rIns="0" bIns="0" rtlCol="0" anchor="t"/>
          <a:lstStyle/>
          <a:p>
            <a:pPr indent="0" marL="0">
              <a:lnSpc>
                <a:spcPct val="115000"/>
              </a:lnSpc>
              <a:buNone/>
            </a:pPr>
            <a:r>
              <a:rPr lang="en-US" sz="1200" dirty="0">
                <a:solidFill>
                  <a:srgbClr val="1C5CAB"/>
                </a:solidFill>
                <a:latin typeface="Consolas" pitchFamily="34" charset="0"/>
                <a:ea typeface="Consolas" pitchFamily="34" charset="-122"/>
                <a:cs typeface="Consolas" pitchFamily="34" charset="-120"/>
              </a:rPr>
              <a:t>Stufe 2 · Folie 13</a:t>
            </a:r>
            <a:endParaRPr lang="en-US" sz="1200" dirty="0"/>
          </a:p>
        </p:txBody>
      </p:sp>
      <p:sp>
        <p:nvSpPr>
          <p:cNvPr id="16" name="Text 13"/>
          <p:cNvSpPr txBox="1"/>
          <p:nvPr/>
        </p:nvSpPr>
        <p:spPr>
          <a:xfrm>
            <a:off x="3670300" y="2324100"/>
            <a:ext cx="2171700" cy="292100"/>
          </a:xfrm>
          <a:prstGeom prst="rect">
            <a:avLst/>
          </a:prstGeom>
          <a:noFill/>
          <a:ln/>
        </p:spPr>
        <p:txBody>
          <a:bodyPr wrap="square" lIns="0" tIns="0" rIns="0" bIns="0" rtlCol="0" anchor="t"/>
          <a:lstStyle/>
          <a:p>
            <a:pPr indent="0" marL="0">
              <a:lnSpc>
                <a:spcPct val="115000"/>
              </a:lnSpc>
              <a:buNone/>
            </a:pPr>
            <a:r>
              <a:rPr lang="en-US" sz="1800" b="1" dirty="0">
                <a:solidFill>
                  <a:srgbClr val="14202E"/>
                </a:solidFill>
                <a:latin typeface="Calibri" pitchFamily="34" charset="0"/>
                <a:ea typeface="Calibri" pitchFamily="34" charset="-122"/>
                <a:cs typeface="Calibri" pitchFamily="34" charset="-120"/>
              </a:rPr>
              <a:t>NIST Lanczos1</a:t>
            </a:r>
            <a:endParaRPr lang="en-US" sz="1800" dirty="0"/>
          </a:p>
        </p:txBody>
      </p:sp>
      <p:sp>
        <p:nvSpPr>
          <p:cNvPr id="17" name="Text 14"/>
          <p:cNvSpPr txBox="1"/>
          <p:nvPr/>
        </p:nvSpPr>
        <p:spPr>
          <a:xfrm>
            <a:off x="3670300" y="2667000"/>
            <a:ext cx="2171700" cy="444500"/>
          </a:xfrm>
          <a:prstGeom prst="rect">
            <a:avLst/>
          </a:prstGeom>
          <a:noFill/>
          <a:ln/>
        </p:spPr>
        <p:txBody>
          <a:bodyPr wrap="square" lIns="0" tIns="0" rIns="0" bIns="0" rtlCol="0" anchor="t"/>
          <a:lstStyle/>
          <a:p>
            <a:pPr indent="0" marL="0">
              <a:lnSpc>
                <a:spcPct val="115000"/>
              </a:lnSpc>
              <a:buNone/>
            </a:pPr>
            <a:r>
              <a:rPr lang="en-US" sz="1200" dirty="0">
                <a:solidFill>
                  <a:srgbClr val="44505E"/>
                </a:solidFill>
                <a:latin typeface="Calibri" pitchFamily="34" charset="0"/>
                <a:ea typeface="Calibri" pitchFamily="34" charset="-122"/>
                <a:cs typeface="Calibri" pitchFamily="34" charset="-120"/>
              </a:rPr>
              <a:t>Referenzdatensatz, 24 Werte</a:t>
            </a:r>
            <a:endParaRPr lang="en-US" sz="1200" dirty="0"/>
          </a:p>
        </p:txBody>
      </p:sp>
      <p:sp>
        <p:nvSpPr>
          <p:cNvPr id="18" name="Text 15"/>
          <p:cNvSpPr txBox="1"/>
          <p:nvPr/>
        </p:nvSpPr>
        <p:spPr>
          <a:xfrm>
            <a:off x="3670300" y="3136900"/>
            <a:ext cx="2171700" cy="508000"/>
          </a:xfrm>
          <a:prstGeom prst="rect">
            <a:avLst/>
          </a:prstGeom>
          <a:noFill/>
          <a:ln/>
        </p:spPr>
        <p:txBody>
          <a:bodyPr wrap="square" lIns="0" tIns="0" rIns="0" bIns="0" rtlCol="0" anchor="t"/>
          <a:lstStyle/>
          <a:p>
            <a:pPr indent="0" marL="0">
              <a:lnSpc>
                <a:spcPct val="115000"/>
              </a:lnSpc>
              <a:buNone/>
            </a:pPr>
            <a:r>
              <a:rPr lang="en-US" sz="1300" b="1" dirty="0">
                <a:solidFill>
                  <a:srgbClr val="14202E"/>
                </a:solidFill>
                <a:latin typeface="Calibri" pitchFamily="34" charset="0"/>
                <a:ea typeface="Calibri" pitchFamily="34" charset="-122"/>
                <a:cs typeface="Calibri" pitchFamily="34" charset="-120"/>
              </a:rPr>
              <a:t>Bekannt: </a:t>
            </a:r>
            <a:pPr indent="0" marL="0">
              <a:lnSpc>
                <a:spcPct val="115000"/>
              </a:lnSpc>
              <a:buNone/>
            </a:pPr>
            <a:r>
              <a:rPr lang="en-US" sz="1300" dirty="0">
                <a:solidFill>
                  <a:srgbClr val="14202E"/>
                </a:solidFill>
                <a:latin typeface="Calibri" pitchFamily="34" charset="0"/>
                <a:ea typeface="Calibri" pitchFamily="34" charset="-122"/>
                <a:cs typeface="Calibri" pitchFamily="34" charset="-120"/>
              </a:rPr>
              <a:t>zertifizierte Modellparameter</a:t>
            </a:r>
            <a:endParaRPr lang="en-US" sz="1300" dirty="0"/>
          </a:p>
        </p:txBody>
      </p:sp>
      <p:sp>
        <p:nvSpPr>
          <p:cNvPr id="19" name="Text 16"/>
          <p:cNvSpPr txBox="1"/>
          <p:nvPr/>
        </p:nvSpPr>
        <p:spPr>
          <a:xfrm>
            <a:off x="3670300" y="3695700"/>
            <a:ext cx="2171700" cy="508000"/>
          </a:xfrm>
          <a:prstGeom prst="rect">
            <a:avLst/>
          </a:prstGeom>
          <a:noFill/>
          <a:ln/>
        </p:spPr>
        <p:txBody>
          <a:bodyPr wrap="square" lIns="0" tIns="0" rIns="0" bIns="0" rtlCol="0" anchor="t"/>
          <a:lstStyle/>
          <a:p>
            <a:pPr indent="0" marL="0">
              <a:lnSpc>
                <a:spcPct val="115000"/>
              </a:lnSpc>
              <a:buNone/>
            </a:pPr>
            <a:r>
              <a:rPr lang="en-US" sz="1300" b="1" dirty="0">
                <a:solidFill>
                  <a:srgbClr val="14202E"/>
                </a:solidFill>
                <a:latin typeface="Calibri" pitchFamily="34" charset="0"/>
                <a:ea typeface="Calibri" pitchFamily="34" charset="-122"/>
                <a:cs typeface="Calibri" pitchFamily="34" charset="-120"/>
              </a:rPr>
              <a:t>Prüft: </a:t>
            </a:r>
            <a:pPr indent="0" marL="0">
              <a:lnSpc>
                <a:spcPct val="115000"/>
              </a:lnSpc>
              <a:buNone/>
            </a:pPr>
            <a:r>
              <a:rPr lang="en-US" sz="1300" dirty="0">
                <a:solidFill>
                  <a:srgbClr val="14202E"/>
                </a:solidFill>
                <a:latin typeface="Calibri" pitchFamily="34" charset="0"/>
                <a:ea typeface="Calibri" pitchFamily="34" charset="-122"/>
                <a:cs typeface="Calibri" pitchFamily="34" charset="-120"/>
              </a:rPr>
              <a:t>die Parameterschätzung allein</a:t>
            </a:r>
            <a:endParaRPr lang="en-US" sz="1300" dirty="0"/>
          </a:p>
        </p:txBody>
      </p:sp>
      <p:sp>
        <p:nvSpPr>
          <p:cNvPr id="20" name="Shape 17"/>
          <p:cNvSpPr/>
          <p:nvPr/>
        </p:nvSpPr>
        <p:spPr>
          <a:xfrm>
            <a:off x="6172200" y="1841500"/>
            <a:ext cx="2527300" cy="2540000"/>
          </a:xfrm>
          <a:prstGeom prst="roundRect">
            <a:avLst>
              <a:gd name="adj" fmla="val 3980"/>
            </a:avLst>
          </a:prstGeom>
          <a:solidFill>
            <a:srgbClr val="FCFCFB"/>
          </a:solidFill>
          <a:ln w="9525">
            <a:solidFill>
              <a:srgbClr val="E1E0D9"/>
            </a:solidFill>
            <a:prstDash val="solid"/>
          </a:ln>
        </p:spPr>
      </p:sp>
      <p:sp>
        <p:nvSpPr>
          <p:cNvPr id="21" name="Shape 18"/>
          <p:cNvSpPr/>
          <p:nvPr/>
        </p:nvSpPr>
        <p:spPr>
          <a:xfrm>
            <a:off x="6223000" y="1841500"/>
            <a:ext cx="2425700" cy="50800"/>
          </a:xfrm>
          <a:prstGeom prst="rect">
            <a:avLst/>
          </a:prstGeom>
          <a:solidFill>
            <a:srgbClr val="EB6834"/>
          </a:solidFill>
          <a:ln w="12700">
            <a:solidFill>
              <a:srgbClr val="EB6834"/>
            </a:solidFill>
            <a:prstDash val="solid"/>
          </a:ln>
        </p:spPr>
      </p:sp>
      <p:sp>
        <p:nvSpPr>
          <p:cNvPr id="22" name="Text 19"/>
          <p:cNvSpPr txBox="1"/>
          <p:nvPr/>
        </p:nvSpPr>
        <p:spPr>
          <a:xfrm>
            <a:off x="6350000" y="2044700"/>
            <a:ext cx="2171700" cy="215900"/>
          </a:xfrm>
          <a:prstGeom prst="rect">
            <a:avLst/>
          </a:prstGeom>
          <a:noFill/>
          <a:ln/>
        </p:spPr>
        <p:txBody>
          <a:bodyPr wrap="square" lIns="0" tIns="0" rIns="0" bIns="0" rtlCol="0" anchor="t"/>
          <a:lstStyle/>
          <a:p>
            <a:pPr indent="0" marL="0">
              <a:lnSpc>
                <a:spcPct val="115000"/>
              </a:lnSpc>
              <a:buNone/>
            </a:pPr>
            <a:r>
              <a:rPr lang="en-US" sz="1200" dirty="0">
                <a:solidFill>
                  <a:srgbClr val="B5491B"/>
                </a:solidFill>
                <a:latin typeface="Consolas" pitchFamily="34" charset="0"/>
                <a:ea typeface="Consolas" pitchFamily="34" charset="-122"/>
                <a:cs typeface="Consolas" pitchFamily="34" charset="-120"/>
              </a:rPr>
              <a:t>Stufe 3 · Folien 14–16</a:t>
            </a:r>
            <a:endParaRPr lang="en-US" sz="1200" dirty="0"/>
          </a:p>
        </p:txBody>
      </p:sp>
      <p:sp>
        <p:nvSpPr>
          <p:cNvPr id="23" name="Text 20"/>
          <p:cNvSpPr txBox="1"/>
          <p:nvPr/>
        </p:nvSpPr>
        <p:spPr>
          <a:xfrm>
            <a:off x="6350000" y="2324100"/>
            <a:ext cx="2171700" cy="292100"/>
          </a:xfrm>
          <a:prstGeom prst="rect">
            <a:avLst/>
          </a:prstGeom>
          <a:noFill/>
          <a:ln/>
        </p:spPr>
        <p:txBody>
          <a:bodyPr wrap="square" lIns="0" tIns="0" rIns="0" bIns="0" rtlCol="0" anchor="t"/>
          <a:lstStyle/>
          <a:p>
            <a:pPr indent="0" marL="0">
              <a:lnSpc>
                <a:spcPct val="115000"/>
              </a:lnSpc>
              <a:buNone/>
            </a:pPr>
            <a:r>
              <a:rPr lang="en-US" sz="1800" b="1" dirty="0">
                <a:solidFill>
                  <a:srgbClr val="14202E"/>
                </a:solidFill>
                <a:latin typeface="Calibri" pitchFamily="34" charset="0"/>
                <a:ea typeface="Calibri" pitchFamily="34" charset="-122"/>
                <a:cs typeface="Calibri" pitchFamily="34" charset="-120"/>
              </a:rPr>
              <a:t>Mexiko</a:t>
            </a:r>
            <a:endParaRPr lang="en-US" sz="1800" dirty="0"/>
          </a:p>
        </p:txBody>
      </p:sp>
      <p:sp>
        <p:nvSpPr>
          <p:cNvPr id="24" name="Text 21"/>
          <p:cNvSpPr txBox="1"/>
          <p:nvPr/>
        </p:nvSpPr>
        <p:spPr>
          <a:xfrm>
            <a:off x="6350000" y="2667000"/>
            <a:ext cx="2171700" cy="444500"/>
          </a:xfrm>
          <a:prstGeom prst="rect">
            <a:avLst/>
          </a:prstGeom>
          <a:noFill/>
          <a:ln/>
        </p:spPr>
        <p:txBody>
          <a:bodyPr wrap="square" lIns="0" tIns="0" rIns="0" bIns="0" rtlCol="0" anchor="t"/>
          <a:lstStyle/>
          <a:p>
            <a:pPr indent="0" marL="0">
              <a:lnSpc>
                <a:spcPct val="115000"/>
              </a:lnSpc>
              <a:buNone/>
            </a:pPr>
            <a:r>
              <a:rPr lang="en-US" sz="1200" dirty="0">
                <a:solidFill>
                  <a:srgbClr val="44505E"/>
                </a:solidFill>
                <a:latin typeface="Calibri" pitchFamily="34" charset="0"/>
                <a:ea typeface="Calibri" pitchFamily="34" charset="-122"/>
                <a:cs typeface="Calibri" pitchFamily="34" charset="-120"/>
              </a:rPr>
              <a:t>Reale Fremdmessung der Netzfrequenz</a:t>
            </a:r>
            <a:endParaRPr lang="en-US" sz="1200" dirty="0"/>
          </a:p>
        </p:txBody>
      </p:sp>
      <p:sp>
        <p:nvSpPr>
          <p:cNvPr id="25" name="Text 22"/>
          <p:cNvSpPr txBox="1"/>
          <p:nvPr/>
        </p:nvSpPr>
        <p:spPr>
          <a:xfrm>
            <a:off x="6350000" y="3136900"/>
            <a:ext cx="2171700" cy="508000"/>
          </a:xfrm>
          <a:prstGeom prst="rect">
            <a:avLst/>
          </a:prstGeom>
          <a:noFill/>
          <a:ln/>
        </p:spPr>
        <p:txBody>
          <a:bodyPr wrap="square" lIns="0" tIns="0" rIns="0" bIns="0" rtlCol="0" anchor="t"/>
          <a:lstStyle/>
          <a:p>
            <a:pPr indent="0" marL="0">
              <a:lnSpc>
                <a:spcPct val="115000"/>
              </a:lnSpc>
              <a:buNone/>
            </a:pPr>
            <a:r>
              <a:rPr lang="en-US" sz="1300" b="1" dirty="0">
                <a:solidFill>
                  <a:srgbClr val="14202E"/>
                </a:solidFill>
                <a:latin typeface="Calibri" pitchFamily="34" charset="0"/>
                <a:ea typeface="Calibri" pitchFamily="34" charset="-122"/>
                <a:cs typeface="Calibri" pitchFamily="34" charset="-120"/>
              </a:rPr>
              <a:t>Bekannt: </a:t>
            </a:r>
            <a:pPr indent="0" marL="0">
              <a:lnSpc>
                <a:spcPct val="115000"/>
              </a:lnSpc>
              <a:buNone/>
            </a:pPr>
            <a:r>
              <a:rPr lang="en-US" sz="1300" dirty="0">
                <a:solidFill>
                  <a:srgbClr val="14202E"/>
                </a:solidFill>
                <a:latin typeface="Calibri" pitchFamily="34" charset="0"/>
                <a:ea typeface="Calibri" pitchFamily="34" charset="-122"/>
                <a:cs typeface="Calibri" pitchFamily="34" charset="-120"/>
              </a:rPr>
              <a:t>Schätzwerte anderer Autoren</a:t>
            </a:r>
            <a:endParaRPr lang="en-US" sz="1300" dirty="0"/>
          </a:p>
        </p:txBody>
      </p:sp>
      <p:sp>
        <p:nvSpPr>
          <p:cNvPr id="26" name="Text 23"/>
          <p:cNvSpPr txBox="1"/>
          <p:nvPr/>
        </p:nvSpPr>
        <p:spPr>
          <a:xfrm>
            <a:off x="6350000" y="3695700"/>
            <a:ext cx="2171700" cy="508000"/>
          </a:xfrm>
          <a:prstGeom prst="rect">
            <a:avLst/>
          </a:prstGeom>
          <a:noFill/>
          <a:ln/>
        </p:spPr>
        <p:txBody>
          <a:bodyPr wrap="square" lIns="0" tIns="0" rIns="0" bIns="0" rtlCol="0" anchor="t"/>
          <a:lstStyle/>
          <a:p>
            <a:pPr indent="0" marL="0">
              <a:lnSpc>
                <a:spcPct val="115000"/>
              </a:lnSpc>
              <a:buNone/>
            </a:pPr>
            <a:r>
              <a:rPr lang="en-US" sz="1300" b="1" dirty="0">
                <a:solidFill>
                  <a:srgbClr val="14202E"/>
                </a:solidFill>
                <a:latin typeface="Calibri" pitchFamily="34" charset="0"/>
                <a:ea typeface="Calibri" pitchFamily="34" charset="-122"/>
                <a:cs typeface="Calibri" pitchFamily="34" charset="-120"/>
              </a:rPr>
              <a:t>Prüft: </a:t>
            </a:r>
            <a:pPr indent="0" marL="0">
              <a:lnSpc>
                <a:spcPct val="115000"/>
              </a:lnSpc>
              <a:buNone/>
            </a:pPr>
            <a:r>
              <a:rPr lang="en-US" sz="1300" dirty="0">
                <a:solidFill>
                  <a:srgbClr val="14202E"/>
                </a:solidFill>
                <a:latin typeface="Calibri" pitchFamily="34" charset="0"/>
                <a:ea typeface="Calibri" pitchFamily="34" charset="-122"/>
                <a:cs typeface="Calibri" pitchFamily="34" charset="-120"/>
              </a:rPr>
              <a:t>echte Daten und die Schutzregel</a:t>
            </a:r>
            <a:endParaRPr lang="en-US" sz="1300" dirty="0"/>
          </a:p>
        </p:txBody>
      </p:sp>
      <p:sp>
        <p:nvSpPr>
          <p:cNvPr id="27" name="Shape 24"/>
          <p:cNvSpPr/>
          <p:nvPr/>
        </p:nvSpPr>
        <p:spPr>
          <a:xfrm>
            <a:off x="8851900" y="1841500"/>
            <a:ext cx="2527300" cy="2540000"/>
          </a:xfrm>
          <a:prstGeom prst="roundRect">
            <a:avLst>
              <a:gd name="adj" fmla="val 3980"/>
            </a:avLst>
          </a:prstGeom>
          <a:solidFill>
            <a:srgbClr val="FCFCFB"/>
          </a:solidFill>
          <a:ln w="9525">
            <a:solidFill>
              <a:srgbClr val="E1E0D9"/>
            </a:solidFill>
            <a:prstDash val="solid"/>
          </a:ln>
        </p:spPr>
      </p:sp>
      <p:sp>
        <p:nvSpPr>
          <p:cNvPr id="28" name="Shape 25"/>
          <p:cNvSpPr/>
          <p:nvPr/>
        </p:nvSpPr>
        <p:spPr>
          <a:xfrm>
            <a:off x="8902700" y="1841500"/>
            <a:ext cx="2425700" cy="50800"/>
          </a:xfrm>
          <a:prstGeom prst="rect">
            <a:avLst/>
          </a:prstGeom>
          <a:solidFill>
            <a:srgbClr val="8A8F96"/>
          </a:solidFill>
          <a:ln w="12700">
            <a:solidFill>
              <a:srgbClr val="8A8F96"/>
            </a:solidFill>
            <a:prstDash val="solid"/>
          </a:ln>
        </p:spPr>
      </p:sp>
      <p:sp>
        <p:nvSpPr>
          <p:cNvPr id="29" name="Text 26"/>
          <p:cNvSpPr txBox="1"/>
          <p:nvPr/>
        </p:nvSpPr>
        <p:spPr>
          <a:xfrm>
            <a:off x="9029700" y="2044700"/>
            <a:ext cx="2171700" cy="215900"/>
          </a:xfrm>
          <a:prstGeom prst="rect">
            <a:avLst/>
          </a:prstGeom>
          <a:noFill/>
          <a:ln/>
        </p:spPr>
        <p:txBody>
          <a:bodyPr wrap="square" lIns="0" tIns="0" rIns="0" bIns="0" rtlCol="0" anchor="t"/>
          <a:lstStyle/>
          <a:p>
            <a:pPr indent="0" marL="0">
              <a:lnSpc>
                <a:spcPct val="115000"/>
              </a:lnSpc>
              <a:buNone/>
            </a:pPr>
            <a:r>
              <a:rPr lang="en-US" sz="1200" dirty="0">
                <a:solidFill>
                  <a:srgbClr val="5F6873"/>
                </a:solidFill>
                <a:latin typeface="Consolas" pitchFamily="34" charset="0"/>
                <a:ea typeface="Consolas" pitchFamily="34" charset="-122"/>
                <a:cs typeface="Consolas" pitchFamily="34" charset="-120"/>
              </a:rPr>
              <a:t>Stufe 4 · Folien 17–19</a:t>
            </a:r>
            <a:endParaRPr lang="en-US" sz="1200" dirty="0"/>
          </a:p>
        </p:txBody>
      </p:sp>
      <p:sp>
        <p:nvSpPr>
          <p:cNvPr id="30" name="Text 27"/>
          <p:cNvSpPr txBox="1"/>
          <p:nvPr/>
        </p:nvSpPr>
        <p:spPr>
          <a:xfrm>
            <a:off x="9029700" y="2324100"/>
            <a:ext cx="2171700" cy="292100"/>
          </a:xfrm>
          <a:prstGeom prst="rect">
            <a:avLst/>
          </a:prstGeom>
          <a:noFill/>
          <a:ln/>
        </p:spPr>
        <p:txBody>
          <a:bodyPr wrap="square" lIns="0" tIns="0" rIns="0" bIns="0" rtlCol="0" anchor="t"/>
          <a:lstStyle/>
          <a:p>
            <a:pPr indent="0" marL="0">
              <a:lnSpc>
                <a:spcPct val="115000"/>
              </a:lnSpc>
              <a:buNone/>
            </a:pPr>
            <a:r>
              <a:rPr lang="en-US" sz="1800" b="1" dirty="0">
                <a:solidFill>
                  <a:srgbClr val="14202E"/>
                </a:solidFill>
                <a:latin typeface="Calibri" pitchFamily="34" charset="0"/>
                <a:ea typeface="Calibri" pitchFamily="34" charset="-122"/>
                <a:cs typeface="Calibri" pitchFamily="34" charset="-120"/>
              </a:rPr>
              <a:t>Eigene Messungen</a:t>
            </a:r>
            <a:endParaRPr lang="en-US" sz="1800" dirty="0"/>
          </a:p>
        </p:txBody>
      </p:sp>
      <p:sp>
        <p:nvSpPr>
          <p:cNvPr id="31" name="Text 28"/>
          <p:cNvSpPr txBox="1"/>
          <p:nvPr/>
        </p:nvSpPr>
        <p:spPr>
          <a:xfrm>
            <a:off x="9029700" y="2667000"/>
            <a:ext cx="2171700" cy="444500"/>
          </a:xfrm>
          <a:prstGeom prst="rect">
            <a:avLst/>
          </a:prstGeom>
          <a:noFill/>
          <a:ln/>
        </p:spPr>
        <p:txBody>
          <a:bodyPr wrap="square" lIns="0" tIns="0" rIns="0" bIns="0" rtlCol="0" anchor="t"/>
          <a:lstStyle/>
          <a:p>
            <a:pPr indent="0" marL="0">
              <a:lnSpc>
                <a:spcPct val="115000"/>
              </a:lnSpc>
              <a:buNone/>
            </a:pPr>
            <a:r>
              <a:rPr lang="en-US" sz="1200" dirty="0">
                <a:solidFill>
                  <a:srgbClr val="44505E"/>
                </a:solidFill>
                <a:latin typeface="Calibri" pitchFamily="34" charset="0"/>
                <a:ea typeface="Calibri" pitchFamily="34" charset="-122"/>
                <a:cs typeface="Calibri" pitchFamily="34" charset="-120"/>
              </a:rPr>
              <a:t>P_pos nach Frequenzsprüngen</a:t>
            </a:r>
            <a:endParaRPr lang="en-US" sz="1200" dirty="0"/>
          </a:p>
        </p:txBody>
      </p:sp>
      <p:sp>
        <p:nvSpPr>
          <p:cNvPr id="32" name="Text 29"/>
          <p:cNvSpPr txBox="1"/>
          <p:nvPr/>
        </p:nvSpPr>
        <p:spPr>
          <a:xfrm>
            <a:off x="9029700" y="3136900"/>
            <a:ext cx="2171700" cy="508000"/>
          </a:xfrm>
          <a:prstGeom prst="rect">
            <a:avLst/>
          </a:prstGeom>
          <a:noFill/>
          <a:ln/>
        </p:spPr>
        <p:txBody>
          <a:bodyPr wrap="square" lIns="0" tIns="0" rIns="0" bIns="0" rtlCol="0" anchor="t"/>
          <a:lstStyle/>
          <a:p>
            <a:pPr indent="0" marL="0">
              <a:lnSpc>
                <a:spcPct val="115000"/>
              </a:lnSpc>
              <a:buNone/>
            </a:pPr>
            <a:r>
              <a:rPr lang="en-US" sz="1300" b="1" dirty="0">
                <a:solidFill>
                  <a:srgbClr val="14202E"/>
                </a:solidFill>
                <a:latin typeface="Calibri" pitchFamily="34" charset="0"/>
                <a:ea typeface="Calibri" pitchFamily="34" charset="-122"/>
                <a:cs typeface="Calibri" pitchFamily="34" charset="-120"/>
              </a:rPr>
              <a:t>Bekannt: </a:t>
            </a:r>
            <a:pPr indent="0" marL="0">
              <a:lnSpc>
                <a:spcPct val="115000"/>
              </a:lnSpc>
              <a:buNone/>
            </a:pPr>
            <a:r>
              <a:rPr lang="en-US" sz="1300" dirty="0">
                <a:solidFill>
                  <a:srgbClr val="14202E"/>
                </a:solidFill>
                <a:latin typeface="Calibri" pitchFamily="34" charset="0"/>
                <a:ea typeface="Calibri" pitchFamily="34" charset="-122"/>
                <a:cs typeface="Calibri" pitchFamily="34" charset="-120"/>
              </a:rPr>
              <a:t>keine unabhängige Referenz</a:t>
            </a:r>
            <a:endParaRPr lang="en-US" sz="1300" dirty="0"/>
          </a:p>
        </p:txBody>
      </p:sp>
      <p:sp>
        <p:nvSpPr>
          <p:cNvPr id="33" name="Text 30"/>
          <p:cNvSpPr txBox="1"/>
          <p:nvPr/>
        </p:nvSpPr>
        <p:spPr>
          <a:xfrm>
            <a:off x="9029700" y="3695700"/>
            <a:ext cx="2171700" cy="508000"/>
          </a:xfrm>
          <a:prstGeom prst="rect">
            <a:avLst/>
          </a:prstGeom>
          <a:noFill/>
          <a:ln/>
        </p:spPr>
        <p:txBody>
          <a:bodyPr wrap="square" lIns="0" tIns="0" rIns="0" bIns="0" rtlCol="0" anchor="t"/>
          <a:lstStyle/>
          <a:p>
            <a:pPr indent="0" marL="0">
              <a:lnSpc>
                <a:spcPct val="115000"/>
              </a:lnSpc>
              <a:buNone/>
            </a:pPr>
            <a:r>
              <a:rPr lang="en-US" sz="1300" b="1" dirty="0">
                <a:solidFill>
                  <a:srgbClr val="14202E"/>
                </a:solidFill>
                <a:latin typeface="Calibri" pitchFamily="34" charset="0"/>
                <a:ea typeface="Calibri" pitchFamily="34" charset="-122"/>
                <a:cs typeface="Calibri" pitchFamily="34" charset="-120"/>
              </a:rPr>
              <a:t>Liefert: </a:t>
            </a:r>
            <a:pPr indent="0" marL="0">
              <a:lnSpc>
                <a:spcPct val="115000"/>
              </a:lnSpc>
              <a:buNone/>
            </a:pPr>
            <a:r>
              <a:rPr lang="en-US" sz="1300" dirty="0">
                <a:solidFill>
                  <a:srgbClr val="14202E"/>
                </a:solidFill>
                <a:latin typeface="Calibri" pitchFamily="34" charset="0"/>
                <a:ea typeface="Calibri" pitchFamily="34" charset="-122"/>
                <a:cs typeface="Calibri" pitchFamily="34" charset="-120"/>
              </a:rPr>
              <a:t>Frequenz, Abklingen und Abzug</a:t>
            </a:r>
            <a:endParaRPr lang="en-US" sz="1300" dirty="0"/>
          </a:p>
        </p:txBody>
      </p:sp>
      <p:sp>
        <p:nvSpPr>
          <p:cNvPr id="34" name="Text 31"/>
          <p:cNvSpPr txBox="1"/>
          <p:nvPr/>
        </p:nvSpPr>
        <p:spPr>
          <a:xfrm>
            <a:off x="812800" y="4584700"/>
            <a:ext cx="1905000" cy="228600"/>
          </a:xfrm>
          <a:prstGeom prst="rect">
            <a:avLst/>
          </a:prstGeom>
          <a:noFill/>
          <a:ln/>
        </p:spPr>
        <p:txBody>
          <a:bodyPr wrap="square" lIns="0" tIns="0" rIns="0" bIns="0" rtlCol="0" anchor="t"/>
          <a:lstStyle/>
          <a:p>
            <a:pPr indent="0" marL="0">
              <a:lnSpc>
                <a:spcPct val="115000"/>
              </a:lnSpc>
              <a:buNone/>
            </a:pPr>
            <a:r>
              <a:rPr lang="en-US" sz="1200" dirty="0">
                <a:solidFill>
                  <a:srgbClr val="5F6873"/>
                </a:solidFill>
                <a:latin typeface="Calibri" pitchFamily="34" charset="0"/>
                <a:ea typeface="Calibri" pitchFamily="34" charset="-122"/>
                <a:cs typeface="Calibri" pitchFamily="34" charset="-120"/>
              </a:rPr>
              <a:t>Referenz wird schwächer</a:t>
            </a:r>
            <a:endParaRPr lang="en-US" sz="1200" dirty="0"/>
          </a:p>
        </p:txBody>
      </p:sp>
      <p:sp>
        <p:nvSpPr>
          <p:cNvPr id="35" name="Shape 32"/>
          <p:cNvSpPr/>
          <p:nvPr/>
        </p:nvSpPr>
        <p:spPr>
          <a:xfrm>
            <a:off x="2667000" y="4699000"/>
            <a:ext cx="8445500" cy="0"/>
          </a:xfrm>
          <a:prstGeom prst="line">
            <a:avLst/>
          </a:prstGeom>
          <a:noFill/>
          <a:ln w="25400">
            <a:solidFill>
              <a:srgbClr val="8A8F96"/>
            </a:solidFill>
            <a:prstDash val="solid"/>
            <a:tailEnd type="triangle"/>
          </a:ln>
        </p:spPr>
      </p:sp>
      <p:sp>
        <p:nvSpPr>
          <p:cNvPr id="36" name="Text 33"/>
          <p:cNvSpPr txBox="1"/>
          <p:nvPr/>
        </p:nvSpPr>
        <p:spPr>
          <a:xfrm>
            <a:off x="812800" y="5080000"/>
            <a:ext cx="10566400" cy="317500"/>
          </a:xfrm>
          <a:prstGeom prst="rect">
            <a:avLst/>
          </a:prstGeom>
          <a:noFill/>
          <a:ln/>
        </p:spPr>
        <p:txBody>
          <a:bodyPr wrap="square" lIns="0" tIns="0" rIns="0" bIns="0" rtlCol="0" anchor="t"/>
          <a:lstStyle/>
          <a:p>
            <a:pPr indent="0" marL="0">
              <a:lnSpc>
                <a:spcPct val="115000"/>
              </a:lnSpc>
              <a:buNone/>
            </a:pPr>
            <a:r>
              <a:rPr lang="en-US" sz="1500" dirty="0">
                <a:solidFill>
                  <a:srgbClr val="44505E"/>
                </a:solidFill>
                <a:latin typeface="Calibri" pitchFamily="34" charset="0"/>
                <a:ea typeface="Calibri" pitchFamily="34" charset="-122"/>
                <a:cs typeface="Calibri" pitchFamily="34" charset="-120"/>
              </a:rPr>
              <a:t>Davor (Folien 6–11) zeigen wir die Messung und wie Matrix Pencil aus ihr Frequenz und Abklingen gewinnt.</a:t>
            </a:r>
            <a:endParaRPr lang="en-US" sz="1500" dirty="0"/>
          </a:p>
        </p:txBody>
      </p:sp>
      <p:sp>
        <p:nvSpPr>
          <p:cNvPr id="25" name="Slide Number Placeholder 0"/>
          <p:cNvSpPr>
            <a:spLocks noGrp="1"/>
          </p:cNvSpPr>
          <p:nvPr>
            <p:ph type="sldNum" sz="quarter" idx="4294967295"/>
          </p:nvPr>
        </p:nvSpPr>
        <p:spPr>
          <a:xfrm>
            <a:off x="10795000" y="6426200"/>
            <a:ext cx="5842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5F6873"/>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812800" y="812800"/>
            <a:ext cx="10566400" cy="215900"/>
          </a:xfrm>
          <a:prstGeom prst="rect">
            <a:avLst/>
          </a:prstGeom>
          <a:noFill/>
          <a:ln/>
        </p:spPr>
        <p:txBody>
          <a:bodyPr wrap="square" lIns="0" tIns="0" rIns="0" bIns="0" rtlCol="0" anchor="t"/>
          <a:lstStyle/>
          <a:p>
            <a:pPr indent="0" marL="0">
              <a:lnSpc>
                <a:spcPct val="115000"/>
              </a:lnSpc>
              <a:buNone/>
            </a:pPr>
            <a:r>
              <a:rPr lang="en-US" sz="1200" spc="100" kern="0" dirty="0">
                <a:solidFill>
                  <a:srgbClr val="1C5CAB"/>
                </a:solidFill>
                <a:latin typeface="Consolas" pitchFamily="34" charset="0"/>
                <a:ea typeface="Consolas" pitchFamily="34" charset="-122"/>
                <a:cs typeface="Consolas" pitchFamily="34" charset="-120"/>
              </a:rPr>
              <a:t>PROJEKTMESSUNG · NEGATIVER SPRUNG</a:t>
            </a:r>
            <a:endParaRPr lang="en-US" sz="1200" dirty="0"/>
          </a:p>
        </p:txBody>
      </p:sp>
      <p:sp>
        <p:nvSpPr>
          <p:cNvPr id="3" name="Text 0"/>
          <p:cNvSpPr/>
          <p:nvPr>
            <p:ph idx="100" type="title" hasCustomPrompt="1"/>
          </p:nvPr>
        </p:nvSpPr>
        <p:spPr>
          <a:xfrm>
            <a:off x="812800" y="1104900"/>
            <a:ext cx="10566400" cy="508000"/>
          </a:xfrm>
          <a:prstGeom prst="rect">
            <a:avLst/>
          </a:prstGeom>
          <a:noFill/>
          <a:ln/>
        </p:spPr>
        <p:txBody>
          <a:bodyPr wrap="square" lIns="0" tIns="0" rIns="0" bIns="0" rtlCol="0" anchor="t"/>
          <a:lstStyle/>
          <a:p>
            <a:pPr algn="l" indent="0" marL="0">
              <a:buNone/>
            </a:pPr>
            <a:r>
              <a:rPr lang="en-US" sz="3200" b="1" dirty="0">
                <a:solidFill>
                  <a:srgbClr val="14202E"/>
                </a:solidFill>
                <a:latin typeface="Calibri" pitchFamily="34" charset="0"/>
                <a:ea typeface="Calibri" pitchFamily="34" charset="-122"/>
                <a:cs typeface="Calibri" pitchFamily="34" charset="-120"/>
              </a:rPr>
              <a:t>Frequenzsprung und Leistungsantwort</a:t>
            </a:r>
            <a:endParaRPr lang="en-US" sz="3200" dirty="0"/>
          </a:p>
        </p:txBody>
      </p:sp>
      <p:sp>
        <p:nvSpPr>
          <p:cNvPr id="4" name="Text 2"/>
          <p:cNvSpPr txBox="1"/>
          <p:nvPr/>
        </p:nvSpPr>
        <p:spPr>
          <a:xfrm>
            <a:off x="812800" y="6426200"/>
            <a:ext cx="9779000" cy="228600"/>
          </a:xfrm>
          <a:prstGeom prst="rect">
            <a:avLst/>
          </a:prstGeom>
          <a:noFill/>
          <a:ln/>
        </p:spPr>
        <p:txBody>
          <a:bodyPr wrap="square" lIns="0" tIns="0" rIns="0" bIns="0" rtlCol="0" anchor="t"/>
          <a:lstStyle/>
          <a:p>
            <a:pPr indent="0" marL="0">
              <a:lnSpc>
                <a:spcPct val="115000"/>
              </a:lnSpc>
              <a:buNone/>
            </a:pPr>
            <a:r>
              <a:rPr lang="en-US" sz="1200" dirty="0">
                <a:solidFill>
                  <a:srgbClr val="5F6873"/>
                </a:solidFill>
                <a:latin typeface="Calibri" pitchFamily="34" charset="0"/>
                <a:ea typeface="Calibri" pitchFamily="34" charset="-122"/>
                <a:cs typeface="Calibri" pitchFamily="34" charset="-120"/>
              </a:rPr>
              <a:t>Daten: Frequenz_Leistungs_Pendelung_negativer_Sprung.XLS · Zeitspalten Unnamed: 0 (f) und Unnamed: 2 (P_pos)</a:t>
            </a:r>
            <a:endParaRPr lang="en-US" sz="1200" dirty="0"/>
          </a:p>
        </p:txBody>
      </p:sp>
      <p:pic>
        <p:nvPicPr>
          <p:cNvPr id="6" name="Image 0" descr="C:\Sevgi\projects\prony_matrix_pencil_filter\outputs\ergebnisdeck\01_messung.png">    </p:cNvPr>
          <p:cNvPicPr>
            <a:picLocks noChangeAspect="1"/>
          </p:cNvPicPr>
          <p:nvPr/>
        </p:nvPicPr>
        <p:blipFill>
          <a:blip r:embed="rId1"/>
          <a:stretch>
            <a:fillRect/>
          </a:stretch>
        </p:blipFill>
        <p:spPr>
          <a:xfrm>
            <a:off x="812800" y="1879600"/>
            <a:ext cx="6057900" cy="3962400"/>
          </a:xfrm>
          <a:prstGeom prst="rect">
            <a:avLst/>
          </a:prstGeom>
        </p:spPr>
      </p:pic>
      <p:sp>
        <p:nvSpPr>
          <p:cNvPr id="7" name="Shape 3"/>
          <p:cNvSpPr/>
          <p:nvPr/>
        </p:nvSpPr>
        <p:spPr>
          <a:xfrm>
            <a:off x="812800" y="1879600"/>
            <a:ext cx="6057900" cy="3962400"/>
          </a:xfrm>
          <a:prstGeom prst="roundRect">
            <a:avLst>
              <a:gd name="adj" fmla="val 2538"/>
            </a:avLst>
          </a:prstGeom>
          <a:ln w="9525">
            <a:solidFill>
              <a:srgbClr val="E1E0D9"/>
            </a:solidFill>
            <a:prstDash val="solid"/>
          </a:ln>
        </p:spPr>
      </p:sp>
      <p:sp>
        <p:nvSpPr>
          <p:cNvPr id="8" name="Text 4"/>
          <p:cNvSpPr txBox="1"/>
          <p:nvPr/>
        </p:nvSpPr>
        <p:spPr>
          <a:xfrm>
            <a:off x="7277100" y="1879600"/>
            <a:ext cx="4102100" cy="266700"/>
          </a:xfrm>
          <a:prstGeom prst="rect">
            <a:avLst/>
          </a:prstGeom>
          <a:noFill/>
          <a:ln/>
        </p:spPr>
        <p:txBody>
          <a:bodyPr wrap="square" lIns="0" tIns="0" rIns="0" bIns="0" rtlCol="0" anchor="t"/>
          <a:lstStyle/>
          <a:p>
            <a:pPr indent="0" marL="0">
              <a:lnSpc>
                <a:spcPct val="115000"/>
              </a:lnSpc>
              <a:buNone/>
            </a:pPr>
            <a:r>
              <a:rPr lang="en-US" sz="1500" b="1" dirty="0">
                <a:solidFill>
                  <a:srgbClr val="14202E"/>
                </a:solidFill>
                <a:latin typeface="Calibri" pitchFamily="34" charset="0"/>
                <a:ea typeface="Calibri" pitchFamily="34" charset="-122"/>
                <a:cs typeface="Calibri" pitchFamily="34" charset="-120"/>
              </a:rPr>
              <a:t>Anregung</a:t>
            </a:r>
            <a:endParaRPr lang="en-US" sz="1500" dirty="0"/>
          </a:p>
        </p:txBody>
      </p:sp>
      <p:sp>
        <p:nvSpPr>
          <p:cNvPr id="9" name="Text 5"/>
          <p:cNvSpPr txBox="1"/>
          <p:nvPr/>
        </p:nvSpPr>
        <p:spPr>
          <a:xfrm>
            <a:off x="7277100" y="2197100"/>
            <a:ext cx="4102100" cy="571500"/>
          </a:xfrm>
          <a:prstGeom prst="rect">
            <a:avLst/>
          </a:prstGeom>
          <a:noFill/>
          <a:ln/>
        </p:spPr>
        <p:txBody>
          <a:bodyPr wrap="square" lIns="0" tIns="0" rIns="0" bIns="0" rtlCol="0" anchor="t"/>
          <a:lstStyle/>
          <a:p>
            <a:pPr indent="0" marL="0">
              <a:lnSpc>
                <a:spcPct val="115000"/>
              </a:lnSpc>
              <a:buNone/>
            </a:pPr>
            <a:r>
              <a:rPr lang="en-US" sz="1500" dirty="0">
                <a:solidFill>
                  <a:srgbClr val="44505E"/>
                </a:solidFill>
                <a:latin typeface="Calibri" pitchFamily="34" charset="0"/>
                <a:ea typeface="Calibri" pitchFamily="34" charset="-122"/>
                <a:cs typeface="Calibri" pitchFamily="34" charset="-120"/>
              </a:rPr>
              <a:t>Bei ≈ 1,0 s fällt die Netzfrequenz f von 50,0 auf 49,5 Hz.</a:t>
            </a:r>
            <a:endParaRPr lang="en-US" sz="1500" dirty="0"/>
          </a:p>
        </p:txBody>
      </p:sp>
      <p:sp>
        <p:nvSpPr>
          <p:cNvPr id="10" name="Text 6"/>
          <p:cNvSpPr txBox="1"/>
          <p:nvPr/>
        </p:nvSpPr>
        <p:spPr>
          <a:xfrm>
            <a:off x="7277100" y="2882900"/>
            <a:ext cx="4102100" cy="266700"/>
          </a:xfrm>
          <a:prstGeom prst="rect">
            <a:avLst/>
          </a:prstGeom>
          <a:noFill/>
          <a:ln/>
        </p:spPr>
        <p:txBody>
          <a:bodyPr wrap="square" lIns="0" tIns="0" rIns="0" bIns="0" rtlCol="0" anchor="t"/>
          <a:lstStyle/>
          <a:p>
            <a:pPr indent="0" marL="0">
              <a:lnSpc>
                <a:spcPct val="115000"/>
              </a:lnSpc>
              <a:buNone/>
            </a:pPr>
            <a:r>
              <a:rPr lang="en-US" sz="1500" b="1" dirty="0">
                <a:solidFill>
                  <a:srgbClr val="14202E"/>
                </a:solidFill>
                <a:latin typeface="Calibri" pitchFamily="34" charset="0"/>
                <a:ea typeface="Calibri" pitchFamily="34" charset="-122"/>
                <a:cs typeface="Calibri" pitchFamily="34" charset="-120"/>
              </a:rPr>
              <a:t>Antwort von P_pos</a:t>
            </a:r>
            <a:endParaRPr lang="en-US" sz="1500" dirty="0"/>
          </a:p>
        </p:txBody>
      </p:sp>
      <p:sp>
        <p:nvSpPr>
          <p:cNvPr id="11" name="Text 7"/>
          <p:cNvSpPr txBox="1"/>
          <p:nvPr/>
        </p:nvSpPr>
        <p:spPr>
          <a:xfrm>
            <a:off x="7277100" y="3200400"/>
            <a:ext cx="4102100" cy="571500"/>
          </a:xfrm>
          <a:prstGeom prst="rect">
            <a:avLst/>
          </a:prstGeom>
          <a:noFill/>
          <a:ln/>
        </p:spPr>
        <p:txBody>
          <a:bodyPr wrap="square" lIns="0" tIns="0" rIns="0" bIns="0" rtlCol="0" anchor="t"/>
          <a:lstStyle/>
          <a:p>
            <a:pPr indent="0" marL="0">
              <a:lnSpc>
                <a:spcPct val="115000"/>
              </a:lnSpc>
              <a:buNone/>
            </a:pPr>
            <a:r>
              <a:rPr lang="en-US" sz="1500" dirty="0">
                <a:solidFill>
                  <a:srgbClr val="44505E"/>
                </a:solidFill>
                <a:latin typeface="Calibri" pitchFamily="34" charset="0"/>
                <a:ea typeface="Calibri" pitchFamily="34" charset="-122"/>
                <a:cs typeface="Calibri" pitchFamily="34" charset="-120"/>
              </a:rPr>
              <a:t>Kurze Spitze bis 8,37, danach eine abklingende Pendelung.</a:t>
            </a:r>
            <a:endParaRPr lang="en-US" sz="1500" dirty="0"/>
          </a:p>
        </p:txBody>
      </p:sp>
      <p:sp>
        <p:nvSpPr>
          <p:cNvPr id="12" name="Text 8"/>
          <p:cNvSpPr txBox="1"/>
          <p:nvPr/>
        </p:nvSpPr>
        <p:spPr>
          <a:xfrm>
            <a:off x="7277100" y="3886200"/>
            <a:ext cx="4102100" cy="266700"/>
          </a:xfrm>
          <a:prstGeom prst="rect">
            <a:avLst/>
          </a:prstGeom>
          <a:noFill/>
          <a:ln/>
        </p:spPr>
        <p:txBody>
          <a:bodyPr wrap="square" lIns="0" tIns="0" rIns="0" bIns="0" rtlCol="0" anchor="t"/>
          <a:lstStyle/>
          <a:p>
            <a:pPr indent="0" marL="0">
              <a:lnSpc>
                <a:spcPct val="115000"/>
              </a:lnSpc>
              <a:buNone/>
            </a:pPr>
            <a:r>
              <a:rPr lang="en-US" sz="1500" b="1" dirty="0">
                <a:solidFill>
                  <a:srgbClr val="14202E"/>
                </a:solidFill>
                <a:latin typeface="Calibri" pitchFamily="34" charset="0"/>
                <a:ea typeface="Calibri" pitchFamily="34" charset="-122"/>
                <a:cs typeface="Calibri" pitchFamily="34" charset="-120"/>
              </a:rPr>
              <a:t>Achsen</a:t>
            </a:r>
            <a:endParaRPr lang="en-US" sz="1500" dirty="0"/>
          </a:p>
        </p:txBody>
      </p:sp>
      <p:sp>
        <p:nvSpPr>
          <p:cNvPr id="13" name="Text 9"/>
          <p:cNvSpPr txBox="1"/>
          <p:nvPr/>
        </p:nvSpPr>
        <p:spPr>
          <a:xfrm>
            <a:off x="7277100" y="4203700"/>
            <a:ext cx="4102100" cy="838200"/>
          </a:xfrm>
          <a:prstGeom prst="rect">
            <a:avLst/>
          </a:prstGeom>
          <a:noFill/>
          <a:ln/>
        </p:spPr>
        <p:txBody>
          <a:bodyPr wrap="square" lIns="0" tIns="0" rIns="0" bIns="0" rtlCol="0" anchor="t"/>
          <a:lstStyle/>
          <a:p>
            <a:pPr indent="0" marL="0">
              <a:lnSpc>
                <a:spcPct val="115000"/>
              </a:lnSpc>
              <a:buNone/>
            </a:pPr>
            <a:r>
              <a:rPr lang="en-US" sz="1500" dirty="0">
                <a:solidFill>
                  <a:srgbClr val="44505E"/>
                </a:solidFill>
                <a:latin typeface="Calibri" pitchFamily="34" charset="0"/>
                <a:ea typeface="Calibri" pitchFamily="34" charset="-122"/>
                <a:cs typeface="Calibri" pitchFamily="34" charset="-120"/>
              </a:rPr>
              <a:t>Zeit = Dateizeit in s. P_pos geteilt durch 10⁶; die Einheit ist nicht dokumentiert.</a:t>
            </a:r>
            <a:endParaRPr lang="en-US" sz="1500" dirty="0"/>
          </a:p>
        </p:txBody>
      </p:sp>
      <p:sp>
        <p:nvSpPr>
          <p:cNvPr id="25" name="Slide Number Placeholder 0"/>
          <p:cNvSpPr>
            <a:spLocks noGrp="1"/>
          </p:cNvSpPr>
          <p:nvPr>
            <p:ph type="sldNum" sz="quarter" idx="4294967295"/>
          </p:nvPr>
        </p:nvSpPr>
        <p:spPr>
          <a:xfrm>
            <a:off x="10795000" y="6426200"/>
            <a:ext cx="5842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5F6873"/>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812800" y="812800"/>
            <a:ext cx="10566400" cy="215900"/>
          </a:xfrm>
          <a:prstGeom prst="rect">
            <a:avLst/>
          </a:prstGeom>
          <a:noFill/>
          <a:ln/>
        </p:spPr>
        <p:txBody>
          <a:bodyPr wrap="square" lIns="0" tIns="0" rIns="0" bIns="0" rtlCol="0" anchor="t"/>
          <a:lstStyle/>
          <a:p>
            <a:pPr indent="0" marL="0">
              <a:lnSpc>
                <a:spcPct val="115000"/>
              </a:lnSpc>
              <a:buNone/>
            </a:pPr>
            <a:r>
              <a:rPr lang="en-US" sz="1200" spc="100" kern="0" dirty="0">
                <a:solidFill>
                  <a:srgbClr val="1C5CAB"/>
                </a:solidFill>
                <a:latin typeface="Consolas" pitchFamily="34" charset="0"/>
                <a:ea typeface="Consolas" pitchFamily="34" charset="-122"/>
                <a:cs typeface="Consolas" pitchFamily="34" charset="-120"/>
              </a:rPr>
              <a:t>AUSSCHNITT 2 BIS 7 S · Y-ACHSE AB 6,85</a:t>
            </a:r>
            <a:endParaRPr lang="en-US" sz="1200" dirty="0"/>
          </a:p>
        </p:txBody>
      </p:sp>
      <p:sp>
        <p:nvSpPr>
          <p:cNvPr id="3" name="Text 0"/>
          <p:cNvSpPr/>
          <p:nvPr>
            <p:ph idx="100" type="title" hasCustomPrompt="1"/>
          </p:nvPr>
        </p:nvSpPr>
        <p:spPr>
          <a:xfrm>
            <a:off x="812800" y="1104900"/>
            <a:ext cx="10566400" cy="508000"/>
          </a:xfrm>
          <a:prstGeom prst="rect">
            <a:avLst/>
          </a:prstGeom>
          <a:noFill/>
          <a:ln/>
        </p:spPr>
        <p:txBody>
          <a:bodyPr wrap="square" lIns="0" tIns="0" rIns="0" bIns="0" rtlCol="0" anchor="t"/>
          <a:lstStyle/>
          <a:p>
            <a:pPr algn="l" indent="0" marL="0">
              <a:buNone/>
            </a:pPr>
            <a:r>
              <a:rPr lang="en-US" sz="3200" b="1" dirty="0">
                <a:solidFill>
                  <a:srgbClr val="14202E"/>
                </a:solidFill>
                <a:latin typeface="Calibri" pitchFamily="34" charset="0"/>
                <a:ea typeface="Calibri" pitchFamily="34" charset="-122"/>
                <a:cs typeface="Calibri" pitchFamily="34" charset="-120"/>
              </a:rPr>
              <a:t>Die Pendelung direkt an der Kurve</a:t>
            </a:r>
            <a:endParaRPr lang="en-US" sz="3200" dirty="0"/>
          </a:p>
        </p:txBody>
      </p:sp>
      <p:sp>
        <p:nvSpPr>
          <p:cNvPr id="4" name="Text 2"/>
          <p:cNvSpPr txBox="1"/>
          <p:nvPr/>
        </p:nvSpPr>
        <p:spPr>
          <a:xfrm>
            <a:off x="812800" y="6426200"/>
            <a:ext cx="9779000" cy="228600"/>
          </a:xfrm>
          <a:prstGeom prst="rect">
            <a:avLst/>
          </a:prstGeom>
          <a:noFill/>
          <a:ln/>
        </p:spPr>
        <p:txBody>
          <a:bodyPr wrap="square" lIns="0" tIns="0" rIns="0" bIns="0" rtlCol="0" anchor="t"/>
          <a:lstStyle/>
          <a:p>
            <a:pPr indent="0" marL="0">
              <a:lnSpc>
                <a:spcPct val="115000"/>
              </a:lnSpc>
              <a:buNone/>
            </a:pPr>
            <a:r>
              <a:rPr lang="en-US" sz="1200" dirty="0">
                <a:solidFill>
                  <a:srgbClr val="5F6873"/>
                </a:solidFill>
                <a:latin typeface="Calibri" pitchFamily="34" charset="0"/>
                <a:ea typeface="Calibri" pitchFamily="34" charset="-122"/>
                <a:cs typeface="Calibri" pitchFamily="34" charset="-120"/>
              </a:rPr>
              <a:t>Alle 20 001 Messpunkte, 0,25 ms Abstand · P_pos / 10⁶ in Dateieinheit</a:t>
            </a:r>
            <a:endParaRPr lang="en-US" sz="1200" dirty="0"/>
          </a:p>
        </p:txBody>
      </p:sp>
      <p:pic>
        <p:nvPicPr>
          <p:cNvPr id="6" name="Image 0" descr="C:\Sevgi\projects\prony_matrix_pencil_filter\outputs\ergebnisdeck\02_pendelung.png">    </p:cNvPr>
          <p:cNvPicPr>
            <a:picLocks noChangeAspect="1"/>
          </p:cNvPicPr>
          <p:nvPr/>
        </p:nvPicPr>
        <p:blipFill>
          <a:blip r:embed="rId1"/>
          <a:stretch>
            <a:fillRect/>
          </a:stretch>
        </p:blipFill>
        <p:spPr>
          <a:xfrm>
            <a:off x="1905000" y="1879600"/>
            <a:ext cx="8382000" cy="2971800"/>
          </a:xfrm>
          <a:prstGeom prst="rect">
            <a:avLst/>
          </a:prstGeom>
        </p:spPr>
      </p:pic>
      <p:sp>
        <p:nvSpPr>
          <p:cNvPr id="7" name="Shape 3"/>
          <p:cNvSpPr/>
          <p:nvPr/>
        </p:nvSpPr>
        <p:spPr>
          <a:xfrm>
            <a:off x="1905000" y="1879600"/>
            <a:ext cx="8382000" cy="2971800"/>
          </a:xfrm>
          <a:prstGeom prst="roundRect">
            <a:avLst>
              <a:gd name="adj" fmla="val 3385"/>
            </a:avLst>
          </a:prstGeom>
          <a:ln w="9525">
            <a:solidFill>
              <a:srgbClr val="E1E0D9"/>
            </a:solidFill>
            <a:prstDash val="solid"/>
          </a:ln>
        </p:spPr>
      </p:sp>
      <p:pic>
        <p:nvPicPr>
          <p:cNvPr id="8" name="Image 1" descr="p_T">    </p:cNvPr>
          <p:cNvPicPr>
            <a:picLocks noChangeAspect="1"/>
          </p:cNvPicPr>
          <p:nvPr/>
        </p:nvPicPr>
        <p:blipFill>
          <a:blip r:embed="rId2"/>
          <a:stretch>
            <a:fillRect/>
          </a:stretch>
        </p:blipFill>
        <p:spPr>
          <a:xfrm>
            <a:off x="812800" y="5003800"/>
            <a:ext cx="1790700" cy="495300"/>
          </a:xfrm>
          <a:prstGeom prst="rect">
            <a:avLst/>
          </a:prstGeom>
        </p:spPr>
      </p:pic>
      <p:sp>
        <p:nvSpPr>
          <p:cNvPr id="9" name="Text 4"/>
          <p:cNvSpPr txBox="1"/>
          <p:nvPr/>
        </p:nvSpPr>
        <p:spPr>
          <a:xfrm>
            <a:off x="812800" y="5619750"/>
            <a:ext cx="3314700" cy="228600"/>
          </a:xfrm>
          <a:prstGeom prst="rect">
            <a:avLst/>
          </a:prstGeom>
          <a:noFill/>
          <a:ln/>
        </p:spPr>
        <p:txBody>
          <a:bodyPr wrap="square" lIns="0" tIns="0" rIns="0" bIns="0" rtlCol="0" anchor="t"/>
          <a:lstStyle/>
          <a:p>
            <a:pPr indent="0" marL="0">
              <a:lnSpc>
                <a:spcPct val="115000"/>
              </a:lnSpc>
              <a:buNone/>
            </a:pPr>
            <a:r>
              <a:rPr lang="en-US" sz="1200" dirty="0">
                <a:solidFill>
                  <a:srgbClr val="44505E"/>
                </a:solidFill>
                <a:latin typeface="Calibri" pitchFamily="34" charset="0"/>
                <a:ea typeface="Calibri" pitchFamily="34" charset="-122"/>
                <a:cs typeface="Calibri" pitchFamily="34" charset="-120"/>
              </a:rPr>
              <a:t>10 Perioden zwischen den Maxima</a:t>
            </a:r>
            <a:endParaRPr lang="en-US" sz="1200" dirty="0"/>
          </a:p>
        </p:txBody>
      </p:sp>
      <p:pic>
        <p:nvPicPr>
          <p:cNvPr id="10" name="Image 2" descr="p_f">    </p:cNvPr>
          <p:cNvPicPr>
            <a:picLocks noChangeAspect="1"/>
          </p:cNvPicPr>
          <p:nvPr/>
        </p:nvPicPr>
        <p:blipFill>
          <a:blip r:embed="rId3"/>
          <a:stretch>
            <a:fillRect/>
          </a:stretch>
        </p:blipFill>
        <p:spPr>
          <a:xfrm>
            <a:off x="4436533" y="5003800"/>
            <a:ext cx="1612900" cy="495300"/>
          </a:xfrm>
          <a:prstGeom prst="rect">
            <a:avLst/>
          </a:prstGeom>
        </p:spPr>
      </p:pic>
      <p:sp>
        <p:nvSpPr>
          <p:cNvPr id="11" name="Text 5"/>
          <p:cNvSpPr txBox="1"/>
          <p:nvPr/>
        </p:nvSpPr>
        <p:spPr>
          <a:xfrm>
            <a:off x="4436533" y="5619750"/>
            <a:ext cx="3314700" cy="228600"/>
          </a:xfrm>
          <a:prstGeom prst="rect">
            <a:avLst/>
          </a:prstGeom>
          <a:noFill/>
          <a:ln/>
        </p:spPr>
        <p:txBody>
          <a:bodyPr wrap="square" lIns="0" tIns="0" rIns="0" bIns="0" rtlCol="0" anchor="t"/>
          <a:lstStyle/>
          <a:p>
            <a:pPr indent="0" marL="0">
              <a:lnSpc>
                <a:spcPct val="115000"/>
              </a:lnSpc>
              <a:buNone/>
            </a:pPr>
            <a:r>
              <a:rPr lang="en-US" sz="1200" dirty="0">
                <a:solidFill>
                  <a:srgbClr val="44505E"/>
                </a:solidFill>
                <a:latin typeface="Calibri" pitchFamily="34" charset="0"/>
                <a:ea typeface="Calibri" pitchFamily="34" charset="-122"/>
                <a:cs typeface="Calibri" pitchFamily="34" charset="-120"/>
              </a:rPr>
              <a:t>rund 2,27 Schwingungen pro Sekunde</a:t>
            </a:r>
            <a:endParaRPr lang="en-US" sz="1200" dirty="0"/>
          </a:p>
        </p:txBody>
      </p:sp>
      <p:pic>
        <p:nvPicPr>
          <p:cNvPr id="12" name="Image 3" descr="p_s">    </p:cNvPr>
          <p:cNvPicPr>
            <a:picLocks noChangeAspect="1"/>
          </p:cNvPicPr>
          <p:nvPr/>
        </p:nvPicPr>
        <p:blipFill>
          <a:blip r:embed="rId4"/>
          <a:stretch>
            <a:fillRect/>
          </a:stretch>
        </p:blipFill>
        <p:spPr>
          <a:xfrm>
            <a:off x="8060267" y="5003800"/>
            <a:ext cx="2844800" cy="552450"/>
          </a:xfrm>
          <a:prstGeom prst="rect">
            <a:avLst/>
          </a:prstGeom>
        </p:spPr>
      </p:pic>
      <p:sp>
        <p:nvSpPr>
          <p:cNvPr id="13" name="Text 6"/>
          <p:cNvSpPr txBox="1"/>
          <p:nvPr/>
        </p:nvSpPr>
        <p:spPr>
          <a:xfrm>
            <a:off x="8060267" y="5619750"/>
            <a:ext cx="3314700" cy="228600"/>
          </a:xfrm>
          <a:prstGeom prst="rect">
            <a:avLst/>
          </a:prstGeom>
          <a:noFill/>
          <a:ln/>
        </p:spPr>
        <p:txBody>
          <a:bodyPr wrap="square" lIns="0" tIns="0" rIns="0" bIns="0" rtlCol="0" anchor="t"/>
          <a:lstStyle/>
          <a:p>
            <a:pPr indent="0" marL="0">
              <a:lnSpc>
                <a:spcPct val="115000"/>
              </a:lnSpc>
              <a:buNone/>
            </a:pPr>
            <a:r>
              <a:rPr lang="en-US" sz="1200" dirty="0">
                <a:solidFill>
                  <a:srgbClr val="44505E"/>
                </a:solidFill>
                <a:latin typeface="Calibri" pitchFamily="34" charset="0"/>
                <a:ea typeface="Calibri" pitchFamily="34" charset="-122"/>
                <a:cs typeface="Calibri" pitchFamily="34" charset="-120"/>
              </a:rPr>
              <a:t>Ausschlag sinkt von 0,087 auf 0,038</a:t>
            </a:r>
            <a:endParaRPr lang="en-US" sz="1200" dirty="0"/>
          </a:p>
        </p:txBody>
      </p:sp>
      <p:sp>
        <p:nvSpPr>
          <p:cNvPr id="25" name="Slide Number Placeholder 0"/>
          <p:cNvSpPr>
            <a:spLocks noGrp="1"/>
          </p:cNvSpPr>
          <p:nvPr>
            <p:ph type="sldNum" sz="quarter" idx="4294967295"/>
          </p:nvPr>
        </p:nvSpPr>
        <p:spPr>
          <a:xfrm>
            <a:off x="10795000" y="6426200"/>
            <a:ext cx="5842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5F6873"/>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812800" y="812800"/>
            <a:ext cx="10566400" cy="215900"/>
          </a:xfrm>
          <a:prstGeom prst="rect">
            <a:avLst/>
          </a:prstGeom>
          <a:noFill/>
          <a:ln/>
        </p:spPr>
        <p:txBody>
          <a:bodyPr wrap="square" lIns="0" tIns="0" rIns="0" bIns="0" rtlCol="0" anchor="t"/>
          <a:lstStyle/>
          <a:p>
            <a:pPr indent="0" marL="0">
              <a:lnSpc>
                <a:spcPct val="115000"/>
              </a:lnSpc>
              <a:buNone/>
            </a:pPr>
            <a:r>
              <a:rPr lang="en-US" sz="1200" spc="100" kern="0" dirty="0">
                <a:solidFill>
                  <a:srgbClr val="1C5CAB"/>
                </a:solidFill>
                <a:latin typeface="Consolas" pitchFamily="34" charset="0"/>
                <a:ea typeface="Consolas" pitchFamily="34" charset="-122"/>
                <a:cs typeface="Consolas" pitchFamily="34" charset="-120"/>
              </a:rPr>
              <a:t>GRUNDGEDANKE</a:t>
            </a:r>
            <a:endParaRPr lang="en-US" sz="1200" dirty="0"/>
          </a:p>
        </p:txBody>
      </p:sp>
      <p:sp>
        <p:nvSpPr>
          <p:cNvPr id="3" name="Text 0"/>
          <p:cNvSpPr/>
          <p:nvPr>
            <p:ph idx="100" type="title" hasCustomPrompt="1"/>
          </p:nvPr>
        </p:nvSpPr>
        <p:spPr>
          <a:xfrm>
            <a:off x="812800" y="1104900"/>
            <a:ext cx="10566400" cy="508000"/>
          </a:xfrm>
          <a:prstGeom prst="rect">
            <a:avLst/>
          </a:prstGeom>
          <a:noFill/>
          <a:ln/>
        </p:spPr>
        <p:txBody>
          <a:bodyPr wrap="square" lIns="0" tIns="0" rIns="0" bIns="0" rtlCol="0" anchor="t"/>
          <a:lstStyle/>
          <a:p>
            <a:pPr algn="l" indent="0" marL="0">
              <a:buNone/>
            </a:pPr>
            <a:r>
              <a:rPr lang="en-US" sz="3200" b="1" dirty="0">
                <a:solidFill>
                  <a:srgbClr val="14202E"/>
                </a:solidFill>
                <a:latin typeface="Calibri" pitchFamily="34" charset="0"/>
                <a:ea typeface="Calibri" pitchFamily="34" charset="-122"/>
                <a:cs typeface="Calibri" pitchFamily="34" charset="-120"/>
              </a:rPr>
              <a:t>Die Idee hinter Matrix Pencil</a:t>
            </a:r>
            <a:endParaRPr lang="en-US" sz="3200" dirty="0"/>
          </a:p>
        </p:txBody>
      </p:sp>
      <p:sp>
        <p:nvSpPr>
          <p:cNvPr id="4" name="Text 2"/>
          <p:cNvSpPr txBox="1"/>
          <p:nvPr/>
        </p:nvSpPr>
        <p:spPr>
          <a:xfrm>
            <a:off x="812800" y="6426200"/>
            <a:ext cx="9779000" cy="228600"/>
          </a:xfrm>
          <a:prstGeom prst="rect">
            <a:avLst/>
          </a:prstGeom>
          <a:noFill/>
          <a:ln/>
        </p:spPr>
        <p:txBody>
          <a:bodyPr wrap="square" lIns="0" tIns="0" rIns="0" bIns="0" rtlCol="0" anchor="t"/>
          <a:lstStyle/>
          <a:p>
            <a:pPr indent="0" marL="0">
              <a:lnSpc>
                <a:spcPct val="115000"/>
              </a:lnSpc>
              <a:buNone/>
            </a:pPr>
            <a:r>
              <a:rPr lang="en-US" sz="1200" dirty="0">
                <a:solidFill>
                  <a:srgbClr val="5F6873"/>
                </a:solidFill>
                <a:latin typeface="Calibri" pitchFamily="34" charset="0"/>
                <a:ea typeface="Calibri" pitchFamily="34" charset="-122"/>
                <a:cs typeface="Calibri" pitchFamily="34" charset="-120"/>
              </a:rPr>
              <a:t>Quelle: Y. Hua, T. K. Sarkar: Matrix Pencil Method …, IEEE Trans. ASSP 38(5), 1990</a:t>
            </a:r>
            <a:endParaRPr lang="en-US" sz="1200" dirty="0"/>
          </a:p>
        </p:txBody>
      </p:sp>
      <p:sp>
        <p:nvSpPr>
          <p:cNvPr id="6" name="Shape 3"/>
          <p:cNvSpPr/>
          <p:nvPr/>
        </p:nvSpPr>
        <p:spPr>
          <a:xfrm>
            <a:off x="812800" y="1879600"/>
            <a:ext cx="3314700" cy="2540000"/>
          </a:xfrm>
          <a:prstGeom prst="roundRect">
            <a:avLst>
              <a:gd name="adj" fmla="val 3960"/>
            </a:avLst>
          </a:prstGeom>
          <a:solidFill>
            <a:srgbClr val="FCFCFB"/>
          </a:solidFill>
          <a:ln w="9525">
            <a:solidFill>
              <a:srgbClr val="E1E0D9"/>
            </a:solidFill>
            <a:prstDash val="solid"/>
          </a:ln>
        </p:spPr>
      </p:sp>
      <p:sp>
        <p:nvSpPr>
          <p:cNvPr id="7" name="Text 4"/>
          <p:cNvSpPr txBox="1"/>
          <p:nvPr/>
        </p:nvSpPr>
        <p:spPr>
          <a:xfrm>
            <a:off x="1041400" y="2108200"/>
            <a:ext cx="2857500" cy="317500"/>
          </a:xfrm>
          <a:prstGeom prst="rect">
            <a:avLst/>
          </a:prstGeom>
          <a:noFill/>
          <a:ln/>
        </p:spPr>
        <p:txBody>
          <a:bodyPr wrap="square" lIns="0" tIns="0" rIns="0" bIns="0" rtlCol="0" anchor="t"/>
          <a:lstStyle/>
          <a:p>
            <a:pPr indent="0" marL="0">
              <a:lnSpc>
                <a:spcPct val="115000"/>
              </a:lnSpc>
              <a:buNone/>
            </a:pPr>
            <a:r>
              <a:rPr lang="en-US" sz="2000" b="1" dirty="0">
                <a:solidFill>
                  <a:srgbClr val="14202E"/>
                </a:solidFill>
                <a:latin typeface="Calibri" pitchFamily="34" charset="0"/>
                <a:ea typeface="Calibri" pitchFamily="34" charset="-122"/>
                <a:cs typeface="Calibri" pitchFamily="34" charset="-120"/>
              </a:rPr>
              <a:t>Ein Anteil</a:t>
            </a:r>
            <a:endParaRPr lang="en-US" sz="2000" dirty="0"/>
          </a:p>
        </p:txBody>
      </p:sp>
      <p:pic>
        <p:nvPicPr>
          <p:cNvPr id="8" name="Image 0" descr="i_1">    </p:cNvPr>
          <p:cNvPicPr>
            <a:picLocks noChangeAspect="1"/>
          </p:cNvPicPr>
          <p:nvPr/>
        </p:nvPicPr>
        <p:blipFill>
          <a:blip r:embed="rId1"/>
          <a:stretch>
            <a:fillRect/>
          </a:stretch>
        </p:blipFill>
        <p:spPr>
          <a:xfrm>
            <a:off x="1041400" y="2527300"/>
            <a:ext cx="1638300" cy="342900"/>
          </a:xfrm>
          <a:prstGeom prst="rect">
            <a:avLst/>
          </a:prstGeom>
        </p:spPr>
      </p:pic>
      <p:sp>
        <p:nvSpPr>
          <p:cNvPr id="9" name="Text 5"/>
          <p:cNvSpPr txBox="1"/>
          <p:nvPr/>
        </p:nvSpPr>
        <p:spPr>
          <a:xfrm>
            <a:off x="1041400" y="2984500"/>
            <a:ext cx="2857500" cy="1333500"/>
          </a:xfrm>
          <a:prstGeom prst="rect">
            <a:avLst/>
          </a:prstGeom>
          <a:noFill/>
          <a:ln/>
        </p:spPr>
        <p:txBody>
          <a:bodyPr wrap="square" lIns="0" tIns="0" rIns="0" bIns="0" rtlCol="0" anchor="t"/>
          <a:lstStyle/>
          <a:p>
            <a:pPr indent="0" marL="0">
              <a:lnSpc>
                <a:spcPct val="115000"/>
              </a:lnSpc>
              <a:buNone/>
            </a:pPr>
            <a:r>
              <a:rPr lang="en-US" sz="1500" dirty="0">
                <a:solidFill>
                  <a:srgbClr val="44505E"/>
                </a:solidFill>
                <a:latin typeface="Calibri" pitchFamily="34" charset="0"/>
                <a:ea typeface="Calibri" pitchFamily="34" charset="-122"/>
                <a:cs typeface="Calibri" pitchFamily="34" charset="-120"/>
              </a:rPr>
              <a:t>Ein Schritt weiter heißt: mal z. Der Betrag von z ist das Abklingen, der Winkel die Frequenz.</a:t>
            </a:r>
            <a:endParaRPr lang="en-US" sz="1500" dirty="0"/>
          </a:p>
        </p:txBody>
      </p:sp>
      <p:sp>
        <p:nvSpPr>
          <p:cNvPr id="10" name="Shape 6"/>
          <p:cNvSpPr/>
          <p:nvPr/>
        </p:nvSpPr>
        <p:spPr>
          <a:xfrm>
            <a:off x="4330700" y="1879600"/>
            <a:ext cx="3314700" cy="2540000"/>
          </a:xfrm>
          <a:prstGeom prst="roundRect">
            <a:avLst>
              <a:gd name="adj" fmla="val 3960"/>
            </a:avLst>
          </a:prstGeom>
          <a:solidFill>
            <a:srgbClr val="FCFCFB"/>
          </a:solidFill>
          <a:ln w="9525">
            <a:solidFill>
              <a:srgbClr val="E1E0D9"/>
            </a:solidFill>
            <a:prstDash val="solid"/>
          </a:ln>
        </p:spPr>
      </p:sp>
      <p:sp>
        <p:nvSpPr>
          <p:cNvPr id="11" name="Text 7"/>
          <p:cNvSpPr txBox="1"/>
          <p:nvPr/>
        </p:nvSpPr>
        <p:spPr>
          <a:xfrm>
            <a:off x="4559300" y="2108200"/>
            <a:ext cx="2857500" cy="317500"/>
          </a:xfrm>
          <a:prstGeom prst="rect">
            <a:avLst/>
          </a:prstGeom>
          <a:noFill/>
          <a:ln/>
        </p:spPr>
        <p:txBody>
          <a:bodyPr wrap="square" lIns="0" tIns="0" rIns="0" bIns="0" rtlCol="0" anchor="t"/>
          <a:lstStyle/>
          <a:p>
            <a:pPr indent="0" marL="0">
              <a:lnSpc>
                <a:spcPct val="115000"/>
              </a:lnSpc>
              <a:buNone/>
            </a:pPr>
            <a:r>
              <a:rPr lang="en-US" sz="2000" b="1" dirty="0">
                <a:solidFill>
                  <a:srgbClr val="14202E"/>
                </a:solidFill>
                <a:latin typeface="Calibri" pitchFamily="34" charset="0"/>
                <a:ea typeface="Calibri" pitchFamily="34" charset="-122"/>
                <a:cs typeface="Calibri" pitchFamily="34" charset="-120"/>
              </a:rPr>
              <a:t>Viele Anteile</a:t>
            </a:r>
            <a:endParaRPr lang="en-US" sz="2000" dirty="0"/>
          </a:p>
        </p:txBody>
      </p:sp>
      <p:pic>
        <p:nvPicPr>
          <p:cNvPr id="12" name="Image 1" descr="i_2">    </p:cNvPr>
          <p:cNvPicPr>
            <a:picLocks noChangeAspect="1"/>
          </p:cNvPicPr>
          <p:nvPr/>
        </p:nvPicPr>
        <p:blipFill>
          <a:blip r:embed="rId2"/>
          <a:stretch>
            <a:fillRect/>
          </a:stretch>
        </p:blipFill>
        <p:spPr>
          <a:xfrm>
            <a:off x="4559300" y="2527300"/>
            <a:ext cx="1981200" cy="342900"/>
          </a:xfrm>
          <a:prstGeom prst="rect">
            <a:avLst/>
          </a:prstGeom>
        </p:spPr>
      </p:pic>
      <p:sp>
        <p:nvSpPr>
          <p:cNvPr id="13" name="Text 8"/>
          <p:cNvSpPr txBox="1"/>
          <p:nvPr/>
        </p:nvSpPr>
        <p:spPr>
          <a:xfrm>
            <a:off x="4559300" y="2984500"/>
            <a:ext cx="2857500" cy="1333500"/>
          </a:xfrm>
          <a:prstGeom prst="rect">
            <a:avLst/>
          </a:prstGeom>
          <a:noFill/>
          <a:ln/>
        </p:spPr>
        <p:txBody>
          <a:bodyPr wrap="square" lIns="0" tIns="0" rIns="0" bIns="0" rtlCol="0" anchor="t"/>
          <a:lstStyle/>
          <a:p>
            <a:pPr indent="0" marL="0">
              <a:lnSpc>
                <a:spcPct val="115000"/>
              </a:lnSpc>
              <a:buNone/>
            </a:pPr>
            <a:r>
              <a:rPr lang="en-US" sz="1500" dirty="0">
                <a:solidFill>
                  <a:srgbClr val="44505E"/>
                </a:solidFill>
                <a:latin typeface="Calibri" pitchFamily="34" charset="0"/>
                <a:ea typeface="Calibri" pitchFamily="34" charset="-122"/>
                <a:cs typeface="Calibri" pitchFamily="34" charset="-120"/>
              </a:rPr>
              <a:t>Die Messung ist eine Summe. Einen Schritt später ist jeder Anteil mit seinem eigenen z multipliziert.</a:t>
            </a:r>
            <a:endParaRPr lang="en-US" sz="1500" dirty="0"/>
          </a:p>
        </p:txBody>
      </p:sp>
      <p:sp>
        <p:nvSpPr>
          <p:cNvPr id="14" name="Shape 9"/>
          <p:cNvSpPr/>
          <p:nvPr/>
        </p:nvSpPr>
        <p:spPr>
          <a:xfrm>
            <a:off x="7848600" y="1879600"/>
            <a:ext cx="3314700" cy="2540000"/>
          </a:xfrm>
          <a:prstGeom prst="roundRect">
            <a:avLst>
              <a:gd name="adj" fmla="val 3960"/>
            </a:avLst>
          </a:prstGeom>
          <a:solidFill>
            <a:srgbClr val="FCFCFB"/>
          </a:solidFill>
          <a:ln w="9525">
            <a:solidFill>
              <a:srgbClr val="E1E0D9"/>
            </a:solidFill>
            <a:prstDash val="solid"/>
          </a:ln>
        </p:spPr>
      </p:sp>
      <p:sp>
        <p:nvSpPr>
          <p:cNvPr id="15" name="Text 10"/>
          <p:cNvSpPr txBox="1"/>
          <p:nvPr/>
        </p:nvSpPr>
        <p:spPr>
          <a:xfrm>
            <a:off x="8077200" y="2108200"/>
            <a:ext cx="2857500" cy="317500"/>
          </a:xfrm>
          <a:prstGeom prst="rect">
            <a:avLst/>
          </a:prstGeom>
          <a:noFill/>
          <a:ln/>
        </p:spPr>
        <p:txBody>
          <a:bodyPr wrap="square" lIns="0" tIns="0" rIns="0" bIns="0" rtlCol="0" anchor="t"/>
          <a:lstStyle/>
          <a:p>
            <a:pPr indent="0" marL="0">
              <a:lnSpc>
                <a:spcPct val="115000"/>
              </a:lnSpc>
              <a:buNone/>
            </a:pPr>
            <a:r>
              <a:rPr lang="en-US" sz="2000" b="1" dirty="0">
                <a:solidFill>
                  <a:srgbClr val="14202E"/>
                </a:solidFill>
                <a:latin typeface="Calibri" pitchFamily="34" charset="0"/>
                <a:ea typeface="Calibri" pitchFamily="34" charset="-122"/>
                <a:cs typeface="Calibri" pitchFamily="34" charset="-120"/>
              </a:rPr>
              <a:t>Das Büschel</a:t>
            </a:r>
            <a:endParaRPr lang="en-US" sz="2000" dirty="0"/>
          </a:p>
        </p:txBody>
      </p:sp>
      <p:pic>
        <p:nvPicPr>
          <p:cNvPr id="16" name="Image 2" descr="i_3">    </p:cNvPr>
          <p:cNvPicPr>
            <a:picLocks noChangeAspect="1"/>
          </p:cNvPicPr>
          <p:nvPr/>
        </p:nvPicPr>
        <p:blipFill>
          <a:blip r:embed="rId3"/>
          <a:stretch>
            <a:fillRect/>
          </a:stretch>
        </p:blipFill>
        <p:spPr>
          <a:xfrm>
            <a:off x="8077200" y="2527300"/>
            <a:ext cx="1117600" cy="311150"/>
          </a:xfrm>
          <a:prstGeom prst="rect">
            <a:avLst/>
          </a:prstGeom>
        </p:spPr>
      </p:pic>
      <p:sp>
        <p:nvSpPr>
          <p:cNvPr id="17" name="Text 11"/>
          <p:cNvSpPr txBox="1"/>
          <p:nvPr/>
        </p:nvSpPr>
        <p:spPr>
          <a:xfrm>
            <a:off x="8077200" y="2984500"/>
            <a:ext cx="2857500" cy="1333500"/>
          </a:xfrm>
          <a:prstGeom prst="rect">
            <a:avLst/>
          </a:prstGeom>
          <a:noFill/>
          <a:ln/>
        </p:spPr>
        <p:txBody>
          <a:bodyPr wrap="square" lIns="0" tIns="0" rIns="0" bIns="0" rtlCol="0" anchor="t"/>
          <a:lstStyle/>
          <a:p>
            <a:pPr indent="0" marL="0">
              <a:lnSpc>
                <a:spcPct val="115000"/>
              </a:lnSpc>
              <a:buNone/>
            </a:pPr>
            <a:r>
              <a:rPr lang="en-US" sz="1500" dirty="0">
                <a:solidFill>
                  <a:srgbClr val="44505E"/>
                </a:solidFill>
                <a:latin typeface="Calibri" pitchFamily="34" charset="0"/>
                <a:ea typeface="Calibri" pitchFamily="34" charset="-122"/>
                <a:cs typeface="Calibri" pitchFamily="34" charset="-120"/>
              </a:rPr>
              <a:t>verliert genau dann an Rang, wenn z einer der Pole ist. Diese z sucht das Verfahren.</a:t>
            </a:r>
            <a:endParaRPr lang="en-US" sz="1500" dirty="0"/>
          </a:p>
        </p:txBody>
      </p:sp>
      <p:sp>
        <p:nvSpPr>
          <p:cNvPr id="18" name="Text 12"/>
          <p:cNvSpPr txBox="1"/>
          <p:nvPr/>
        </p:nvSpPr>
        <p:spPr>
          <a:xfrm>
            <a:off x="812800" y="4673600"/>
            <a:ext cx="10566400" cy="571500"/>
          </a:xfrm>
          <a:prstGeom prst="rect">
            <a:avLst/>
          </a:prstGeom>
          <a:noFill/>
          <a:ln/>
        </p:spPr>
        <p:txBody>
          <a:bodyPr wrap="square" lIns="0" tIns="0" rIns="0" bIns="0" rtlCol="0" anchor="t"/>
          <a:lstStyle/>
          <a:p>
            <a:pPr indent="0" marL="0">
              <a:lnSpc>
                <a:spcPct val="115000"/>
              </a:lnSpc>
              <a:buNone/>
            </a:pPr>
            <a:r>
              <a:rPr lang="en-US" sz="1500" b="1" dirty="0">
                <a:solidFill>
                  <a:srgbClr val="14202E"/>
                </a:solidFill>
                <a:latin typeface="Calibri" pitchFamily="34" charset="0"/>
                <a:ea typeface="Calibri" pitchFamily="34" charset="-122"/>
                <a:cs typeface="Calibri" pitchFamily="34" charset="-120"/>
              </a:rPr>
              <a:t>Gegenüber klassischem Prony: </a:t>
            </a:r>
            <a:pPr indent="0" marL="0">
              <a:lnSpc>
                <a:spcPct val="115000"/>
              </a:lnSpc>
              <a:buNone/>
            </a:pPr>
            <a:r>
              <a:rPr lang="en-US" sz="1500" dirty="0">
                <a:solidFill>
                  <a:srgbClr val="44505E"/>
                </a:solidFill>
                <a:latin typeface="Calibri" pitchFamily="34" charset="0"/>
                <a:ea typeface="Calibri" pitchFamily="34" charset="-122"/>
                <a:cs typeface="Calibri" pitchFamily="34" charset="-120"/>
              </a:rPr>
              <a:t>keine Nullstellen eines Polynoms, sondern Eigenwerte nach einer Singulärwertzerlegung (SVD), die Signal und Rauschen trennt. Das ist weniger rauschempfindlich.</a:t>
            </a:r>
            <a:endParaRPr lang="en-US" sz="1500" dirty="0"/>
          </a:p>
        </p:txBody>
      </p:sp>
      <p:sp>
        <p:nvSpPr>
          <p:cNvPr id="25" name="Slide Number Placeholder 0"/>
          <p:cNvSpPr>
            <a:spLocks noGrp="1"/>
          </p:cNvSpPr>
          <p:nvPr>
            <p:ph type="sldNum" sz="quarter" idx="4294967295"/>
          </p:nvPr>
        </p:nvSpPr>
        <p:spPr>
          <a:xfrm>
            <a:off x="10795000" y="6426200"/>
            <a:ext cx="5842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5F6873"/>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812800" y="812800"/>
            <a:ext cx="10566400" cy="215900"/>
          </a:xfrm>
          <a:prstGeom prst="rect">
            <a:avLst/>
          </a:prstGeom>
          <a:noFill/>
          <a:ln/>
        </p:spPr>
        <p:txBody>
          <a:bodyPr wrap="square" lIns="0" tIns="0" rIns="0" bIns="0" rtlCol="0" anchor="t"/>
          <a:lstStyle/>
          <a:p>
            <a:pPr indent="0" marL="0">
              <a:lnSpc>
                <a:spcPct val="115000"/>
              </a:lnSpc>
              <a:buNone/>
            </a:pPr>
            <a:r>
              <a:rPr lang="en-US" sz="1200" spc="100" kern="0" dirty="0">
                <a:solidFill>
                  <a:srgbClr val="1C5CAB"/>
                </a:solidFill>
                <a:latin typeface="Consolas" pitchFamily="34" charset="0"/>
                <a:ea typeface="Consolas" pitchFamily="34" charset="-122"/>
                <a:cs typeface="Consolas" pitchFamily="34" charset="-120"/>
              </a:rPr>
              <a:t>RECHENWEG DER POLSCHÄTZUNG</a:t>
            </a:r>
            <a:endParaRPr lang="en-US" sz="1200" dirty="0"/>
          </a:p>
        </p:txBody>
      </p:sp>
      <p:sp>
        <p:nvSpPr>
          <p:cNvPr id="3" name="Text 0"/>
          <p:cNvSpPr/>
          <p:nvPr>
            <p:ph idx="100" type="title" hasCustomPrompt="1"/>
          </p:nvPr>
        </p:nvSpPr>
        <p:spPr>
          <a:xfrm>
            <a:off x="812800" y="1104900"/>
            <a:ext cx="10566400" cy="508000"/>
          </a:xfrm>
          <a:prstGeom prst="rect">
            <a:avLst/>
          </a:prstGeom>
          <a:noFill/>
          <a:ln/>
        </p:spPr>
        <p:txBody>
          <a:bodyPr wrap="square" lIns="0" tIns="0" rIns="0" bIns="0" rtlCol="0" anchor="t"/>
          <a:lstStyle/>
          <a:p>
            <a:pPr algn="l" indent="0" marL="0">
              <a:buNone/>
            </a:pPr>
            <a:r>
              <a:rPr lang="en-US" sz="3200" b="1" dirty="0">
                <a:solidFill>
                  <a:srgbClr val="14202E"/>
                </a:solidFill>
                <a:latin typeface="Calibri" pitchFamily="34" charset="0"/>
                <a:ea typeface="Calibri" pitchFamily="34" charset="-122"/>
                <a:cs typeface="Calibri" pitchFamily="34" charset="-120"/>
              </a:rPr>
              <a:t>Matrix Pencil in vier Schritten</a:t>
            </a:r>
            <a:endParaRPr lang="en-US" sz="3200" dirty="0"/>
          </a:p>
        </p:txBody>
      </p:sp>
      <p:sp>
        <p:nvSpPr>
          <p:cNvPr id="4" name="Text 2"/>
          <p:cNvSpPr txBox="1"/>
          <p:nvPr/>
        </p:nvSpPr>
        <p:spPr>
          <a:xfrm>
            <a:off x="812800" y="6426200"/>
            <a:ext cx="9779000" cy="228600"/>
          </a:xfrm>
          <a:prstGeom prst="rect">
            <a:avLst/>
          </a:prstGeom>
          <a:noFill/>
          <a:ln/>
        </p:spPr>
        <p:txBody>
          <a:bodyPr wrap="square" lIns="0" tIns="0" rIns="0" bIns="0" rtlCol="0" anchor="t"/>
          <a:lstStyle/>
          <a:p>
            <a:pPr indent="0" marL="0">
              <a:lnSpc>
                <a:spcPct val="115000"/>
              </a:lnSpc>
              <a:buNone/>
            </a:pPr>
            <a:r>
              <a:rPr lang="en-US" sz="1200" dirty="0">
                <a:solidFill>
                  <a:srgbClr val="5F6873"/>
                </a:solidFill>
                <a:latin typeface="Calibri" pitchFamily="34" charset="0"/>
                <a:ea typeface="Calibri" pitchFamily="34" charset="-122"/>
                <a:cs typeface="Calibri" pitchFamily="34" charset="-120"/>
              </a:rPr>
              <a:t>Code: src/prony_filter/matrix_pencil.py und filtering.py · SVD: Singulärwertzerlegung</a:t>
            </a:r>
            <a:endParaRPr lang="en-US" sz="1200" dirty="0"/>
          </a:p>
        </p:txBody>
      </p:sp>
      <p:sp>
        <p:nvSpPr>
          <p:cNvPr id="6" name="Shape 3"/>
          <p:cNvSpPr/>
          <p:nvPr/>
        </p:nvSpPr>
        <p:spPr>
          <a:xfrm>
            <a:off x="812800" y="1879600"/>
            <a:ext cx="10566400" cy="0"/>
          </a:xfrm>
          <a:prstGeom prst="line">
            <a:avLst/>
          </a:prstGeom>
          <a:noFill/>
          <a:ln w="9525">
            <a:solidFill>
              <a:srgbClr val="D9D8D1"/>
            </a:solidFill>
            <a:prstDash val="solid"/>
          </a:ln>
        </p:spPr>
      </p:sp>
      <p:sp>
        <p:nvSpPr>
          <p:cNvPr id="7" name="Text 4"/>
          <p:cNvSpPr txBox="1"/>
          <p:nvPr/>
        </p:nvSpPr>
        <p:spPr>
          <a:xfrm>
            <a:off x="812800" y="2108200"/>
            <a:ext cx="508000" cy="317500"/>
          </a:xfrm>
          <a:prstGeom prst="rect">
            <a:avLst/>
          </a:prstGeom>
          <a:noFill/>
          <a:ln/>
        </p:spPr>
        <p:txBody>
          <a:bodyPr wrap="square" lIns="0" tIns="0" rIns="0" bIns="0" rtlCol="0" anchor="t"/>
          <a:lstStyle/>
          <a:p>
            <a:pPr indent="0" marL="0">
              <a:lnSpc>
                <a:spcPct val="115000"/>
              </a:lnSpc>
              <a:buNone/>
            </a:pPr>
            <a:r>
              <a:rPr lang="en-US" sz="2000" b="1" dirty="0">
                <a:solidFill>
                  <a:srgbClr val="1C5CAB"/>
                </a:solidFill>
                <a:latin typeface="Consolas" pitchFamily="34" charset="0"/>
                <a:ea typeface="Consolas" pitchFamily="34" charset="-122"/>
                <a:cs typeface="Consolas" pitchFamily="34" charset="-120"/>
              </a:rPr>
              <a:t>01</a:t>
            </a:r>
            <a:endParaRPr lang="en-US" sz="2000" dirty="0"/>
          </a:p>
        </p:txBody>
      </p:sp>
      <p:sp>
        <p:nvSpPr>
          <p:cNvPr id="8" name="Text 5"/>
          <p:cNvSpPr txBox="1"/>
          <p:nvPr/>
        </p:nvSpPr>
        <p:spPr>
          <a:xfrm>
            <a:off x="1524000" y="2108200"/>
            <a:ext cx="2921000" cy="317500"/>
          </a:xfrm>
          <a:prstGeom prst="rect">
            <a:avLst/>
          </a:prstGeom>
          <a:noFill/>
          <a:ln/>
        </p:spPr>
        <p:txBody>
          <a:bodyPr wrap="square" lIns="0" tIns="0" rIns="0" bIns="0" rtlCol="0" anchor="t"/>
          <a:lstStyle/>
          <a:p>
            <a:pPr indent="0" marL="0">
              <a:lnSpc>
                <a:spcPct val="115000"/>
              </a:lnSpc>
              <a:buNone/>
            </a:pPr>
            <a:r>
              <a:rPr lang="en-US" sz="2000" b="1" dirty="0">
                <a:solidFill>
                  <a:srgbClr val="14202E"/>
                </a:solidFill>
                <a:latin typeface="Calibri" pitchFamily="34" charset="0"/>
                <a:ea typeface="Calibri" pitchFamily="34" charset="-122"/>
                <a:cs typeface="Calibri" pitchFamily="34" charset="-120"/>
              </a:rPr>
              <a:t>Abschnitt wählen</a:t>
            </a:r>
            <a:endParaRPr lang="en-US" sz="2000" dirty="0"/>
          </a:p>
        </p:txBody>
      </p:sp>
      <p:sp>
        <p:nvSpPr>
          <p:cNvPr id="9" name="Text 6"/>
          <p:cNvSpPr txBox="1"/>
          <p:nvPr/>
        </p:nvSpPr>
        <p:spPr>
          <a:xfrm>
            <a:off x="4648200" y="2006600"/>
            <a:ext cx="3175000" cy="571500"/>
          </a:xfrm>
          <a:prstGeom prst="rect">
            <a:avLst/>
          </a:prstGeom>
          <a:noFill/>
          <a:ln/>
        </p:spPr>
        <p:txBody>
          <a:bodyPr wrap="square" lIns="0" tIns="0" rIns="0" bIns="0" rtlCol="0" anchor="t"/>
          <a:lstStyle/>
          <a:p>
            <a:pPr indent="0" marL="0">
              <a:lnSpc>
                <a:spcPct val="115000"/>
              </a:lnSpc>
              <a:buNone/>
            </a:pPr>
            <a:r>
              <a:rPr lang="en-US" sz="1500" dirty="0">
                <a:solidFill>
                  <a:srgbClr val="44505E"/>
                </a:solidFill>
                <a:latin typeface="Calibri" pitchFamily="34" charset="0"/>
                <a:ea typeface="Calibri" pitchFamily="34" charset="-122"/>
                <a:cs typeface="Calibri" pitchFamily="34" charset="-120"/>
              </a:rPr>
              <a:t>1 bis 7 s, ohne Mittelwert; Tiefpass, 100 Werte/s</a:t>
            </a:r>
            <a:endParaRPr lang="en-US" sz="1500" dirty="0"/>
          </a:p>
        </p:txBody>
      </p:sp>
      <p:pic>
        <p:nvPicPr>
          <p:cNvPr id="10" name="Image 0" descr="v_1">    </p:cNvPr>
          <p:cNvPicPr>
            <a:picLocks noChangeAspect="1"/>
          </p:cNvPicPr>
          <p:nvPr/>
        </p:nvPicPr>
        <p:blipFill>
          <a:blip r:embed="rId1"/>
          <a:stretch>
            <a:fillRect/>
          </a:stretch>
        </p:blipFill>
        <p:spPr>
          <a:xfrm>
            <a:off x="8026400" y="2124075"/>
            <a:ext cx="3060700" cy="298450"/>
          </a:xfrm>
          <a:prstGeom prst="rect">
            <a:avLst/>
          </a:prstGeom>
        </p:spPr>
      </p:pic>
      <p:sp>
        <p:nvSpPr>
          <p:cNvPr id="11" name="Shape 7"/>
          <p:cNvSpPr/>
          <p:nvPr/>
        </p:nvSpPr>
        <p:spPr>
          <a:xfrm>
            <a:off x="812800" y="2667000"/>
            <a:ext cx="10566400" cy="0"/>
          </a:xfrm>
          <a:prstGeom prst="line">
            <a:avLst/>
          </a:prstGeom>
          <a:noFill/>
          <a:ln w="9525">
            <a:solidFill>
              <a:srgbClr val="D9D8D1"/>
            </a:solidFill>
            <a:prstDash val="solid"/>
          </a:ln>
        </p:spPr>
      </p:sp>
      <p:sp>
        <p:nvSpPr>
          <p:cNvPr id="12" name="Text 8"/>
          <p:cNvSpPr txBox="1"/>
          <p:nvPr/>
        </p:nvSpPr>
        <p:spPr>
          <a:xfrm>
            <a:off x="812800" y="2895600"/>
            <a:ext cx="508000" cy="317500"/>
          </a:xfrm>
          <a:prstGeom prst="rect">
            <a:avLst/>
          </a:prstGeom>
          <a:noFill/>
          <a:ln/>
        </p:spPr>
        <p:txBody>
          <a:bodyPr wrap="square" lIns="0" tIns="0" rIns="0" bIns="0" rtlCol="0" anchor="t"/>
          <a:lstStyle/>
          <a:p>
            <a:pPr indent="0" marL="0">
              <a:lnSpc>
                <a:spcPct val="115000"/>
              </a:lnSpc>
              <a:buNone/>
            </a:pPr>
            <a:r>
              <a:rPr lang="en-US" sz="2000" b="1" dirty="0">
                <a:solidFill>
                  <a:srgbClr val="1C5CAB"/>
                </a:solidFill>
                <a:latin typeface="Consolas" pitchFamily="34" charset="0"/>
                <a:ea typeface="Consolas" pitchFamily="34" charset="-122"/>
                <a:cs typeface="Consolas" pitchFamily="34" charset="-120"/>
              </a:rPr>
              <a:t>02</a:t>
            </a:r>
            <a:endParaRPr lang="en-US" sz="2000" dirty="0"/>
          </a:p>
        </p:txBody>
      </p:sp>
      <p:sp>
        <p:nvSpPr>
          <p:cNvPr id="13" name="Text 9"/>
          <p:cNvSpPr txBox="1"/>
          <p:nvPr/>
        </p:nvSpPr>
        <p:spPr>
          <a:xfrm>
            <a:off x="1524000" y="2895600"/>
            <a:ext cx="2921000" cy="317500"/>
          </a:xfrm>
          <a:prstGeom prst="rect">
            <a:avLst/>
          </a:prstGeom>
          <a:noFill/>
          <a:ln/>
        </p:spPr>
        <p:txBody>
          <a:bodyPr wrap="square" lIns="0" tIns="0" rIns="0" bIns="0" rtlCol="0" anchor="t"/>
          <a:lstStyle/>
          <a:p>
            <a:pPr indent="0" marL="0">
              <a:lnSpc>
                <a:spcPct val="115000"/>
              </a:lnSpc>
              <a:buNone/>
            </a:pPr>
            <a:r>
              <a:rPr lang="en-US" sz="2000" b="1" dirty="0">
                <a:solidFill>
                  <a:srgbClr val="14202E"/>
                </a:solidFill>
                <a:latin typeface="Calibri" pitchFamily="34" charset="0"/>
                <a:ea typeface="Calibri" pitchFamily="34" charset="-122"/>
                <a:cs typeface="Calibri" pitchFamily="34" charset="-120"/>
              </a:rPr>
              <a:t>Hankel-Matrizen</a:t>
            </a:r>
            <a:endParaRPr lang="en-US" sz="2000" dirty="0"/>
          </a:p>
        </p:txBody>
      </p:sp>
      <p:sp>
        <p:nvSpPr>
          <p:cNvPr id="14" name="Text 10"/>
          <p:cNvSpPr txBox="1"/>
          <p:nvPr/>
        </p:nvSpPr>
        <p:spPr>
          <a:xfrm>
            <a:off x="4648200" y="2794000"/>
            <a:ext cx="3175000" cy="571500"/>
          </a:xfrm>
          <a:prstGeom prst="rect">
            <a:avLst/>
          </a:prstGeom>
          <a:noFill/>
          <a:ln/>
        </p:spPr>
        <p:txBody>
          <a:bodyPr wrap="square" lIns="0" tIns="0" rIns="0" bIns="0" rtlCol="0" anchor="t"/>
          <a:lstStyle/>
          <a:p>
            <a:pPr indent="0" marL="0">
              <a:lnSpc>
                <a:spcPct val="115000"/>
              </a:lnSpc>
              <a:buNone/>
            </a:pPr>
            <a:r>
              <a:rPr lang="en-US" sz="1500" dirty="0">
                <a:solidFill>
                  <a:srgbClr val="44505E"/>
                </a:solidFill>
                <a:latin typeface="Calibri" pitchFamily="34" charset="0"/>
                <a:ea typeface="Calibri" pitchFamily="34" charset="-122"/>
                <a:cs typeface="Calibri" pitchFamily="34" charset="-120"/>
              </a:rPr>
              <a:t>Überlappende Ausschnitte, je 345 × 256</a:t>
            </a:r>
            <a:endParaRPr lang="en-US" sz="1500" dirty="0"/>
          </a:p>
        </p:txBody>
      </p:sp>
      <p:pic>
        <p:nvPicPr>
          <p:cNvPr id="15" name="Image 1" descr="v_2">    </p:cNvPr>
          <p:cNvPicPr>
            <a:picLocks noChangeAspect="1"/>
          </p:cNvPicPr>
          <p:nvPr/>
        </p:nvPicPr>
        <p:blipFill>
          <a:blip r:embed="rId2"/>
          <a:stretch>
            <a:fillRect/>
          </a:stretch>
        </p:blipFill>
        <p:spPr>
          <a:xfrm>
            <a:off x="8026400" y="2917825"/>
            <a:ext cx="3054350" cy="285750"/>
          </a:xfrm>
          <a:prstGeom prst="rect">
            <a:avLst/>
          </a:prstGeom>
        </p:spPr>
      </p:pic>
      <p:sp>
        <p:nvSpPr>
          <p:cNvPr id="16" name="Shape 11"/>
          <p:cNvSpPr/>
          <p:nvPr/>
        </p:nvSpPr>
        <p:spPr>
          <a:xfrm>
            <a:off x="812800" y="3454400"/>
            <a:ext cx="10566400" cy="0"/>
          </a:xfrm>
          <a:prstGeom prst="line">
            <a:avLst/>
          </a:prstGeom>
          <a:noFill/>
          <a:ln w="9525">
            <a:solidFill>
              <a:srgbClr val="D9D8D1"/>
            </a:solidFill>
            <a:prstDash val="solid"/>
          </a:ln>
        </p:spPr>
      </p:sp>
      <p:sp>
        <p:nvSpPr>
          <p:cNvPr id="17" name="Text 12"/>
          <p:cNvSpPr txBox="1"/>
          <p:nvPr/>
        </p:nvSpPr>
        <p:spPr>
          <a:xfrm>
            <a:off x="812800" y="3683000"/>
            <a:ext cx="508000" cy="317500"/>
          </a:xfrm>
          <a:prstGeom prst="rect">
            <a:avLst/>
          </a:prstGeom>
          <a:noFill/>
          <a:ln/>
        </p:spPr>
        <p:txBody>
          <a:bodyPr wrap="square" lIns="0" tIns="0" rIns="0" bIns="0" rtlCol="0" anchor="t"/>
          <a:lstStyle/>
          <a:p>
            <a:pPr indent="0" marL="0">
              <a:lnSpc>
                <a:spcPct val="115000"/>
              </a:lnSpc>
              <a:buNone/>
            </a:pPr>
            <a:r>
              <a:rPr lang="en-US" sz="2000" b="1" dirty="0">
                <a:solidFill>
                  <a:srgbClr val="1C5CAB"/>
                </a:solidFill>
                <a:latin typeface="Consolas" pitchFamily="34" charset="0"/>
                <a:ea typeface="Consolas" pitchFamily="34" charset="-122"/>
                <a:cs typeface="Consolas" pitchFamily="34" charset="-120"/>
              </a:rPr>
              <a:t>03</a:t>
            </a:r>
            <a:endParaRPr lang="en-US" sz="2000" dirty="0"/>
          </a:p>
        </p:txBody>
      </p:sp>
      <p:sp>
        <p:nvSpPr>
          <p:cNvPr id="18" name="Text 13"/>
          <p:cNvSpPr txBox="1"/>
          <p:nvPr/>
        </p:nvSpPr>
        <p:spPr>
          <a:xfrm>
            <a:off x="1524000" y="3683000"/>
            <a:ext cx="2921000" cy="317500"/>
          </a:xfrm>
          <a:prstGeom prst="rect">
            <a:avLst/>
          </a:prstGeom>
          <a:noFill/>
          <a:ln/>
        </p:spPr>
        <p:txBody>
          <a:bodyPr wrap="square" lIns="0" tIns="0" rIns="0" bIns="0" rtlCol="0" anchor="t"/>
          <a:lstStyle/>
          <a:p>
            <a:pPr indent="0" marL="0">
              <a:lnSpc>
                <a:spcPct val="115000"/>
              </a:lnSpc>
              <a:buNone/>
            </a:pPr>
            <a:r>
              <a:rPr lang="en-US" sz="2000" b="1" dirty="0">
                <a:solidFill>
                  <a:srgbClr val="14202E"/>
                </a:solidFill>
                <a:latin typeface="Calibri" pitchFamily="34" charset="0"/>
                <a:ea typeface="Calibri" pitchFamily="34" charset="-122"/>
                <a:cs typeface="Calibri" pitchFamily="34" charset="-120"/>
              </a:rPr>
              <a:t>SVD und Eigenwerte</a:t>
            </a:r>
            <a:endParaRPr lang="en-US" sz="2000" dirty="0"/>
          </a:p>
        </p:txBody>
      </p:sp>
      <p:sp>
        <p:nvSpPr>
          <p:cNvPr id="19" name="Text 14"/>
          <p:cNvSpPr txBox="1"/>
          <p:nvPr/>
        </p:nvSpPr>
        <p:spPr>
          <a:xfrm>
            <a:off x="4648200" y="3581400"/>
            <a:ext cx="3175000" cy="571500"/>
          </a:xfrm>
          <a:prstGeom prst="rect">
            <a:avLst/>
          </a:prstGeom>
          <a:noFill/>
          <a:ln/>
        </p:spPr>
        <p:txBody>
          <a:bodyPr wrap="square" lIns="0" tIns="0" rIns="0" bIns="0" rtlCol="0" anchor="t"/>
          <a:lstStyle/>
          <a:p>
            <a:pPr indent="0" marL="0">
              <a:lnSpc>
                <a:spcPct val="115000"/>
              </a:lnSpc>
              <a:buNone/>
            </a:pPr>
            <a:r>
              <a:rPr lang="en-US" sz="1500" dirty="0">
                <a:solidFill>
                  <a:srgbClr val="44505E"/>
                </a:solidFill>
                <a:latin typeface="Calibri" pitchFamily="34" charset="0"/>
                <a:ea typeface="Calibri" pitchFamily="34" charset="-122"/>
                <a:cs typeface="Calibri" pitchFamily="34" charset="-120"/>
              </a:rPr>
              <a:t>r = 12 Richtungen behalten; Eigenwerte von B = Pole z</a:t>
            </a:r>
            <a:endParaRPr lang="en-US" sz="1500" dirty="0"/>
          </a:p>
        </p:txBody>
      </p:sp>
      <p:pic>
        <p:nvPicPr>
          <p:cNvPr id="20" name="Image 2" descr="v_3">    </p:cNvPr>
          <p:cNvPicPr>
            <a:picLocks noChangeAspect="1"/>
          </p:cNvPicPr>
          <p:nvPr/>
        </p:nvPicPr>
        <p:blipFill>
          <a:blip r:embed="rId3"/>
          <a:stretch>
            <a:fillRect/>
          </a:stretch>
        </p:blipFill>
        <p:spPr>
          <a:xfrm>
            <a:off x="8026400" y="3692525"/>
            <a:ext cx="2387600" cy="311150"/>
          </a:xfrm>
          <a:prstGeom prst="rect">
            <a:avLst/>
          </a:prstGeom>
        </p:spPr>
      </p:pic>
      <p:sp>
        <p:nvSpPr>
          <p:cNvPr id="21" name="Shape 15"/>
          <p:cNvSpPr/>
          <p:nvPr/>
        </p:nvSpPr>
        <p:spPr>
          <a:xfrm>
            <a:off x="812800" y="4241800"/>
            <a:ext cx="10566400" cy="0"/>
          </a:xfrm>
          <a:prstGeom prst="line">
            <a:avLst/>
          </a:prstGeom>
          <a:noFill/>
          <a:ln w="9525">
            <a:solidFill>
              <a:srgbClr val="D9D8D1"/>
            </a:solidFill>
            <a:prstDash val="solid"/>
          </a:ln>
        </p:spPr>
      </p:sp>
      <p:sp>
        <p:nvSpPr>
          <p:cNvPr id="22" name="Text 16"/>
          <p:cNvSpPr txBox="1"/>
          <p:nvPr/>
        </p:nvSpPr>
        <p:spPr>
          <a:xfrm>
            <a:off x="812800" y="4470400"/>
            <a:ext cx="508000" cy="317500"/>
          </a:xfrm>
          <a:prstGeom prst="rect">
            <a:avLst/>
          </a:prstGeom>
          <a:noFill/>
          <a:ln/>
        </p:spPr>
        <p:txBody>
          <a:bodyPr wrap="square" lIns="0" tIns="0" rIns="0" bIns="0" rtlCol="0" anchor="t"/>
          <a:lstStyle/>
          <a:p>
            <a:pPr indent="0" marL="0">
              <a:lnSpc>
                <a:spcPct val="115000"/>
              </a:lnSpc>
              <a:buNone/>
            </a:pPr>
            <a:r>
              <a:rPr lang="en-US" sz="2000" b="1" dirty="0">
                <a:solidFill>
                  <a:srgbClr val="1C5CAB"/>
                </a:solidFill>
                <a:latin typeface="Consolas" pitchFamily="34" charset="0"/>
                <a:ea typeface="Consolas" pitchFamily="34" charset="-122"/>
                <a:cs typeface="Consolas" pitchFamily="34" charset="-120"/>
              </a:rPr>
              <a:t>04</a:t>
            </a:r>
            <a:endParaRPr lang="en-US" sz="2000" dirty="0"/>
          </a:p>
        </p:txBody>
      </p:sp>
      <p:sp>
        <p:nvSpPr>
          <p:cNvPr id="23" name="Text 17"/>
          <p:cNvSpPr txBox="1"/>
          <p:nvPr/>
        </p:nvSpPr>
        <p:spPr>
          <a:xfrm>
            <a:off x="1524000" y="4470400"/>
            <a:ext cx="2921000" cy="317500"/>
          </a:xfrm>
          <a:prstGeom prst="rect">
            <a:avLst/>
          </a:prstGeom>
          <a:noFill/>
          <a:ln/>
        </p:spPr>
        <p:txBody>
          <a:bodyPr wrap="square" lIns="0" tIns="0" rIns="0" bIns="0" rtlCol="0" anchor="t"/>
          <a:lstStyle/>
          <a:p>
            <a:pPr indent="0" marL="0">
              <a:lnSpc>
                <a:spcPct val="115000"/>
              </a:lnSpc>
              <a:buNone/>
            </a:pPr>
            <a:r>
              <a:rPr lang="en-US" sz="2000" b="1" dirty="0">
                <a:solidFill>
                  <a:srgbClr val="14202E"/>
                </a:solidFill>
                <a:latin typeface="Calibri" pitchFamily="34" charset="0"/>
                <a:ea typeface="Calibri" pitchFamily="34" charset="-122"/>
                <a:cs typeface="Calibri" pitchFamily="34" charset="-120"/>
              </a:rPr>
              <a:t>Anpassen und prüfen</a:t>
            </a:r>
            <a:endParaRPr lang="en-US" sz="2000" dirty="0"/>
          </a:p>
        </p:txBody>
      </p:sp>
      <p:sp>
        <p:nvSpPr>
          <p:cNvPr id="24" name="Text 18"/>
          <p:cNvSpPr txBox="1"/>
          <p:nvPr/>
        </p:nvSpPr>
        <p:spPr>
          <a:xfrm>
            <a:off x="4648200" y="4368800"/>
            <a:ext cx="3175000" cy="571500"/>
          </a:xfrm>
          <a:prstGeom prst="rect">
            <a:avLst/>
          </a:prstGeom>
          <a:noFill/>
          <a:ln/>
        </p:spPr>
        <p:txBody>
          <a:bodyPr wrap="square" lIns="0" tIns="0" rIns="0" bIns="0" rtlCol="0" anchor="t"/>
          <a:lstStyle/>
          <a:p>
            <a:pPr indent="0" marL="0">
              <a:lnSpc>
                <a:spcPct val="115000"/>
              </a:lnSpc>
              <a:buNone/>
            </a:pPr>
            <a:r>
              <a:rPr lang="en-US" sz="1500" dirty="0">
                <a:solidFill>
                  <a:srgbClr val="44505E"/>
                </a:solidFill>
                <a:latin typeface="Calibri" pitchFamily="34" charset="0"/>
                <a:ea typeface="Calibri" pitchFamily="34" charset="-122"/>
                <a:cs typeface="Calibri" pitchFamily="34" charset="-120"/>
              </a:rPr>
              <a:t>Gewichte anpassen; Abzug nur, wenn die Prüfung besteht</a:t>
            </a:r>
            <a:endParaRPr lang="en-US" sz="1500" dirty="0"/>
          </a:p>
        </p:txBody>
      </p:sp>
      <p:pic>
        <p:nvPicPr>
          <p:cNvPr id="25" name="Image 3" descr="v_4">    </p:cNvPr>
          <p:cNvPicPr>
            <a:picLocks noChangeAspect="1"/>
          </p:cNvPicPr>
          <p:nvPr/>
        </p:nvPicPr>
        <p:blipFill>
          <a:blip r:embed="rId4"/>
          <a:stretch>
            <a:fillRect/>
          </a:stretch>
        </p:blipFill>
        <p:spPr>
          <a:xfrm>
            <a:off x="8026400" y="4371975"/>
            <a:ext cx="1905000" cy="527050"/>
          </a:xfrm>
          <a:prstGeom prst="rect">
            <a:avLst/>
          </a:prstGeom>
        </p:spPr>
      </p:pic>
      <p:sp>
        <p:nvSpPr>
          <p:cNvPr id="26" name="Shape 19"/>
          <p:cNvSpPr/>
          <p:nvPr/>
        </p:nvSpPr>
        <p:spPr>
          <a:xfrm>
            <a:off x="812800" y="5029200"/>
            <a:ext cx="10566400" cy="0"/>
          </a:xfrm>
          <a:prstGeom prst="line">
            <a:avLst/>
          </a:prstGeom>
          <a:noFill/>
          <a:ln w="9525">
            <a:solidFill>
              <a:srgbClr val="D9D8D1"/>
            </a:solidFill>
            <a:prstDash val="solid"/>
          </a:ln>
        </p:spPr>
      </p:sp>
      <p:sp>
        <p:nvSpPr>
          <p:cNvPr id="25" name="Slide Number Placeholder 0"/>
          <p:cNvSpPr>
            <a:spLocks noGrp="1"/>
          </p:cNvSpPr>
          <p:nvPr>
            <p:ph type="sldNum" sz="quarter" idx="4294967295"/>
          </p:nvPr>
        </p:nvSpPr>
        <p:spPr>
          <a:xfrm>
            <a:off x="10795000" y="6426200"/>
            <a:ext cx="5842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5F6873"/>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812800" y="812800"/>
            <a:ext cx="10566400" cy="215900"/>
          </a:xfrm>
          <a:prstGeom prst="rect">
            <a:avLst/>
          </a:prstGeom>
          <a:noFill/>
          <a:ln/>
        </p:spPr>
        <p:txBody>
          <a:bodyPr wrap="square" lIns="0" tIns="0" rIns="0" bIns="0" rtlCol="0" anchor="t"/>
          <a:lstStyle/>
          <a:p>
            <a:pPr indent="0" marL="0">
              <a:lnSpc>
                <a:spcPct val="115000"/>
              </a:lnSpc>
              <a:buNone/>
            </a:pPr>
            <a:r>
              <a:rPr lang="en-US" sz="1200" spc="100" kern="0" dirty="0">
                <a:solidFill>
                  <a:srgbClr val="1C5CAB"/>
                </a:solidFill>
                <a:latin typeface="Consolas" pitchFamily="34" charset="0"/>
                <a:ea typeface="Consolas" pitchFamily="34" charset="-122"/>
                <a:cs typeface="Consolas" pitchFamily="34" charset="-120"/>
              </a:rPr>
              <a:t>REDUZIERTE MATRIX SCHRITT FÜR SCHRITT</a:t>
            </a:r>
            <a:endParaRPr lang="en-US" sz="1200" dirty="0"/>
          </a:p>
        </p:txBody>
      </p:sp>
      <p:sp>
        <p:nvSpPr>
          <p:cNvPr id="3" name="Text 0"/>
          <p:cNvSpPr/>
          <p:nvPr>
            <p:ph idx="100" type="title" hasCustomPrompt="1"/>
          </p:nvPr>
        </p:nvSpPr>
        <p:spPr>
          <a:xfrm>
            <a:off x="812800" y="1104900"/>
            <a:ext cx="10566400" cy="508000"/>
          </a:xfrm>
          <a:prstGeom prst="rect">
            <a:avLst/>
          </a:prstGeom>
          <a:noFill/>
          <a:ln/>
        </p:spPr>
        <p:txBody>
          <a:bodyPr wrap="square" lIns="0" tIns="0" rIns="0" bIns="0" rtlCol="0" anchor="t"/>
          <a:lstStyle/>
          <a:p>
            <a:pPr algn="l" indent="0" marL="0">
              <a:buNone/>
            </a:pPr>
            <a:r>
              <a:rPr lang="en-US" sz="3200" b="1" dirty="0">
                <a:solidFill>
                  <a:srgbClr val="14202E"/>
                </a:solidFill>
                <a:latin typeface="Calibri" pitchFamily="34" charset="0"/>
                <a:ea typeface="Calibri" pitchFamily="34" charset="-122"/>
                <a:cs typeface="Calibri" pitchFamily="34" charset="-120"/>
              </a:rPr>
              <a:t>Rechenbeispiel: von 7 Messwerten zu B</a:t>
            </a:r>
            <a:endParaRPr lang="en-US" sz="3200" dirty="0"/>
          </a:p>
        </p:txBody>
      </p:sp>
      <p:sp>
        <p:nvSpPr>
          <p:cNvPr id="4" name="Text 2"/>
          <p:cNvSpPr txBox="1"/>
          <p:nvPr/>
        </p:nvSpPr>
        <p:spPr>
          <a:xfrm>
            <a:off x="812800" y="6426200"/>
            <a:ext cx="9779000" cy="228600"/>
          </a:xfrm>
          <a:prstGeom prst="rect">
            <a:avLst/>
          </a:prstGeom>
          <a:noFill/>
          <a:ln/>
        </p:spPr>
        <p:txBody>
          <a:bodyPr wrap="square" lIns="0" tIns="0" rIns="0" bIns="0" rtlCol="0" anchor="t"/>
          <a:lstStyle/>
          <a:p>
            <a:pPr indent="0" marL="0">
              <a:lnSpc>
                <a:spcPct val="115000"/>
              </a:lnSpc>
              <a:buNone/>
            </a:pPr>
            <a:r>
              <a:rPr lang="en-US" sz="1200" dirty="0">
                <a:solidFill>
                  <a:srgbClr val="5F6873"/>
                </a:solidFill>
                <a:latin typeface="Calibri" pitchFamily="34" charset="0"/>
                <a:ea typeface="Calibri" pitchFamily="34" charset="-122"/>
                <a:cs typeface="Calibri" pitchFamily="34" charset="-120"/>
              </a:rPr>
              <a:t>Im Projekt dieselben Schritte mit 601 Werten: H0, H1 je 345 × 256, r = 12, B ist 12 × 12</a:t>
            </a:r>
            <a:endParaRPr lang="en-US" sz="1200" dirty="0"/>
          </a:p>
        </p:txBody>
      </p:sp>
      <p:sp>
        <p:nvSpPr>
          <p:cNvPr id="6" name="Shape 3"/>
          <p:cNvSpPr/>
          <p:nvPr/>
        </p:nvSpPr>
        <p:spPr>
          <a:xfrm>
            <a:off x="812800" y="1828800"/>
            <a:ext cx="5181600" cy="1879600"/>
          </a:xfrm>
          <a:prstGeom prst="roundRect">
            <a:avLst>
              <a:gd name="adj" fmla="val 5351"/>
            </a:avLst>
          </a:prstGeom>
          <a:solidFill>
            <a:srgbClr val="FCFCFB"/>
          </a:solidFill>
          <a:ln w="9525">
            <a:solidFill>
              <a:srgbClr val="E1E0D9"/>
            </a:solidFill>
            <a:prstDash val="solid"/>
          </a:ln>
        </p:spPr>
      </p:sp>
      <p:sp>
        <p:nvSpPr>
          <p:cNvPr id="7" name="Text 4"/>
          <p:cNvSpPr txBox="1"/>
          <p:nvPr/>
        </p:nvSpPr>
        <p:spPr>
          <a:xfrm>
            <a:off x="990600" y="1981200"/>
            <a:ext cx="4826000" cy="266700"/>
          </a:xfrm>
          <a:prstGeom prst="rect">
            <a:avLst/>
          </a:prstGeom>
          <a:noFill/>
          <a:ln/>
        </p:spPr>
        <p:txBody>
          <a:bodyPr wrap="square" lIns="0" tIns="0" rIns="0" bIns="0" rtlCol="0" anchor="t"/>
          <a:lstStyle/>
          <a:p>
            <a:pPr indent="0" marL="0">
              <a:lnSpc>
                <a:spcPct val="115000"/>
              </a:lnSpc>
              <a:buNone/>
            </a:pPr>
            <a:r>
              <a:rPr lang="en-US" sz="1500" b="1" dirty="0">
                <a:solidFill>
                  <a:srgbClr val="14202E"/>
                </a:solidFill>
                <a:latin typeface="Calibri" pitchFamily="34" charset="0"/>
                <a:ea typeface="Calibri" pitchFamily="34" charset="-122"/>
                <a:cs typeface="Calibri" pitchFamily="34" charset="-120"/>
              </a:rPr>
              <a:t>1  Messwerte</a:t>
            </a:r>
            <a:endParaRPr lang="en-US" sz="1500" dirty="0"/>
          </a:p>
        </p:txBody>
      </p:sp>
      <p:sp>
        <p:nvSpPr>
          <p:cNvPr id="8" name="Shape 5"/>
          <p:cNvSpPr/>
          <p:nvPr/>
        </p:nvSpPr>
        <p:spPr>
          <a:xfrm>
            <a:off x="6197600" y="1828800"/>
            <a:ext cx="5181600" cy="1879600"/>
          </a:xfrm>
          <a:prstGeom prst="roundRect">
            <a:avLst>
              <a:gd name="adj" fmla="val 5351"/>
            </a:avLst>
          </a:prstGeom>
          <a:solidFill>
            <a:srgbClr val="FCFCFB"/>
          </a:solidFill>
          <a:ln w="9525">
            <a:solidFill>
              <a:srgbClr val="E1E0D9"/>
            </a:solidFill>
            <a:prstDash val="solid"/>
          </a:ln>
        </p:spPr>
      </p:sp>
      <p:sp>
        <p:nvSpPr>
          <p:cNvPr id="9" name="Text 6"/>
          <p:cNvSpPr txBox="1"/>
          <p:nvPr/>
        </p:nvSpPr>
        <p:spPr>
          <a:xfrm>
            <a:off x="6375400" y="1981200"/>
            <a:ext cx="4826000" cy="266700"/>
          </a:xfrm>
          <a:prstGeom prst="rect">
            <a:avLst/>
          </a:prstGeom>
          <a:noFill/>
          <a:ln/>
        </p:spPr>
        <p:txBody>
          <a:bodyPr wrap="square" lIns="0" tIns="0" rIns="0" bIns="0" rtlCol="0" anchor="t"/>
          <a:lstStyle/>
          <a:p>
            <a:pPr indent="0" marL="0">
              <a:lnSpc>
                <a:spcPct val="115000"/>
              </a:lnSpc>
              <a:buNone/>
            </a:pPr>
            <a:r>
              <a:rPr lang="en-US" sz="1500" b="1" dirty="0">
                <a:solidFill>
                  <a:srgbClr val="14202E"/>
                </a:solidFill>
                <a:latin typeface="Calibri" pitchFamily="34" charset="0"/>
                <a:ea typeface="Calibri" pitchFamily="34" charset="-122"/>
                <a:cs typeface="Calibri" pitchFamily="34" charset="-120"/>
              </a:rPr>
              <a:t>2  Hankel-Matrizen mit L = 3 Spalten</a:t>
            </a:r>
            <a:endParaRPr lang="en-US" sz="1500" dirty="0"/>
          </a:p>
        </p:txBody>
      </p:sp>
      <p:sp>
        <p:nvSpPr>
          <p:cNvPr id="10" name="Shape 7"/>
          <p:cNvSpPr/>
          <p:nvPr/>
        </p:nvSpPr>
        <p:spPr>
          <a:xfrm>
            <a:off x="812800" y="3860800"/>
            <a:ext cx="5181600" cy="1879600"/>
          </a:xfrm>
          <a:prstGeom prst="roundRect">
            <a:avLst>
              <a:gd name="adj" fmla="val 5351"/>
            </a:avLst>
          </a:prstGeom>
          <a:solidFill>
            <a:srgbClr val="FCFCFB"/>
          </a:solidFill>
          <a:ln w="9525">
            <a:solidFill>
              <a:srgbClr val="E1E0D9"/>
            </a:solidFill>
            <a:prstDash val="solid"/>
          </a:ln>
        </p:spPr>
      </p:sp>
      <p:sp>
        <p:nvSpPr>
          <p:cNvPr id="11" name="Text 8"/>
          <p:cNvSpPr txBox="1"/>
          <p:nvPr/>
        </p:nvSpPr>
        <p:spPr>
          <a:xfrm>
            <a:off x="990600" y="4013200"/>
            <a:ext cx="4826000" cy="266700"/>
          </a:xfrm>
          <a:prstGeom prst="rect">
            <a:avLst/>
          </a:prstGeom>
          <a:noFill/>
          <a:ln/>
        </p:spPr>
        <p:txBody>
          <a:bodyPr wrap="square" lIns="0" tIns="0" rIns="0" bIns="0" rtlCol="0" anchor="t"/>
          <a:lstStyle/>
          <a:p>
            <a:pPr indent="0" marL="0">
              <a:lnSpc>
                <a:spcPct val="115000"/>
              </a:lnSpc>
              <a:buNone/>
            </a:pPr>
            <a:r>
              <a:rPr lang="en-US" sz="1500" b="1" dirty="0">
                <a:solidFill>
                  <a:srgbClr val="14202E"/>
                </a:solidFill>
                <a:latin typeface="Calibri" pitchFamily="34" charset="0"/>
                <a:ea typeface="Calibri" pitchFamily="34" charset="-122"/>
                <a:cs typeface="Calibri" pitchFamily="34" charset="-120"/>
              </a:rPr>
              <a:t>3  Singulärwertzerlegung von H0</a:t>
            </a:r>
            <a:endParaRPr lang="en-US" sz="1500" dirty="0"/>
          </a:p>
        </p:txBody>
      </p:sp>
      <p:sp>
        <p:nvSpPr>
          <p:cNvPr id="12" name="Shape 9"/>
          <p:cNvSpPr/>
          <p:nvPr/>
        </p:nvSpPr>
        <p:spPr>
          <a:xfrm>
            <a:off x="6197600" y="3860800"/>
            <a:ext cx="5181600" cy="1879600"/>
          </a:xfrm>
          <a:prstGeom prst="roundRect">
            <a:avLst>
              <a:gd name="adj" fmla="val 5351"/>
            </a:avLst>
          </a:prstGeom>
          <a:solidFill>
            <a:srgbClr val="FCFCFB"/>
          </a:solidFill>
          <a:ln w="9525">
            <a:solidFill>
              <a:srgbClr val="E1E0D9"/>
            </a:solidFill>
            <a:prstDash val="solid"/>
          </a:ln>
        </p:spPr>
      </p:sp>
      <p:sp>
        <p:nvSpPr>
          <p:cNvPr id="13" name="Text 10"/>
          <p:cNvSpPr txBox="1"/>
          <p:nvPr/>
        </p:nvSpPr>
        <p:spPr>
          <a:xfrm>
            <a:off x="6375400" y="4013200"/>
            <a:ext cx="4826000" cy="266700"/>
          </a:xfrm>
          <a:prstGeom prst="rect">
            <a:avLst/>
          </a:prstGeom>
          <a:noFill/>
          <a:ln/>
        </p:spPr>
        <p:txBody>
          <a:bodyPr wrap="square" lIns="0" tIns="0" rIns="0" bIns="0" rtlCol="0" anchor="t"/>
          <a:lstStyle/>
          <a:p>
            <a:pPr indent="0" marL="0">
              <a:lnSpc>
                <a:spcPct val="115000"/>
              </a:lnSpc>
              <a:buNone/>
            </a:pPr>
            <a:r>
              <a:rPr lang="en-US" sz="1500" b="1" dirty="0">
                <a:solidFill>
                  <a:srgbClr val="14202E"/>
                </a:solidFill>
                <a:latin typeface="Calibri" pitchFamily="34" charset="0"/>
                <a:ea typeface="Calibri" pitchFamily="34" charset="-122"/>
                <a:cs typeface="Calibri" pitchFamily="34" charset="-120"/>
              </a:rPr>
              <a:t>4  Reduzierte Matrix und Eigenwerte</a:t>
            </a:r>
            <a:endParaRPr lang="en-US" sz="1500" dirty="0"/>
          </a:p>
        </p:txBody>
      </p:sp>
      <p:pic>
        <p:nvPicPr>
          <p:cNvPr id="14" name="Image 0" descr="b_x">    </p:cNvPr>
          <p:cNvPicPr>
            <a:picLocks noChangeAspect="1"/>
          </p:cNvPicPr>
          <p:nvPr/>
        </p:nvPicPr>
        <p:blipFill>
          <a:blip r:embed="rId1"/>
          <a:stretch>
            <a:fillRect/>
          </a:stretch>
        </p:blipFill>
        <p:spPr>
          <a:xfrm>
            <a:off x="990600" y="2197100"/>
            <a:ext cx="2679700" cy="330200"/>
          </a:xfrm>
          <a:prstGeom prst="rect">
            <a:avLst/>
          </a:prstGeom>
        </p:spPr>
      </p:pic>
      <p:pic>
        <p:nvPicPr>
          <p:cNvPr id="15" name="Image 1" descr="b_xv">    </p:cNvPr>
          <p:cNvPicPr>
            <a:picLocks noChangeAspect="1"/>
          </p:cNvPicPr>
          <p:nvPr/>
        </p:nvPicPr>
        <p:blipFill>
          <a:blip r:embed="rId2"/>
          <a:stretch>
            <a:fillRect/>
          </a:stretch>
        </p:blipFill>
        <p:spPr>
          <a:xfrm>
            <a:off x="990600" y="2603500"/>
            <a:ext cx="3924300" cy="266700"/>
          </a:xfrm>
          <a:prstGeom prst="rect">
            <a:avLst/>
          </a:prstGeom>
        </p:spPr>
      </p:pic>
      <p:sp>
        <p:nvSpPr>
          <p:cNvPr id="16" name="Text 11"/>
          <p:cNvSpPr txBox="1"/>
          <p:nvPr/>
        </p:nvSpPr>
        <p:spPr>
          <a:xfrm>
            <a:off x="990600" y="2984500"/>
            <a:ext cx="4826000" cy="508000"/>
          </a:xfrm>
          <a:prstGeom prst="rect">
            <a:avLst/>
          </a:prstGeom>
          <a:noFill/>
          <a:ln/>
        </p:spPr>
        <p:txBody>
          <a:bodyPr wrap="square" lIns="0" tIns="0" rIns="0" bIns="0" rtlCol="0" anchor="t"/>
          <a:lstStyle/>
          <a:p>
            <a:pPr indent="0" marL="0">
              <a:lnSpc>
                <a:spcPct val="115000"/>
              </a:lnSpc>
              <a:buNone/>
            </a:pPr>
            <a:r>
              <a:rPr lang="en-US" sz="1200" dirty="0">
                <a:solidFill>
                  <a:srgbClr val="44505E"/>
                </a:solidFill>
                <a:latin typeface="Calibri" pitchFamily="34" charset="0"/>
                <a:ea typeface="Calibri" pitchFamily="34" charset="-122"/>
                <a:cs typeface="Calibri" pitchFamily="34" charset="-120"/>
              </a:rPr>
              <a:t>Eine gedämpfte Schwingung mit r und θ des Pols der negativen Sprungantwort, Δt = 0,01 s.</a:t>
            </a:r>
            <a:endParaRPr lang="en-US" sz="1200" dirty="0"/>
          </a:p>
        </p:txBody>
      </p:sp>
      <p:pic>
        <p:nvPicPr>
          <p:cNvPr id="17" name="Image 2" descr="b_h0">    </p:cNvPr>
          <p:cNvPicPr>
            <a:picLocks noChangeAspect="1"/>
          </p:cNvPicPr>
          <p:nvPr/>
        </p:nvPicPr>
        <p:blipFill>
          <a:blip r:embed="rId3"/>
          <a:stretch>
            <a:fillRect/>
          </a:stretch>
        </p:blipFill>
        <p:spPr>
          <a:xfrm>
            <a:off x="6375400" y="2222500"/>
            <a:ext cx="2209800" cy="889000"/>
          </a:xfrm>
          <a:prstGeom prst="rect">
            <a:avLst/>
          </a:prstGeom>
        </p:spPr>
      </p:pic>
      <p:pic>
        <p:nvPicPr>
          <p:cNvPr id="18" name="Image 3" descr="b_h1">    </p:cNvPr>
          <p:cNvPicPr>
            <a:picLocks noChangeAspect="1"/>
          </p:cNvPicPr>
          <p:nvPr/>
        </p:nvPicPr>
        <p:blipFill>
          <a:blip r:embed="rId4"/>
          <a:stretch>
            <a:fillRect/>
          </a:stretch>
        </p:blipFill>
        <p:spPr>
          <a:xfrm>
            <a:off x="8737600" y="2222500"/>
            <a:ext cx="2209800" cy="889000"/>
          </a:xfrm>
          <a:prstGeom prst="rect">
            <a:avLst/>
          </a:prstGeom>
        </p:spPr>
      </p:pic>
      <p:pic>
        <p:nvPicPr>
          <p:cNvPr id="19" name="Image 4" descr="b_s">    </p:cNvPr>
          <p:cNvPicPr>
            <a:picLocks noChangeAspect="1"/>
          </p:cNvPicPr>
          <p:nvPr/>
        </p:nvPicPr>
        <p:blipFill>
          <a:blip r:embed="rId5"/>
          <a:stretch>
            <a:fillRect/>
          </a:stretch>
        </p:blipFill>
        <p:spPr>
          <a:xfrm>
            <a:off x="990600" y="4292600"/>
            <a:ext cx="3505200" cy="254000"/>
          </a:xfrm>
          <a:prstGeom prst="rect">
            <a:avLst/>
          </a:prstGeom>
        </p:spPr>
      </p:pic>
      <p:sp>
        <p:nvSpPr>
          <p:cNvPr id="20" name="Text 12"/>
          <p:cNvSpPr txBox="1"/>
          <p:nvPr/>
        </p:nvSpPr>
        <p:spPr>
          <a:xfrm>
            <a:off x="990600" y="4673600"/>
            <a:ext cx="4826000" cy="698500"/>
          </a:xfrm>
          <a:prstGeom prst="rect">
            <a:avLst/>
          </a:prstGeom>
          <a:noFill/>
          <a:ln/>
        </p:spPr>
        <p:txBody>
          <a:bodyPr wrap="square" lIns="0" tIns="0" rIns="0" bIns="0" rtlCol="0" anchor="t"/>
          <a:lstStyle/>
          <a:p>
            <a:pPr indent="0" marL="0">
              <a:lnSpc>
                <a:spcPct val="115000"/>
              </a:lnSpc>
              <a:buNone/>
            </a:pPr>
            <a:r>
              <a:rPr lang="en-US" sz="1200" dirty="0">
                <a:solidFill>
                  <a:srgbClr val="44505E"/>
                </a:solidFill>
                <a:latin typeface="Calibri" pitchFamily="34" charset="0"/>
                <a:ea typeface="Calibri" pitchFamily="34" charset="-122"/>
                <a:cs typeface="Calibri" pitchFamily="34" charset="-120"/>
              </a:rPr>
              <a:t>Nur zwei Richtungen tragen Signal: Eine reelle Schwingung braucht ein Polpaar. U₂, Σ₂, V₂ behalten nur diese beiden Richtungen.</a:t>
            </a:r>
            <a:endParaRPr lang="en-US" sz="1200" dirty="0"/>
          </a:p>
        </p:txBody>
      </p:sp>
      <p:pic>
        <p:nvPicPr>
          <p:cNvPr id="21" name="Image 5" descr="b_b">    </p:cNvPr>
          <p:cNvPicPr>
            <a:picLocks noChangeAspect="1"/>
          </p:cNvPicPr>
          <p:nvPr/>
        </p:nvPicPr>
        <p:blipFill>
          <a:blip r:embed="rId6"/>
          <a:stretch>
            <a:fillRect/>
          </a:stretch>
        </p:blipFill>
        <p:spPr>
          <a:xfrm>
            <a:off x="6375400" y="4254500"/>
            <a:ext cx="3098800" cy="533400"/>
          </a:xfrm>
          <a:prstGeom prst="rect">
            <a:avLst/>
          </a:prstGeom>
        </p:spPr>
      </p:pic>
      <p:pic>
        <p:nvPicPr>
          <p:cNvPr id="22" name="Image 6" descr="b_ev">    </p:cNvPr>
          <p:cNvPicPr>
            <a:picLocks noChangeAspect="1"/>
          </p:cNvPicPr>
          <p:nvPr/>
        </p:nvPicPr>
        <p:blipFill>
          <a:blip r:embed="rId7"/>
          <a:stretch>
            <a:fillRect/>
          </a:stretch>
        </p:blipFill>
        <p:spPr>
          <a:xfrm>
            <a:off x="6375400" y="4927600"/>
            <a:ext cx="2546350" cy="304800"/>
          </a:xfrm>
          <a:prstGeom prst="rect">
            <a:avLst/>
          </a:prstGeom>
        </p:spPr>
      </p:pic>
      <p:sp>
        <p:nvSpPr>
          <p:cNvPr id="25" name="Slide Number Placeholder 0"/>
          <p:cNvSpPr>
            <a:spLocks noGrp="1"/>
          </p:cNvSpPr>
          <p:nvPr>
            <p:ph type="sldNum" sz="quarter" idx="4294967295"/>
          </p:nvPr>
        </p:nvSpPr>
        <p:spPr>
          <a:xfrm>
            <a:off x="10795000" y="6426200"/>
            <a:ext cx="5842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5F6873"/>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812800" y="812800"/>
            <a:ext cx="10566400" cy="215900"/>
          </a:xfrm>
          <a:prstGeom prst="rect">
            <a:avLst/>
          </a:prstGeom>
          <a:noFill/>
          <a:ln/>
        </p:spPr>
        <p:txBody>
          <a:bodyPr wrap="square" lIns="0" tIns="0" rIns="0" bIns="0" rtlCol="0" anchor="t"/>
          <a:lstStyle/>
          <a:p>
            <a:pPr indent="0" marL="0">
              <a:lnSpc>
                <a:spcPct val="115000"/>
              </a:lnSpc>
              <a:buNone/>
            </a:pPr>
            <a:r>
              <a:rPr lang="en-US" sz="1200" spc="100" kern="0" dirty="0">
                <a:solidFill>
                  <a:srgbClr val="1C5CAB"/>
                </a:solidFill>
                <a:latin typeface="Consolas" pitchFamily="34" charset="0"/>
                <a:ea typeface="Consolas" pitchFamily="34" charset="-122"/>
                <a:cs typeface="Consolas" pitchFamily="34" charset="-120"/>
              </a:rPr>
              <a:t>NEGATIVER SPRUNG · DOMINANTER POL</a:t>
            </a:r>
            <a:endParaRPr lang="en-US" sz="1200" dirty="0"/>
          </a:p>
        </p:txBody>
      </p:sp>
      <p:sp>
        <p:nvSpPr>
          <p:cNvPr id="3" name="Text 0"/>
          <p:cNvSpPr/>
          <p:nvPr>
            <p:ph idx="100" type="title" hasCustomPrompt="1"/>
          </p:nvPr>
        </p:nvSpPr>
        <p:spPr>
          <a:xfrm>
            <a:off x="812800" y="1104900"/>
            <a:ext cx="10566400" cy="508000"/>
          </a:xfrm>
          <a:prstGeom prst="rect">
            <a:avLst/>
          </a:prstGeom>
          <a:noFill/>
          <a:ln/>
        </p:spPr>
        <p:txBody>
          <a:bodyPr wrap="square" lIns="0" tIns="0" rIns="0" bIns="0" rtlCol="0" anchor="t"/>
          <a:lstStyle/>
          <a:p>
            <a:pPr algn="l" indent="0" marL="0">
              <a:buNone/>
            </a:pPr>
            <a:r>
              <a:rPr lang="en-US" sz="3200" b="1" dirty="0">
                <a:solidFill>
                  <a:srgbClr val="14202E"/>
                </a:solidFill>
                <a:latin typeface="Calibri" pitchFamily="34" charset="0"/>
                <a:ea typeface="Calibri" pitchFamily="34" charset="-122"/>
                <a:cs typeface="Calibri" pitchFamily="34" charset="-120"/>
              </a:rPr>
              <a:t>Vom Pol zu Frequenz und Abklingrate</a:t>
            </a:r>
            <a:endParaRPr lang="en-US" sz="3200" dirty="0"/>
          </a:p>
        </p:txBody>
      </p:sp>
      <p:sp>
        <p:nvSpPr>
          <p:cNvPr id="4" name="Text 2"/>
          <p:cNvSpPr txBox="1"/>
          <p:nvPr/>
        </p:nvSpPr>
        <p:spPr>
          <a:xfrm>
            <a:off x="812800" y="6426200"/>
            <a:ext cx="9779000" cy="228600"/>
          </a:xfrm>
          <a:prstGeom prst="rect">
            <a:avLst/>
          </a:prstGeom>
          <a:noFill/>
          <a:ln/>
        </p:spPr>
        <p:txBody>
          <a:bodyPr wrap="square" lIns="0" tIns="0" rIns="0" bIns="0" rtlCol="0" anchor="t"/>
          <a:lstStyle/>
          <a:p>
            <a:pPr indent="0" marL="0">
              <a:lnSpc>
                <a:spcPct val="115000"/>
              </a:lnSpc>
              <a:buNone/>
            </a:pPr>
            <a:r>
              <a:rPr lang="en-US" sz="1200" dirty="0">
                <a:solidFill>
                  <a:srgbClr val="5F6873"/>
                </a:solidFill>
                <a:latin typeface="Calibri" pitchFamily="34" charset="0"/>
                <a:ea typeface="Calibri" pitchFamily="34" charset="-122"/>
                <a:cs typeface="Calibri" pitchFamily="34" charset="-120"/>
              </a:rPr>
              <a:t>Ordnung 12, Schätzraster 100 Werte/s · Der konjugierte Pol z̄ gehört zur selben reellen Schwingung</a:t>
            </a:r>
            <a:endParaRPr lang="en-US" sz="1200" dirty="0"/>
          </a:p>
        </p:txBody>
      </p:sp>
      <p:sp>
        <p:nvSpPr>
          <p:cNvPr id="6" name="Text 3"/>
          <p:cNvSpPr txBox="1"/>
          <p:nvPr/>
        </p:nvSpPr>
        <p:spPr>
          <a:xfrm>
            <a:off x="812800" y="2222500"/>
            <a:ext cx="5080000" cy="215900"/>
          </a:xfrm>
          <a:prstGeom prst="rect">
            <a:avLst/>
          </a:prstGeom>
          <a:noFill/>
          <a:ln/>
        </p:spPr>
        <p:txBody>
          <a:bodyPr wrap="square" lIns="0" tIns="0" rIns="0" bIns="0" rtlCol="0" anchor="t"/>
          <a:lstStyle/>
          <a:p>
            <a:pPr indent="0" marL="0">
              <a:lnSpc>
                <a:spcPct val="115000"/>
              </a:lnSpc>
              <a:buNone/>
            </a:pPr>
            <a:r>
              <a:rPr lang="en-US" sz="1200" dirty="0">
                <a:solidFill>
                  <a:srgbClr val="1C5CAB"/>
                </a:solidFill>
                <a:latin typeface="Consolas" pitchFamily="34" charset="0"/>
                <a:ea typeface="Consolas" pitchFamily="34" charset="-122"/>
                <a:cs typeface="Consolas" pitchFamily="34" charset="-120"/>
              </a:rPr>
              <a:t>Eigenwert von B</a:t>
            </a:r>
            <a:endParaRPr lang="en-US" sz="1200" dirty="0"/>
          </a:p>
        </p:txBody>
      </p:sp>
      <p:pic>
        <p:nvPicPr>
          <p:cNvPr id="7" name="Image 0" descr="z">    </p:cNvPr>
          <p:cNvPicPr>
            <a:picLocks noChangeAspect="1"/>
          </p:cNvPicPr>
          <p:nvPr/>
        </p:nvPicPr>
        <p:blipFill>
          <a:blip r:embed="rId1"/>
          <a:stretch>
            <a:fillRect/>
          </a:stretch>
        </p:blipFill>
        <p:spPr>
          <a:xfrm>
            <a:off x="812800" y="2540000"/>
            <a:ext cx="3092450" cy="520700"/>
          </a:xfrm>
          <a:prstGeom prst="rect">
            <a:avLst/>
          </a:prstGeom>
        </p:spPr>
      </p:pic>
      <p:pic>
        <p:nvPicPr>
          <p:cNvPr id="8" name="Image 1" descr="r">    </p:cNvPr>
          <p:cNvPicPr>
            <a:picLocks noChangeAspect="1"/>
          </p:cNvPicPr>
          <p:nvPr/>
        </p:nvPicPr>
        <p:blipFill>
          <a:blip r:embed="rId2"/>
          <a:stretch>
            <a:fillRect/>
          </a:stretch>
        </p:blipFill>
        <p:spPr>
          <a:xfrm>
            <a:off x="812800" y="3238500"/>
            <a:ext cx="1631950" cy="304800"/>
          </a:xfrm>
          <a:prstGeom prst="rect">
            <a:avLst/>
          </a:prstGeom>
        </p:spPr>
      </p:pic>
      <p:pic>
        <p:nvPicPr>
          <p:cNvPr id="9" name="Image 2" descr="th">    </p:cNvPr>
          <p:cNvPicPr>
            <a:picLocks noChangeAspect="1"/>
          </p:cNvPicPr>
          <p:nvPr/>
        </p:nvPicPr>
        <p:blipFill>
          <a:blip r:embed="rId3"/>
          <a:stretch>
            <a:fillRect/>
          </a:stretch>
        </p:blipFill>
        <p:spPr>
          <a:xfrm>
            <a:off x="812800" y="3670300"/>
            <a:ext cx="1974850" cy="279400"/>
          </a:xfrm>
          <a:prstGeom prst="rect">
            <a:avLst/>
          </a:prstGeom>
        </p:spPr>
      </p:pic>
      <p:sp>
        <p:nvSpPr>
          <p:cNvPr id="10" name="Text 4"/>
          <p:cNvSpPr txBox="1"/>
          <p:nvPr/>
        </p:nvSpPr>
        <p:spPr>
          <a:xfrm>
            <a:off x="812800" y="4127500"/>
            <a:ext cx="5080000" cy="571500"/>
          </a:xfrm>
          <a:prstGeom prst="rect">
            <a:avLst/>
          </a:prstGeom>
          <a:noFill/>
          <a:ln/>
        </p:spPr>
        <p:txBody>
          <a:bodyPr wrap="square" lIns="0" tIns="0" rIns="0" bIns="0" rtlCol="0" anchor="t"/>
          <a:lstStyle/>
          <a:p>
            <a:pPr indent="0" marL="0">
              <a:lnSpc>
                <a:spcPct val="115000"/>
              </a:lnSpc>
              <a:buNone/>
            </a:pPr>
            <a:r>
              <a:rPr lang="en-US" sz="1500" dirty="0">
                <a:solidFill>
                  <a:srgbClr val="44505E"/>
                </a:solidFill>
                <a:latin typeface="Calibri" pitchFamily="34" charset="0"/>
                <a:ea typeface="Calibri" pitchFamily="34" charset="-122"/>
                <a:cs typeface="Calibri" pitchFamily="34" charset="-120"/>
              </a:rPr>
              <a:t>Beide beschreiben die Änderung in einem Abtastschritt Δt = 0,01 s.</a:t>
            </a:r>
            <a:endParaRPr lang="en-US" sz="1500" dirty="0"/>
          </a:p>
        </p:txBody>
      </p:sp>
      <p:sp>
        <p:nvSpPr>
          <p:cNvPr id="11" name="Shape 5"/>
          <p:cNvSpPr/>
          <p:nvPr/>
        </p:nvSpPr>
        <p:spPr>
          <a:xfrm>
            <a:off x="6299200" y="1879600"/>
            <a:ext cx="5080000" cy="1460500"/>
          </a:xfrm>
          <a:prstGeom prst="roundRect">
            <a:avLst>
              <a:gd name="adj" fmla="val 6887"/>
            </a:avLst>
          </a:prstGeom>
          <a:solidFill>
            <a:srgbClr val="FCFCFB"/>
          </a:solidFill>
          <a:ln w="9525">
            <a:solidFill>
              <a:srgbClr val="E1E0D9"/>
            </a:solidFill>
            <a:prstDash val="solid"/>
          </a:ln>
        </p:spPr>
      </p:sp>
      <p:sp>
        <p:nvSpPr>
          <p:cNvPr id="12" name="Text 6"/>
          <p:cNvSpPr txBox="1"/>
          <p:nvPr/>
        </p:nvSpPr>
        <p:spPr>
          <a:xfrm>
            <a:off x="6527800" y="2082800"/>
            <a:ext cx="4635500" cy="317500"/>
          </a:xfrm>
          <a:prstGeom prst="rect">
            <a:avLst/>
          </a:prstGeom>
          <a:noFill/>
          <a:ln/>
        </p:spPr>
        <p:txBody>
          <a:bodyPr wrap="square" lIns="0" tIns="0" rIns="0" bIns="0" rtlCol="0" anchor="t"/>
          <a:lstStyle/>
          <a:p>
            <a:pPr indent="0" marL="0">
              <a:lnSpc>
                <a:spcPct val="115000"/>
              </a:lnSpc>
              <a:buNone/>
            </a:pPr>
            <a:r>
              <a:rPr lang="en-US" sz="2000" b="1" dirty="0">
                <a:solidFill>
                  <a:srgbClr val="14202E"/>
                </a:solidFill>
                <a:latin typeface="Calibri" pitchFamily="34" charset="0"/>
                <a:ea typeface="Calibri" pitchFamily="34" charset="-122"/>
                <a:cs typeface="Calibri" pitchFamily="34" charset="-120"/>
              </a:rPr>
              <a:t>Frequenz</a:t>
            </a:r>
            <a:endParaRPr lang="en-US" sz="2000" dirty="0"/>
          </a:p>
        </p:txBody>
      </p:sp>
      <p:pic>
        <p:nvPicPr>
          <p:cNvPr id="13" name="Image 3" descr="f">    </p:cNvPr>
          <p:cNvPicPr>
            <a:picLocks noChangeAspect="1"/>
          </p:cNvPicPr>
          <p:nvPr/>
        </p:nvPicPr>
        <p:blipFill>
          <a:blip r:embed="rId4"/>
          <a:stretch>
            <a:fillRect/>
          </a:stretch>
        </p:blipFill>
        <p:spPr>
          <a:xfrm>
            <a:off x="6527800" y="2540000"/>
            <a:ext cx="3028950" cy="546100"/>
          </a:xfrm>
          <a:prstGeom prst="rect">
            <a:avLst/>
          </a:prstGeom>
        </p:spPr>
      </p:pic>
      <p:sp>
        <p:nvSpPr>
          <p:cNvPr id="14" name="Shape 7"/>
          <p:cNvSpPr/>
          <p:nvPr/>
        </p:nvSpPr>
        <p:spPr>
          <a:xfrm>
            <a:off x="6299200" y="3492500"/>
            <a:ext cx="5080000" cy="1968500"/>
          </a:xfrm>
          <a:prstGeom prst="roundRect">
            <a:avLst>
              <a:gd name="adj" fmla="val 5110"/>
            </a:avLst>
          </a:prstGeom>
          <a:solidFill>
            <a:srgbClr val="FCFCFB"/>
          </a:solidFill>
          <a:ln w="9525">
            <a:solidFill>
              <a:srgbClr val="E1E0D9"/>
            </a:solidFill>
            <a:prstDash val="solid"/>
          </a:ln>
        </p:spPr>
      </p:sp>
      <p:sp>
        <p:nvSpPr>
          <p:cNvPr id="15" name="Text 8"/>
          <p:cNvSpPr txBox="1"/>
          <p:nvPr/>
        </p:nvSpPr>
        <p:spPr>
          <a:xfrm>
            <a:off x="6527800" y="3695700"/>
            <a:ext cx="4635500" cy="317500"/>
          </a:xfrm>
          <a:prstGeom prst="rect">
            <a:avLst/>
          </a:prstGeom>
          <a:noFill/>
          <a:ln/>
        </p:spPr>
        <p:txBody>
          <a:bodyPr wrap="square" lIns="0" tIns="0" rIns="0" bIns="0" rtlCol="0" anchor="t"/>
          <a:lstStyle/>
          <a:p>
            <a:pPr indent="0" marL="0">
              <a:lnSpc>
                <a:spcPct val="115000"/>
              </a:lnSpc>
              <a:buNone/>
            </a:pPr>
            <a:r>
              <a:rPr lang="en-US" sz="2000" b="1" dirty="0">
                <a:solidFill>
                  <a:srgbClr val="14202E"/>
                </a:solidFill>
                <a:latin typeface="Calibri" pitchFamily="34" charset="0"/>
                <a:ea typeface="Calibri" pitchFamily="34" charset="-122"/>
                <a:cs typeface="Calibri" pitchFamily="34" charset="-120"/>
              </a:rPr>
              <a:t>Abklingrate</a:t>
            </a:r>
            <a:endParaRPr lang="en-US" sz="2000" dirty="0"/>
          </a:p>
        </p:txBody>
      </p:sp>
      <p:pic>
        <p:nvPicPr>
          <p:cNvPr id="16" name="Image 4" descr="s">    </p:cNvPr>
          <p:cNvPicPr>
            <a:picLocks noChangeAspect="1"/>
          </p:cNvPicPr>
          <p:nvPr/>
        </p:nvPicPr>
        <p:blipFill>
          <a:blip r:embed="rId5"/>
          <a:stretch>
            <a:fillRect/>
          </a:stretch>
        </p:blipFill>
        <p:spPr>
          <a:xfrm>
            <a:off x="6527800" y="4127500"/>
            <a:ext cx="3162300" cy="546100"/>
          </a:xfrm>
          <a:prstGeom prst="rect">
            <a:avLst/>
          </a:prstGeom>
        </p:spPr>
      </p:pic>
      <p:pic>
        <p:nvPicPr>
          <p:cNvPr id="17" name="Image 5" descr="e">    </p:cNvPr>
          <p:cNvPicPr>
            <a:picLocks noChangeAspect="1"/>
          </p:cNvPicPr>
          <p:nvPr/>
        </p:nvPicPr>
        <p:blipFill>
          <a:blip r:embed="rId6"/>
          <a:stretch>
            <a:fillRect/>
          </a:stretch>
        </p:blipFill>
        <p:spPr>
          <a:xfrm>
            <a:off x="6527800" y="4889500"/>
            <a:ext cx="1193800" cy="317500"/>
          </a:xfrm>
          <a:prstGeom prst="rect">
            <a:avLst/>
          </a:prstGeom>
        </p:spPr>
      </p:pic>
      <p:sp>
        <p:nvSpPr>
          <p:cNvPr id="18" name="Text 9"/>
          <p:cNvSpPr txBox="1"/>
          <p:nvPr/>
        </p:nvSpPr>
        <p:spPr>
          <a:xfrm>
            <a:off x="7848600" y="4953000"/>
            <a:ext cx="3429000" cy="266700"/>
          </a:xfrm>
          <a:prstGeom prst="rect">
            <a:avLst/>
          </a:prstGeom>
          <a:noFill/>
          <a:ln/>
        </p:spPr>
        <p:txBody>
          <a:bodyPr wrap="square" lIns="0" tIns="0" rIns="0" bIns="0" rtlCol="0" anchor="t"/>
          <a:lstStyle/>
          <a:p>
            <a:pPr indent="0" marL="0">
              <a:lnSpc>
                <a:spcPct val="115000"/>
              </a:lnSpc>
              <a:buNone/>
            </a:pPr>
            <a:r>
              <a:rPr lang="en-US" sz="1200" dirty="0">
                <a:solidFill>
                  <a:srgbClr val="44505E"/>
                </a:solidFill>
                <a:latin typeface="Calibri" pitchFamily="34" charset="0"/>
                <a:ea typeface="Calibri" pitchFamily="34" charset="-122"/>
                <a:cs typeface="Calibri" pitchFamily="34" charset="-120"/>
              </a:rPr>
              <a:t>Nach 1 s bleiben 82,6 % der Amplitude.</a:t>
            </a:r>
            <a:endParaRPr lang="en-US" sz="1200" dirty="0"/>
          </a:p>
        </p:txBody>
      </p:sp>
      <p:sp>
        <p:nvSpPr>
          <p:cNvPr id="25" name="Slide Number Placeholder 0"/>
          <p:cNvSpPr>
            <a:spLocks noGrp="1"/>
          </p:cNvSpPr>
          <p:nvPr>
            <p:ph type="sldNum" sz="quarter" idx="4294967295"/>
          </p:nvPr>
        </p:nvSpPr>
        <p:spPr>
          <a:xfrm>
            <a:off x="10795000" y="6426200"/>
            <a:ext cx="5842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5F6873"/>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812800" y="812800"/>
            <a:ext cx="10566400" cy="215900"/>
          </a:xfrm>
          <a:prstGeom prst="rect">
            <a:avLst/>
          </a:prstGeom>
          <a:noFill/>
          <a:ln/>
        </p:spPr>
        <p:txBody>
          <a:bodyPr wrap="square" lIns="0" tIns="0" rIns="0" bIns="0" rtlCol="0" anchor="t"/>
          <a:lstStyle/>
          <a:p>
            <a:pPr indent="0" marL="0">
              <a:lnSpc>
                <a:spcPct val="115000"/>
              </a:lnSpc>
              <a:buNone/>
            </a:pPr>
            <a:r>
              <a:rPr lang="en-US" sz="1200" spc="100" kern="0" dirty="0">
                <a:solidFill>
                  <a:srgbClr val="1C5CAB"/>
                </a:solidFill>
                <a:latin typeface="Consolas" pitchFamily="34" charset="0"/>
                <a:ea typeface="Consolas" pitchFamily="34" charset="-122"/>
                <a:cs typeface="Consolas" pitchFamily="34" charset="-120"/>
              </a:rPr>
              <a:t>PRÜFSTUFE 1 · SYNTHETISCHES SIGNAL</a:t>
            </a:r>
            <a:endParaRPr lang="en-US" sz="1200" dirty="0"/>
          </a:p>
        </p:txBody>
      </p:sp>
      <p:sp>
        <p:nvSpPr>
          <p:cNvPr id="3" name="Text 0"/>
          <p:cNvSpPr/>
          <p:nvPr>
            <p:ph idx="100" type="title" hasCustomPrompt="1"/>
          </p:nvPr>
        </p:nvSpPr>
        <p:spPr>
          <a:xfrm>
            <a:off x="812800" y="1104900"/>
            <a:ext cx="10566400" cy="508000"/>
          </a:xfrm>
          <a:prstGeom prst="rect">
            <a:avLst/>
          </a:prstGeom>
          <a:noFill/>
          <a:ln/>
        </p:spPr>
        <p:txBody>
          <a:bodyPr wrap="square" lIns="0" tIns="0" rIns="0" bIns="0" rtlCol="0" anchor="t"/>
          <a:lstStyle/>
          <a:p>
            <a:pPr algn="l" indent="0" marL="0">
              <a:buNone/>
            </a:pPr>
            <a:r>
              <a:rPr lang="en-US" sz="3200" b="1" dirty="0">
                <a:solidFill>
                  <a:srgbClr val="14202E"/>
                </a:solidFill>
                <a:latin typeface="Calibri" pitchFamily="34" charset="0"/>
                <a:ea typeface="Calibri" pitchFamily="34" charset="-122"/>
                <a:cs typeface="Calibri" pitchFamily="34" charset="-120"/>
              </a:rPr>
              <a:t>Bekannte Sollkurve: Rechenweg exakt</a:t>
            </a:r>
            <a:endParaRPr lang="en-US" sz="3200" dirty="0"/>
          </a:p>
        </p:txBody>
      </p:sp>
      <p:sp>
        <p:nvSpPr>
          <p:cNvPr id="4" name="Text 2"/>
          <p:cNvSpPr txBox="1"/>
          <p:nvPr/>
        </p:nvSpPr>
        <p:spPr>
          <a:xfrm>
            <a:off x="812800" y="6426200"/>
            <a:ext cx="9779000" cy="228600"/>
          </a:xfrm>
          <a:prstGeom prst="rect">
            <a:avLst/>
          </a:prstGeom>
          <a:noFill/>
          <a:ln/>
        </p:spPr>
        <p:txBody>
          <a:bodyPr wrap="square" lIns="0" tIns="0" rIns="0" bIns="0" rtlCol="0" anchor="t"/>
          <a:lstStyle/>
          <a:p>
            <a:pPr indent="0" marL="0">
              <a:lnSpc>
                <a:spcPct val="115000"/>
              </a:lnSpc>
              <a:buNone/>
            </a:pPr>
            <a:r>
              <a:rPr lang="en-US" sz="1200" dirty="0">
                <a:solidFill>
                  <a:srgbClr val="5F6873"/>
                </a:solidFill>
                <a:latin typeface="Calibri" pitchFamily="34" charset="0"/>
                <a:ea typeface="Calibri" pitchFamily="34" charset="-122"/>
                <a:cs typeface="Calibri" pitchFamily="34" charset="-120"/>
              </a:rPr>
              <a:t>Erzeugung: examples/synthetic_reference.py · 1200 Werte, 0 bis 11,99 s, Δt = 0,01 s · Signalwert in willkürlichen Einheiten (a. E.)</a:t>
            </a:r>
            <a:endParaRPr lang="en-US" sz="1200" dirty="0"/>
          </a:p>
        </p:txBody>
      </p:sp>
      <p:pic>
        <p:nvPicPr>
          <p:cNvPr id="6" name="Image 0" descr="C:\Sevgi\projects\prony_matrix_pencil_filter\outputs\ergebnisdeck\03_sollkurve.png">    </p:cNvPr>
          <p:cNvPicPr>
            <a:picLocks noChangeAspect="1"/>
          </p:cNvPicPr>
          <p:nvPr/>
        </p:nvPicPr>
        <p:blipFill>
          <a:blip r:embed="rId1"/>
          <a:stretch>
            <a:fillRect/>
          </a:stretch>
        </p:blipFill>
        <p:spPr>
          <a:xfrm>
            <a:off x="812800" y="1879600"/>
            <a:ext cx="5080000" cy="3911600"/>
          </a:xfrm>
          <a:prstGeom prst="rect">
            <a:avLst/>
          </a:prstGeom>
        </p:spPr>
      </p:pic>
      <p:sp>
        <p:nvSpPr>
          <p:cNvPr id="7" name="Shape 3"/>
          <p:cNvSpPr/>
          <p:nvPr/>
        </p:nvSpPr>
        <p:spPr>
          <a:xfrm>
            <a:off x="812800" y="1879600"/>
            <a:ext cx="5080000" cy="3911600"/>
          </a:xfrm>
          <a:prstGeom prst="roundRect">
            <a:avLst>
              <a:gd name="adj" fmla="val 2571"/>
            </a:avLst>
          </a:prstGeom>
          <a:ln w="9525">
            <a:solidFill>
              <a:srgbClr val="E1E0D9"/>
            </a:solidFill>
            <a:prstDash val="solid"/>
          </a:ln>
        </p:spPr>
      </p:sp>
      <p:sp>
        <p:nvSpPr>
          <p:cNvPr id="8" name="Text 4"/>
          <p:cNvSpPr txBox="1"/>
          <p:nvPr/>
        </p:nvSpPr>
        <p:spPr>
          <a:xfrm>
            <a:off x="6248400" y="1879600"/>
            <a:ext cx="5130800" cy="266700"/>
          </a:xfrm>
          <a:prstGeom prst="rect">
            <a:avLst/>
          </a:prstGeom>
          <a:noFill/>
          <a:ln/>
        </p:spPr>
        <p:txBody>
          <a:bodyPr wrap="square" lIns="0" tIns="0" rIns="0" bIns="0" rtlCol="0" anchor="t"/>
          <a:lstStyle/>
          <a:p>
            <a:pPr indent="0" marL="0">
              <a:lnSpc>
                <a:spcPct val="115000"/>
              </a:lnSpc>
              <a:buNone/>
            </a:pPr>
            <a:r>
              <a:rPr lang="en-US" sz="1500" b="1" dirty="0">
                <a:solidFill>
                  <a:srgbClr val="14202E"/>
                </a:solidFill>
                <a:latin typeface="Calibri" pitchFamily="34" charset="0"/>
                <a:ea typeface="Calibri" pitchFamily="34" charset="-122"/>
                <a:cs typeface="Calibri" pitchFamily="34" charset="-120"/>
              </a:rPr>
              <a:t>Testsignal ab dem Sprung (τ = t − 1 s)</a:t>
            </a:r>
            <a:endParaRPr lang="en-US" sz="1500" dirty="0"/>
          </a:p>
        </p:txBody>
      </p:sp>
      <p:pic>
        <p:nvPicPr>
          <p:cNvPr id="9" name="Image 1" descr="syn">    </p:cNvPr>
          <p:cNvPicPr>
            <a:picLocks noChangeAspect="1"/>
          </p:cNvPicPr>
          <p:nvPr/>
        </p:nvPicPr>
        <p:blipFill>
          <a:blip r:embed="rId2"/>
          <a:stretch>
            <a:fillRect/>
          </a:stretch>
        </p:blipFill>
        <p:spPr>
          <a:xfrm>
            <a:off x="6248400" y="2197100"/>
            <a:ext cx="4521200" cy="482600"/>
          </a:xfrm>
          <a:prstGeom prst="rect">
            <a:avLst/>
          </a:prstGeom>
        </p:spPr>
      </p:pic>
      <p:sp>
        <p:nvSpPr>
          <p:cNvPr id="10" name="Text 5"/>
          <p:cNvSpPr txBox="1"/>
          <p:nvPr/>
        </p:nvSpPr>
        <p:spPr>
          <a:xfrm>
            <a:off x="6248400" y="2755900"/>
            <a:ext cx="5130800" cy="228600"/>
          </a:xfrm>
          <a:prstGeom prst="rect">
            <a:avLst/>
          </a:prstGeom>
          <a:noFill/>
          <a:ln/>
        </p:spPr>
        <p:txBody>
          <a:bodyPr wrap="square" lIns="0" tIns="0" rIns="0" bIns="0" rtlCol="0" anchor="t"/>
          <a:lstStyle/>
          <a:p>
            <a:pPr indent="0" marL="0">
              <a:lnSpc>
                <a:spcPct val="115000"/>
              </a:lnSpc>
              <a:buNone/>
            </a:pPr>
            <a:r>
              <a:rPr lang="en-US" sz="1200" dirty="0">
                <a:solidFill>
                  <a:srgbClr val="44505E"/>
                </a:solidFill>
                <a:latin typeface="Calibri" pitchFamily="34" charset="0"/>
                <a:ea typeface="Calibri" pitchFamily="34" charset="-122"/>
                <a:cs typeface="Calibri" pitchFamily="34" charset="-120"/>
              </a:rPr>
              <a:t>Vor 1 s gilt x = 100. Sollkurve = Eingang ohne den 2,24-Hz-Anteil.</a:t>
            </a:r>
            <a:endParaRPr lang="en-US" sz="1200" dirty="0"/>
          </a:p>
        </p:txBody>
      </p:sp>
      <p:sp>
        <p:nvSpPr>
          <p:cNvPr id="11" name="Text 6"/>
          <p:cNvSpPr txBox="1"/>
          <p:nvPr/>
        </p:nvSpPr>
        <p:spPr>
          <a:xfrm>
            <a:off x="6248400" y="3149600"/>
            <a:ext cx="5130800" cy="266700"/>
          </a:xfrm>
          <a:prstGeom prst="rect">
            <a:avLst/>
          </a:prstGeom>
          <a:noFill/>
          <a:ln/>
        </p:spPr>
        <p:txBody>
          <a:bodyPr wrap="square" lIns="0" tIns="0" rIns="0" bIns="0" rtlCol="0" anchor="t"/>
          <a:lstStyle/>
          <a:p>
            <a:pPr indent="0" marL="0">
              <a:lnSpc>
                <a:spcPct val="115000"/>
              </a:lnSpc>
              <a:buNone/>
            </a:pPr>
            <a:r>
              <a:rPr lang="en-US" sz="1500" b="1" dirty="0">
                <a:solidFill>
                  <a:srgbClr val="14202E"/>
                </a:solidFill>
                <a:latin typeface="Calibri" pitchFamily="34" charset="0"/>
                <a:ea typeface="Calibri" pitchFamily="34" charset="-122"/>
                <a:cs typeface="Calibri" pitchFamily="34" charset="-120"/>
              </a:rPr>
              <a:t>Warum die Kurven übereinanderliegen</a:t>
            </a:r>
            <a:endParaRPr lang="en-US" sz="1500" dirty="0"/>
          </a:p>
        </p:txBody>
      </p:sp>
      <p:sp>
        <p:nvSpPr>
          <p:cNvPr id="12" name="Text 7"/>
          <p:cNvSpPr txBox="1"/>
          <p:nvPr/>
        </p:nvSpPr>
        <p:spPr>
          <a:xfrm>
            <a:off x="6248400" y="3467100"/>
            <a:ext cx="5130800" cy="838200"/>
          </a:xfrm>
          <a:prstGeom prst="rect">
            <a:avLst/>
          </a:prstGeom>
          <a:noFill/>
          <a:ln/>
        </p:spPr>
        <p:txBody>
          <a:bodyPr wrap="square" lIns="0" tIns="0" rIns="0" bIns="0" rtlCol="0" anchor="t"/>
          <a:lstStyle/>
          <a:p>
            <a:pPr indent="0" marL="0">
              <a:lnSpc>
                <a:spcPct val="115000"/>
              </a:lnSpc>
              <a:buNone/>
            </a:pPr>
            <a:r>
              <a:rPr lang="en-US" sz="1500" dirty="0">
                <a:solidFill>
                  <a:srgbClr val="44505E"/>
                </a:solidFill>
                <a:latin typeface="Calibri" pitchFamily="34" charset="0"/>
                <a:ea typeface="Calibri" pitchFamily="34" charset="-122"/>
                <a:cs typeface="Calibri" pitchFamily="34" charset="-120"/>
              </a:rPr>
              <a:t>Das Signal ist exakt eine Summe gedämpfter Schwingungen. Mit Ordnung 5 findet Matrix Pencil alle Pole exakt und zieht genau den 2,24-Hz-Anteil ab.</a:t>
            </a:r>
            <a:endParaRPr lang="en-US" sz="1500" dirty="0"/>
          </a:p>
        </p:txBody>
      </p:sp>
      <p:sp>
        <p:nvSpPr>
          <p:cNvPr id="13" name="Text 8"/>
          <p:cNvSpPr txBox="1"/>
          <p:nvPr/>
        </p:nvSpPr>
        <p:spPr>
          <a:xfrm>
            <a:off x="6248400" y="4419600"/>
            <a:ext cx="5130800" cy="266700"/>
          </a:xfrm>
          <a:prstGeom prst="rect">
            <a:avLst/>
          </a:prstGeom>
          <a:noFill/>
          <a:ln/>
        </p:spPr>
        <p:txBody>
          <a:bodyPr wrap="square" lIns="0" tIns="0" rIns="0" bIns="0" rtlCol="0" anchor="t"/>
          <a:lstStyle/>
          <a:p>
            <a:pPr indent="0" marL="0">
              <a:lnSpc>
                <a:spcPct val="115000"/>
              </a:lnSpc>
              <a:buNone/>
            </a:pPr>
            <a:r>
              <a:rPr lang="en-US" sz="1500" b="1" dirty="0">
                <a:solidFill>
                  <a:srgbClr val="14202E"/>
                </a:solidFill>
                <a:latin typeface="Calibri" pitchFamily="34" charset="0"/>
                <a:ea typeface="Calibri" pitchFamily="34" charset="-122"/>
                <a:cs typeface="Calibri" pitchFamily="34" charset="-120"/>
              </a:rPr>
              <a:t>Ergebnis</a:t>
            </a:r>
            <a:endParaRPr lang="en-US" sz="1500" dirty="0"/>
          </a:p>
        </p:txBody>
      </p:sp>
      <p:sp>
        <p:nvSpPr>
          <p:cNvPr id="14" name="Text 9"/>
          <p:cNvSpPr txBox="1"/>
          <p:nvPr/>
        </p:nvSpPr>
        <p:spPr>
          <a:xfrm>
            <a:off x="6248400" y="4737100"/>
            <a:ext cx="5130800" cy="571500"/>
          </a:xfrm>
          <a:prstGeom prst="rect">
            <a:avLst/>
          </a:prstGeom>
          <a:noFill/>
          <a:ln/>
        </p:spPr>
        <p:txBody>
          <a:bodyPr wrap="square" lIns="0" tIns="0" rIns="0" bIns="0" rtlCol="0" anchor="t"/>
          <a:lstStyle/>
          <a:p>
            <a:pPr indent="0" marL="0">
              <a:lnSpc>
                <a:spcPct val="115000"/>
              </a:lnSpc>
              <a:buNone/>
            </a:pPr>
            <a:r>
              <a:rPr lang="en-US" sz="1500" dirty="0">
                <a:solidFill>
                  <a:srgbClr val="44505E"/>
                </a:solidFill>
                <a:latin typeface="Calibri" pitchFamily="34" charset="0"/>
                <a:ea typeface="Calibri" pitchFamily="34" charset="-122"/>
                <a:cs typeface="Calibri" pitchFamily="34" charset="-120"/>
              </a:rPr>
              <a:t>Größte Differenz über alle 1200 Werte: 6,7 · 10⁻¹³, also Rundung der Gleitkommarechnung.</a:t>
            </a:r>
            <a:endParaRPr lang="en-US" sz="1500" dirty="0"/>
          </a:p>
        </p:txBody>
      </p:sp>
      <p:sp>
        <p:nvSpPr>
          <p:cNvPr id="25" name="Slide Number Placeholder 0"/>
          <p:cNvSpPr>
            <a:spLocks noGrp="1"/>
          </p:cNvSpPr>
          <p:nvPr>
            <p:ph type="sldNum" sz="quarter" idx="4294967295"/>
          </p:nvPr>
        </p:nvSpPr>
        <p:spPr>
          <a:xfrm>
            <a:off x="10795000" y="6426200"/>
            <a:ext cx="5842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5F6873"/>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812800" y="812800"/>
            <a:ext cx="10566400" cy="215900"/>
          </a:xfrm>
          <a:prstGeom prst="rect">
            <a:avLst/>
          </a:prstGeom>
          <a:noFill/>
          <a:ln/>
        </p:spPr>
        <p:txBody>
          <a:bodyPr wrap="square" lIns="0" tIns="0" rIns="0" bIns="0" rtlCol="0" anchor="t"/>
          <a:lstStyle/>
          <a:p>
            <a:pPr indent="0" marL="0">
              <a:lnSpc>
                <a:spcPct val="115000"/>
              </a:lnSpc>
              <a:buNone/>
            </a:pPr>
            <a:r>
              <a:rPr lang="en-US" sz="1200" spc="100" kern="0" dirty="0">
                <a:solidFill>
                  <a:srgbClr val="1C5CAB"/>
                </a:solidFill>
                <a:latin typeface="Consolas" pitchFamily="34" charset="0"/>
                <a:ea typeface="Consolas" pitchFamily="34" charset="-122"/>
                <a:cs typeface="Consolas" pitchFamily="34" charset="-120"/>
              </a:rPr>
              <a:t>PRÜFSTUFE 2 · NIST LANCZOS1</a:t>
            </a:r>
            <a:endParaRPr lang="en-US" sz="1200" dirty="0"/>
          </a:p>
        </p:txBody>
      </p:sp>
      <p:sp>
        <p:nvSpPr>
          <p:cNvPr id="3" name="Text 0"/>
          <p:cNvSpPr/>
          <p:nvPr>
            <p:ph idx="100" type="title" hasCustomPrompt="1"/>
          </p:nvPr>
        </p:nvSpPr>
        <p:spPr>
          <a:xfrm>
            <a:off x="812800" y="1104900"/>
            <a:ext cx="10566400" cy="508000"/>
          </a:xfrm>
          <a:prstGeom prst="rect">
            <a:avLst/>
          </a:prstGeom>
          <a:noFill/>
          <a:ln/>
        </p:spPr>
        <p:txBody>
          <a:bodyPr wrap="square" lIns="0" tIns="0" rIns="0" bIns="0" rtlCol="0" anchor="t"/>
          <a:lstStyle/>
          <a:p>
            <a:pPr algn="l" indent="0" marL="0">
              <a:buNone/>
            </a:pPr>
            <a:r>
              <a:rPr lang="en-US" sz="3200" b="1" dirty="0">
                <a:solidFill>
                  <a:srgbClr val="14202E"/>
                </a:solidFill>
                <a:latin typeface="Calibri" pitchFamily="34" charset="0"/>
                <a:ea typeface="Calibri" pitchFamily="34" charset="-122"/>
                <a:cs typeface="Calibri" pitchFamily="34" charset="-120"/>
              </a:rPr>
              <a:t>NIST: zertifizierte Parameter wiedergefunden</a:t>
            </a:r>
            <a:endParaRPr lang="en-US" sz="3200" dirty="0"/>
          </a:p>
        </p:txBody>
      </p:sp>
      <p:sp>
        <p:nvSpPr>
          <p:cNvPr id="4" name="Text 2"/>
          <p:cNvSpPr txBox="1"/>
          <p:nvPr/>
        </p:nvSpPr>
        <p:spPr>
          <a:xfrm>
            <a:off x="812800" y="6426200"/>
            <a:ext cx="9779000" cy="228600"/>
          </a:xfrm>
          <a:prstGeom prst="rect">
            <a:avLst/>
          </a:prstGeom>
          <a:noFill/>
          <a:ln/>
        </p:spPr>
        <p:txBody>
          <a:bodyPr wrap="square" lIns="0" tIns="0" rIns="0" bIns="0" rtlCol="0" anchor="t"/>
          <a:lstStyle/>
          <a:p>
            <a:pPr indent="0" marL="0">
              <a:lnSpc>
                <a:spcPct val="115000"/>
              </a:lnSpc>
              <a:buNone/>
            </a:pPr>
            <a:r>
              <a:rPr lang="en-US" sz="1200" dirty="0">
                <a:solidFill>
                  <a:srgbClr val="5F6873"/>
                </a:solidFill>
                <a:latin typeface="Calibri" pitchFamily="34" charset="0"/>
                <a:ea typeface="Calibri" pitchFamily="34" charset="-122"/>
                <a:cs typeface="Calibri" pitchFamily="34" charset="-120"/>
              </a:rPr>
              <a:t>Quelle: NIST StRD, Datensatz Lanczos1 nach Lanczos (1956), zertifizierte Werte mit 11 Stellen · Ordnung 3, ohne Mittelwertabzug</a:t>
            </a:r>
            <a:endParaRPr lang="en-US" sz="1200" dirty="0"/>
          </a:p>
        </p:txBody>
      </p:sp>
      <p:pic>
        <p:nvPicPr>
          <p:cNvPr id="6" name="Image 0" descr="C:\Sevgi\projects\prony_matrix_pencil_filter\outputs\ergebnisdeck\04_nist.png">    </p:cNvPr>
          <p:cNvPicPr>
            <a:picLocks noChangeAspect="1"/>
          </p:cNvPicPr>
          <p:nvPr/>
        </p:nvPicPr>
        <p:blipFill>
          <a:blip r:embed="rId1"/>
          <a:stretch>
            <a:fillRect/>
          </a:stretch>
        </p:blipFill>
        <p:spPr>
          <a:xfrm>
            <a:off x="812800" y="1879600"/>
            <a:ext cx="5588000" cy="3911600"/>
          </a:xfrm>
          <a:prstGeom prst="rect">
            <a:avLst/>
          </a:prstGeom>
        </p:spPr>
      </p:pic>
      <p:sp>
        <p:nvSpPr>
          <p:cNvPr id="7" name="Shape 3"/>
          <p:cNvSpPr/>
          <p:nvPr/>
        </p:nvSpPr>
        <p:spPr>
          <a:xfrm>
            <a:off x="812800" y="1879600"/>
            <a:ext cx="5588000" cy="3911600"/>
          </a:xfrm>
          <a:prstGeom prst="roundRect">
            <a:avLst>
              <a:gd name="adj" fmla="val 2571"/>
            </a:avLst>
          </a:prstGeom>
          <a:ln w="9525">
            <a:solidFill>
              <a:srgbClr val="E1E0D9"/>
            </a:solidFill>
            <a:prstDash val="solid"/>
          </a:ln>
        </p:spPr>
      </p:sp>
      <p:sp>
        <p:nvSpPr>
          <p:cNvPr id="8" name="Text 4"/>
          <p:cNvSpPr txBox="1"/>
          <p:nvPr/>
        </p:nvSpPr>
        <p:spPr>
          <a:xfrm>
            <a:off x="6756400" y="1879600"/>
            <a:ext cx="4622800" cy="444500"/>
          </a:xfrm>
          <a:prstGeom prst="rect">
            <a:avLst/>
          </a:prstGeom>
          <a:noFill/>
          <a:ln/>
        </p:spPr>
        <p:txBody>
          <a:bodyPr wrap="square" lIns="0" tIns="0" rIns="0" bIns="0" rtlCol="0" anchor="t"/>
          <a:lstStyle/>
          <a:p>
            <a:pPr indent="0" marL="0">
              <a:lnSpc>
                <a:spcPct val="115000"/>
              </a:lnSpc>
              <a:buNone/>
            </a:pPr>
            <a:r>
              <a:rPr lang="en-US" sz="1200" dirty="0">
                <a:solidFill>
                  <a:srgbClr val="44505E"/>
                </a:solidFill>
                <a:latin typeface="Calibri" pitchFamily="34" charset="0"/>
                <a:ea typeface="Calibri" pitchFamily="34" charset="-122"/>
                <a:cs typeface="Calibri" pitchFamily="34" charset="-120"/>
              </a:rPr>
              <a:t>24 Werte, x = 0 bis 1,15 in Schritten von 0,05, aus drei abklingenden Anteilen:</a:t>
            </a:r>
            <a:endParaRPr lang="en-US" sz="1200" dirty="0"/>
          </a:p>
        </p:txBody>
      </p:sp>
      <p:pic>
        <p:nvPicPr>
          <p:cNvPr id="9" name="Image 1" descr="nist">    </p:cNvPr>
          <p:cNvPicPr>
            <a:picLocks noChangeAspect="1"/>
          </p:cNvPicPr>
          <p:nvPr/>
        </p:nvPicPr>
        <p:blipFill>
          <a:blip r:embed="rId2"/>
          <a:stretch>
            <a:fillRect/>
          </a:stretch>
        </p:blipFill>
        <p:spPr>
          <a:xfrm>
            <a:off x="6756400" y="2362200"/>
            <a:ext cx="2762250" cy="323850"/>
          </a:xfrm>
          <a:prstGeom prst="rect">
            <a:avLst/>
          </a:prstGeom>
        </p:spPr>
      </p:pic>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756400" y="2832100"/>
          <a:ext cx="4622800" cy="914400"/>
        </p:xfrm>
        <a:graphic>
          <a:graphicData uri="http://schemas.openxmlformats.org/drawingml/2006/table">
            <a:tbl>
              <a:tblPr/>
              <a:tblGrid>
                <a:gridCol w="762000"/>
                <a:gridCol w="1270000"/>
                <a:gridCol w="1143000"/>
                <a:gridCol w="1447800"/>
              </a:tblGrid>
              <a:tr h="0">
                <a:tc>
                  <a:txBody>
                    <a:bodyPr/>
                    <a:lstStyle/>
                    <a:p>
                      <a:pPr algn="l" indent="0" marL="0">
                        <a:buNone/>
                      </a:pPr>
                      <a:r>
                        <a:rPr lang="en-US" sz="1200" b="1" dirty="0">
                          <a:solidFill>
                            <a:srgbClr val="14202E"/>
                          </a:solidFill>
                          <a:latin typeface="Calibri" pitchFamily="34" charset="0"/>
                          <a:ea typeface="Calibri" pitchFamily="34" charset="-122"/>
                          <a:cs typeface="Calibri" pitchFamily="34" charset="-120"/>
                        </a:rPr>
                        <a:t>Anteil</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E9E8E2"/>
                    </a:solidFill>
                  </a:tcPr>
                </a:tc>
                <a:tc>
                  <a:txBody>
                    <a:bodyPr/>
                    <a:lstStyle/>
                    <a:p>
                      <a:pPr algn="r" indent="0" marL="0">
                        <a:buNone/>
                      </a:pPr>
                      <a:r>
                        <a:rPr lang="en-US" sz="1200" b="1" dirty="0">
                          <a:solidFill>
                            <a:srgbClr val="14202E"/>
                          </a:solidFill>
                          <a:latin typeface="Calibri" pitchFamily="34" charset="0"/>
                          <a:ea typeface="Calibri" pitchFamily="34" charset="-122"/>
                          <a:cs typeface="Calibri" pitchFamily="34" charset="-120"/>
                        </a:rPr>
                        <a:t>Gewicht</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E9E8E2"/>
                    </a:solidFill>
                  </a:tcPr>
                </a:tc>
                <a:tc>
                  <a:txBody>
                    <a:bodyPr/>
                    <a:lstStyle/>
                    <a:p>
                      <a:pPr algn="r" indent="0" marL="0">
                        <a:buNone/>
                      </a:pPr>
                      <a:r>
                        <a:rPr lang="en-US" sz="1200" b="1" dirty="0">
                          <a:solidFill>
                            <a:srgbClr val="14202E"/>
                          </a:solidFill>
                          <a:latin typeface="Calibri" pitchFamily="34" charset="0"/>
                          <a:ea typeface="Calibri" pitchFamily="34" charset="-122"/>
                          <a:cs typeface="Calibri" pitchFamily="34" charset="-120"/>
                        </a:rPr>
                        <a:t>Abklingrate</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E9E8E2"/>
                    </a:solidFill>
                  </a:tcPr>
                </a:tc>
                <a:tc>
                  <a:txBody>
                    <a:bodyPr/>
                    <a:lstStyle/>
                    <a:p>
                      <a:pPr algn="r" indent="0" marL="0">
                        <a:buNone/>
                      </a:pPr>
                      <a:r>
                        <a:rPr lang="en-US" sz="1200" b="1" dirty="0">
                          <a:solidFill>
                            <a:srgbClr val="14202E"/>
                          </a:solidFill>
                          <a:latin typeface="Calibri" pitchFamily="34" charset="0"/>
                          <a:ea typeface="Calibri" pitchFamily="34" charset="-122"/>
                          <a:cs typeface="Calibri" pitchFamily="34" charset="-120"/>
                        </a:rPr>
                        <a:t>Abweichung MP</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E9E8E2"/>
                    </a:solidFill>
                  </a:tcPr>
                </a:tc>
              </a:tr>
              <a:tr h="0">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200" dirty="0">
                          <a:solidFill>
                            <a:srgbClr val="14202E"/>
                          </a:solidFill>
                          <a:latin typeface="Calibri" pitchFamily="34" charset="0"/>
                          <a:ea typeface="Calibri" pitchFamily="34" charset="-122"/>
                          <a:cs typeface="Calibri" pitchFamily="34" charset="-120"/>
                        </a:rPr>
                        <a:t>b₁ = 0,0951</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200" dirty="0">
                          <a:solidFill>
                            <a:srgbClr val="14202E"/>
                          </a:solidFill>
                          <a:latin typeface="Calibri" pitchFamily="34" charset="0"/>
                          <a:ea typeface="Calibri" pitchFamily="34" charset="-122"/>
                          <a:cs typeface="Calibri" pitchFamily="34" charset="-120"/>
                        </a:rPr>
                        <a:t>b₂ = 1</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200" dirty="0">
                          <a:solidFill>
                            <a:srgbClr val="14202E"/>
                          </a:solidFill>
                          <a:latin typeface="Calibri" pitchFamily="34" charset="0"/>
                          <a:ea typeface="Calibri" pitchFamily="34" charset="-122"/>
                          <a:cs typeface="Calibri" pitchFamily="34" charset="-120"/>
                        </a:rPr>
                        <a:t>3 · 10⁻¹⁰</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r>
              <a:tr h="0">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200" dirty="0">
                          <a:solidFill>
                            <a:srgbClr val="14202E"/>
                          </a:solidFill>
                          <a:latin typeface="Calibri" pitchFamily="34" charset="0"/>
                          <a:ea typeface="Calibri" pitchFamily="34" charset="-122"/>
                          <a:cs typeface="Calibri" pitchFamily="34" charset="-120"/>
                        </a:rPr>
                        <a:t>b₃ = 0,8607</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200" dirty="0">
                          <a:solidFill>
                            <a:srgbClr val="14202E"/>
                          </a:solidFill>
                          <a:latin typeface="Calibri" pitchFamily="34" charset="0"/>
                          <a:ea typeface="Calibri" pitchFamily="34" charset="-122"/>
                          <a:cs typeface="Calibri" pitchFamily="34" charset="-120"/>
                        </a:rPr>
                        <a:t>b₄ = 3</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200" dirty="0">
                          <a:solidFill>
                            <a:srgbClr val="14202E"/>
                          </a:solidFill>
                          <a:latin typeface="Calibri" pitchFamily="34" charset="0"/>
                          <a:ea typeface="Calibri" pitchFamily="34" charset="-122"/>
                          <a:cs typeface="Calibri" pitchFamily="34" charset="-120"/>
                        </a:rPr>
                        <a:t>8 · 10⁻¹¹</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r>
              <a:tr h="0">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200" dirty="0">
                          <a:solidFill>
                            <a:srgbClr val="14202E"/>
                          </a:solidFill>
                          <a:latin typeface="Calibri" pitchFamily="34" charset="0"/>
                          <a:ea typeface="Calibri" pitchFamily="34" charset="-122"/>
                          <a:cs typeface="Calibri" pitchFamily="34" charset="-120"/>
                        </a:rPr>
                        <a:t>b₅ = 1,5576</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200" dirty="0">
                          <a:solidFill>
                            <a:srgbClr val="14202E"/>
                          </a:solidFill>
                          <a:latin typeface="Calibri" pitchFamily="34" charset="0"/>
                          <a:ea typeface="Calibri" pitchFamily="34" charset="-122"/>
                          <a:cs typeface="Calibri" pitchFamily="34" charset="-120"/>
                        </a:rPr>
                        <a:t>b₆ = 5</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200" dirty="0">
                          <a:solidFill>
                            <a:srgbClr val="14202E"/>
                          </a:solidFill>
                          <a:latin typeface="Calibri" pitchFamily="34" charset="0"/>
                          <a:ea typeface="Calibri" pitchFamily="34" charset="-122"/>
                          <a:cs typeface="Calibri" pitchFamily="34" charset="-120"/>
                        </a:rPr>
                        <a:t>4 · 10⁻¹¹</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r>
            </a:tbl>
          </a:graphicData>
        </a:graphic>
      </p:graphicFrame>
      <p:sp>
        <p:nvSpPr>
          <p:cNvPr id="11" name="Text 5"/>
          <p:cNvSpPr txBox="1"/>
          <p:nvPr/>
        </p:nvSpPr>
        <p:spPr>
          <a:xfrm>
            <a:off x="6756400" y="4064000"/>
            <a:ext cx="4622800" cy="444500"/>
          </a:xfrm>
          <a:prstGeom prst="rect">
            <a:avLst/>
          </a:prstGeom>
          <a:noFill/>
          <a:ln/>
        </p:spPr>
        <p:txBody>
          <a:bodyPr wrap="square" lIns="0" tIns="0" rIns="0" bIns="0" rtlCol="0" anchor="t"/>
          <a:lstStyle/>
          <a:p>
            <a:pPr indent="0" marL="0">
              <a:lnSpc>
                <a:spcPct val="115000"/>
              </a:lnSpc>
              <a:buNone/>
            </a:pPr>
            <a:r>
              <a:rPr lang="en-US" sz="1200" dirty="0">
                <a:solidFill>
                  <a:srgbClr val="44505E"/>
                </a:solidFill>
                <a:latin typeface="Calibri" pitchFamily="34" charset="0"/>
                <a:ea typeface="Calibri" pitchFamily="34" charset="-122"/>
                <a:cs typeface="Calibri" pitchFamily="34" charset="-120"/>
              </a:rPr>
              <a:t>Gewicht und Rate: zertifizierte NIST-Werte. Abweichung: größte relative Abweichung der Matrix-Pencil-Schätzung davon.</a:t>
            </a:r>
            <a:endParaRPr lang="en-US" sz="1200" dirty="0"/>
          </a:p>
        </p:txBody>
      </p:sp>
      <p:sp>
        <p:nvSpPr>
          <p:cNvPr id="12" name="Text 6"/>
          <p:cNvSpPr txBox="1"/>
          <p:nvPr/>
        </p:nvSpPr>
        <p:spPr>
          <a:xfrm>
            <a:off x="6756400" y="4584700"/>
            <a:ext cx="4622800" cy="825500"/>
          </a:xfrm>
          <a:prstGeom prst="rect">
            <a:avLst/>
          </a:prstGeom>
          <a:noFill/>
          <a:ln/>
        </p:spPr>
        <p:txBody>
          <a:bodyPr wrap="square" lIns="0" tIns="0" rIns="0" bIns="0" rtlCol="0" anchor="t"/>
          <a:lstStyle/>
          <a:p>
            <a:pPr indent="0" marL="0">
              <a:lnSpc>
                <a:spcPct val="115000"/>
              </a:lnSpc>
              <a:buNone/>
            </a:pPr>
            <a:r>
              <a:rPr lang="en-US" sz="1500" dirty="0">
                <a:solidFill>
                  <a:srgbClr val="44505E"/>
                </a:solidFill>
                <a:latin typeface="Calibri" pitchFamily="34" charset="0"/>
                <a:ea typeface="Calibri" pitchFamily="34" charset="-122"/>
                <a:cs typeface="Calibri" pitchFamily="34" charset="-120"/>
              </a:rPr>
              <a:t>Jeder Anteil ergibt einen reellen Pol z = exp(−0,05·b), hier 0,951, 0,861 und 0,779: Winkel null, also keine Schwingung.</a:t>
            </a:r>
            <a:endParaRPr lang="en-US" sz="1500" dirty="0"/>
          </a:p>
        </p:txBody>
      </p:sp>
      <p:sp>
        <p:nvSpPr>
          <p:cNvPr id="13" name="Text 7"/>
          <p:cNvSpPr txBox="1"/>
          <p:nvPr/>
        </p:nvSpPr>
        <p:spPr>
          <a:xfrm>
            <a:off x="6756400" y="5245100"/>
            <a:ext cx="4622800" cy="266700"/>
          </a:xfrm>
          <a:prstGeom prst="rect">
            <a:avLst/>
          </a:prstGeom>
          <a:noFill/>
          <a:ln/>
        </p:spPr>
        <p:txBody>
          <a:bodyPr wrap="square" lIns="0" tIns="0" rIns="0" bIns="0" rtlCol="0" anchor="t"/>
          <a:lstStyle/>
          <a:p>
            <a:pPr indent="0" marL="0">
              <a:lnSpc>
                <a:spcPct val="115000"/>
              </a:lnSpc>
              <a:buNone/>
            </a:pPr>
            <a:r>
              <a:rPr lang="en-US" sz="1500" b="1" dirty="0">
                <a:solidFill>
                  <a:srgbClr val="14202E"/>
                </a:solidFill>
                <a:latin typeface="Calibri" pitchFamily="34" charset="0"/>
                <a:ea typeface="Calibri" pitchFamily="34" charset="-122"/>
                <a:cs typeface="Calibri" pitchFamily="34" charset="-120"/>
              </a:rPr>
              <a:t>Relativer Modellfehler: 8,74 · 10⁻¹⁴</a:t>
            </a:r>
            <a:endParaRPr lang="en-US" sz="1500" dirty="0"/>
          </a:p>
        </p:txBody>
      </p:sp>
      <p:sp>
        <p:nvSpPr>
          <p:cNvPr id="25" name="Slide Number Placeholder 0"/>
          <p:cNvSpPr>
            <a:spLocks noGrp="1"/>
          </p:cNvSpPr>
          <p:nvPr>
            <p:ph type="sldNum" sz="quarter" idx="4294967295"/>
          </p:nvPr>
        </p:nvSpPr>
        <p:spPr>
          <a:xfrm>
            <a:off x="10795000" y="6426200"/>
            <a:ext cx="5842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5F6873"/>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812800" y="812800"/>
            <a:ext cx="10566400" cy="215900"/>
          </a:xfrm>
          <a:prstGeom prst="rect">
            <a:avLst/>
          </a:prstGeom>
          <a:noFill/>
          <a:ln/>
        </p:spPr>
        <p:txBody>
          <a:bodyPr wrap="square" lIns="0" tIns="0" rIns="0" bIns="0" rtlCol="0" anchor="t"/>
          <a:lstStyle/>
          <a:p>
            <a:pPr indent="0" marL="0">
              <a:lnSpc>
                <a:spcPct val="115000"/>
              </a:lnSpc>
              <a:buNone/>
            </a:pPr>
            <a:r>
              <a:rPr lang="en-US" sz="1200" spc="100" kern="0" dirty="0">
                <a:solidFill>
                  <a:srgbClr val="B5491B"/>
                </a:solidFill>
                <a:latin typeface="Consolas" pitchFamily="34" charset="0"/>
                <a:ea typeface="Consolas" pitchFamily="34" charset="-122"/>
                <a:cs typeface="Consolas" pitchFamily="34" charset="-120"/>
              </a:rPr>
              <a:t>PRÜFSTUFE 3 · REALE FREMDMESSUNG</a:t>
            </a:r>
            <a:endParaRPr lang="en-US" sz="1200" dirty="0"/>
          </a:p>
        </p:txBody>
      </p:sp>
      <p:sp>
        <p:nvSpPr>
          <p:cNvPr id="3" name="Text 0"/>
          <p:cNvSpPr/>
          <p:nvPr>
            <p:ph idx="100" type="title" hasCustomPrompt="1"/>
          </p:nvPr>
        </p:nvSpPr>
        <p:spPr>
          <a:xfrm>
            <a:off x="812800" y="1104900"/>
            <a:ext cx="10566400" cy="508000"/>
          </a:xfrm>
          <a:prstGeom prst="rect">
            <a:avLst/>
          </a:prstGeom>
          <a:noFill/>
          <a:ln/>
        </p:spPr>
        <p:txBody>
          <a:bodyPr wrap="square" lIns="0" tIns="0" rIns="0" bIns="0" rtlCol="0" anchor="t"/>
          <a:lstStyle/>
          <a:p>
            <a:pPr algn="l" indent="0" marL="0">
              <a:buNone/>
            </a:pPr>
            <a:r>
              <a:rPr lang="en-US" sz="3200" b="1" dirty="0">
                <a:solidFill>
                  <a:srgbClr val="14202E"/>
                </a:solidFill>
                <a:latin typeface="Calibri" pitchFamily="34" charset="0"/>
                <a:ea typeface="Calibri" pitchFamily="34" charset="-122"/>
                <a:cs typeface="Calibri" pitchFamily="34" charset="-120"/>
              </a:rPr>
              <a:t>Mexiko: Frequenzen stimmen überein</a:t>
            </a:r>
            <a:endParaRPr lang="en-US" sz="3200" dirty="0"/>
          </a:p>
        </p:txBody>
      </p:sp>
      <p:sp>
        <p:nvSpPr>
          <p:cNvPr id="4" name="Text 2"/>
          <p:cNvSpPr txBox="1"/>
          <p:nvPr/>
        </p:nvSpPr>
        <p:spPr>
          <a:xfrm>
            <a:off x="812800" y="6426200"/>
            <a:ext cx="9779000" cy="228600"/>
          </a:xfrm>
          <a:prstGeom prst="rect">
            <a:avLst/>
          </a:prstGeom>
          <a:noFill/>
          <a:ln/>
        </p:spPr>
        <p:txBody>
          <a:bodyPr wrap="square" lIns="0" tIns="0" rIns="0" bIns="0" rtlCol="0" anchor="t"/>
          <a:lstStyle/>
          <a:p>
            <a:pPr indent="0" marL="0">
              <a:lnSpc>
                <a:spcPct val="115000"/>
              </a:lnSpc>
              <a:buNone/>
            </a:pPr>
            <a:r>
              <a:rPr lang="en-US" sz="1200" dirty="0">
                <a:solidFill>
                  <a:srgbClr val="5F6873"/>
                </a:solidFill>
                <a:latin typeface="Calibri" pitchFamily="34" charset="0"/>
                <a:ea typeface="Calibri" pitchFamily="34" charset="-122"/>
                <a:cs typeface="Calibri" pitchFamily="34" charset="-120"/>
              </a:rPr>
              <a:t>f in Hz, σ in 1/s · Quelle: FNET, 28.12.2020, Kanal med_1422 (Mazatlán); ROMA User Guide, Tab. 2.1 (ERA)</a:t>
            </a:r>
            <a:endParaRPr lang="en-US" sz="1200" dirty="0"/>
          </a:p>
        </p:txBody>
      </p:sp>
      <p:pic>
        <p:nvPicPr>
          <p:cNvPr id="6" name="Image 0" descr="C:\Sevgi\projects\prony_matrix_pencil_filter\outputs\ergebnisdeck\07_mexiko_messung.png">    </p:cNvPr>
          <p:cNvPicPr>
            <a:picLocks noChangeAspect="1"/>
          </p:cNvPicPr>
          <p:nvPr/>
        </p:nvPicPr>
        <p:blipFill>
          <a:blip r:embed="rId1"/>
          <a:stretch>
            <a:fillRect/>
          </a:stretch>
        </p:blipFill>
        <p:spPr>
          <a:xfrm>
            <a:off x="812800" y="1879600"/>
            <a:ext cx="5588000" cy="3492500"/>
          </a:xfrm>
          <a:prstGeom prst="rect">
            <a:avLst/>
          </a:prstGeom>
        </p:spPr>
      </p:pic>
      <p:sp>
        <p:nvSpPr>
          <p:cNvPr id="7" name="Shape 3"/>
          <p:cNvSpPr/>
          <p:nvPr/>
        </p:nvSpPr>
        <p:spPr>
          <a:xfrm>
            <a:off x="812800" y="1879600"/>
            <a:ext cx="5588000" cy="3492500"/>
          </a:xfrm>
          <a:prstGeom prst="roundRect">
            <a:avLst>
              <a:gd name="adj" fmla="val 2880"/>
            </a:avLst>
          </a:prstGeom>
          <a:ln w="9525">
            <a:solidFill>
              <a:srgbClr val="E1E0D9"/>
            </a:solidFill>
            <a:prstDash val="solid"/>
          </a:ln>
        </p:spPr>
      </p:sp>
      <p:sp>
        <p:nvSpPr>
          <p:cNvPr id="8" name="Text 4"/>
          <p:cNvSpPr txBox="1"/>
          <p:nvPr/>
        </p:nvSpPr>
        <p:spPr>
          <a:xfrm>
            <a:off x="6807200" y="1879600"/>
            <a:ext cx="4572000" cy="571500"/>
          </a:xfrm>
          <a:prstGeom prst="rect">
            <a:avLst/>
          </a:prstGeom>
          <a:noFill/>
          <a:ln/>
        </p:spPr>
        <p:txBody>
          <a:bodyPr wrap="square" lIns="0" tIns="0" rIns="0" bIns="0" rtlCol="0" anchor="t"/>
          <a:lstStyle/>
          <a:p>
            <a:pPr indent="0" marL="0">
              <a:lnSpc>
                <a:spcPct val="115000"/>
              </a:lnSpc>
              <a:buNone/>
            </a:pPr>
            <a:r>
              <a:rPr lang="en-US" sz="1500" dirty="0">
                <a:solidFill>
                  <a:srgbClr val="44505E"/>
                </a:solidFill>
                <a:latin typeface="Calibri" pitchFamily="34" charset="0"/>
                <a:ea typeface="Calibri" pitchFamily="34" charset="-122"/>
                <a:cs typeface="Calibri" pitchFamily="34" charset="-120"/>
              </a:rPr>
              <a:t>Gesucht: langsame Schwingungen der Netzfrequenz um 60 Hz, 301 Werte im Abstand 0,1 s.</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807200" y="2603500"/>
          <a:ext cx="4572000" cy="914400"/>
        </p:xfrm>
        <a:graphic>
          <a:graphicData uri="http://schemas.openxmlformats.org/drawingml/2006/table">
            <a:tbl>
              <a:tblPr/>
              <a:tblGrid>
                <a:gridCol w="825500"/>
                <a:gridCol w="952500"/>
                <a:gridCol w="825500"/>
                <a:gridCol w="889000"/>
                <a:gridCol w="1079500"/>
              </a:tblGrid>
              <a:tr h="0">
                <a:tc>
                  <a:txBody>
                    <a:bodyPr/>
                    <a:lstStyle/>
                    <a:p>
                      <a:pPr algn="r" indent="0" marL="0">
                        <a:buNone/>
                      </a:pPr>
                      <a:r>
                        <a:rPr lang="en-US" sz="1200" b="1" dirty="0">
                          <a:solidFill>
                            <a:srgbClr val="14202E"/>
                          </a:solidFill>
                          <a:latin typeface="Calibri" pitchFamily="34" charset="0"/>
                          <a:ea typeface="Calibri" pitchFamily="34" charset="-122"/>
                          <a:cs typeface="Calibri" pitchFamily="34" charset="-120"/>
                        </a:rPr>
                        <a:t>f Autoren</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E9E8E2"/>
                    </a:solidFill>
                  </a:tcPr>
                </a:tc>
                <a:tc>
                  <a:txBody>
                    <a:bodyPr/>
                    <a:lstStyle/>
                    <a:p>
                      <a:pPr algn="r" indent="0" marL="0">
                        <a:buNone/>
                      </a:pPr>
                      <a:r>
                        <a:rPr lang="en-US" sz="1200" b="1" dirty="0">
                          <a:solidFill>
                            <a:srgbClr val="14202E"/>
                          </a:solidFill>
                          <a:latin typeface="Calibri" pitchFamily="34" charset="0"/>
                          <a:ea typeface="Calibri" pitchFamily="34" charset="-122"/>
                          <a:cs typeface="Calibri" pitchFamily="34" charset="-120"/>
                        </a:rPr>
                        <a:t>f Matrix Pencil</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E9E8E2"/>
                    </a:solidFill>
                  </a:tcPr>
                </a:tc>
                <a:tc>
                  <a:txBody>
                    <a:bodyPr/>
                    <a:lstStyle/>
                    <a:p>
                      <a:pPr algn="r" indent="0" marL="0">
                        <a:buNone/>
                      </a:pPr>
                      <a:r>
                        <a:rPr lang="en-US" sz="1200" b="1" dirty="0">
                          <a:solidFill>
                            <a:srgbClr val="14202E"/>
                          </a:solidFill>
                          <a:latin typeface="Calibri" pitchFamily="34" charset="0"/>
                          <a:ea typeface="Calibri" pitchFamily="34" charset="-122"/>
                          <a:cs typeface="Calibri" pitchFamily="34" charset="-120"/>
                        </a:rPr>
                        <a:t>Δf</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E9E8E2"/>
                    </a:solidFill>
                  </a:tcPr>
                </a:tc>
                <a:tc>
                  <a:txBody>
                    <a:bodyPr/>
                    <a:lstStyle/>
                    <a:p>
                      <a:pPr algn="r" indent="0" marL="0">
                        <a:buNone/>
                      </a:pPr>
                      <a:r>
                        <a:rPr lang="en-US" sz="1200" b="1" dirty="0">
                          <a:solidFill>
                            <a:srgbClr val="14202E"/>
                          </a:solidFill>
                          <a:latin typeface="Calibri" pitchFamily="34" charset="0"/>
                          <a:ea typeface="Calibri" pitchFamily="34" charset="-122"/>
                          <a:cs typeface="Calibri" pitchFamily="34" charset="-120"/>
                        </a:rPr>
                        <a:t>σ Autoren</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E9E8E2"/>
                    </a:solidFill>
                  </a:tcPr>
                </a:tc>
                <a:tc>
                  <a:txBody>
                    <a:bodyPr/>
                    <a:lstStyle/>
                    <a:p>
                      <a:pPr algn="r" indent="0" marL="0">
                        <a:buNone/>
                      </a:pPr>
                      <a:r>
                        <a:rPr lang="en-US" sz="1200" b="1" dirty="0">
                          <a:solidFill>
                            <a:srgbClr val="14202E"/>
                          </a:solidFill>
                          <a:latin typeface="Calibri" pitchFamily="34" charset="0"/>
                          <a:ea typeface="Calibri" pitchFamily="34" charset="-122"/>
                          <a:cs typeface="Calibri" pitchFamily="34" charset="-120"/>
                        </a:rPr>
                        <a:t>σ Matrix Pencil</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E9E8E2"/>
                    </a:solidFill>
                  </a:tcPr>
                </a:tc>
              </a:tr>
              <a:tr h="0">
                <a:tc>
                  <a:txBody>
                    <a:bodyPr/>
                    <a:lstStyle/>
                    <a:p>
                      <a:pPr algn="r" indent="0" marL="0">
                        <a:buNone/>
                      </a:pPr>
                      <a:r>
                        <a:rPr lang="en-US" sz="1200" dirty="0">
                          <a:solidFill>
                            <a:srgbClr val="14202E"/>
                          </a:solidFill>
                          <a:latin typeface="Calibri" pitchFamily="34" charset="0"/>
                          <a:ea typeface="Calibri" pitchFamily="34" charset="-122"/>
                          <a:cs typeface="Calibri" pitchFamily="34" charset="-120"/>
                        </a:rPr>
                        <a:t>0,317</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200" dirty="0">
                          <a:solidFill>
                            <a:srgbClr val="14202E"/>
                          </a:solidFill>
                          <a:latin typeface="Calibri" pitchFamily="34" charset="0"/>
                          <a:ea typeface="Calibri" pitchFamily="34" charset="-122"/>
                          <a:cs typeface="Calibri" pitchFamily="34" charset="-120"/>
                        </a:rPr>
                        <a:t>0,316823</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200" dirty="0">
                          <a:solidFill>
                            <a:srgbClr val="14202E"/>
                          </a:solidFill>
                          <a:latin typeface="Calibri" pitchFamily="34" charset="0"/>
                          <a:ea typeface="Calibri" pitchFamily="34" charset="-122"/>
                          <a:cs typeface="Calibri" pitchFamily="34" charset="-120"/>
                        </a:rPr>
                        <a:t>0,056 %</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200" dirty="0">
                          <a:solidFill>
                            <a:srgbClr val="14202E"/>
                          </a:solidFill>
                          <a:latin typeface="Calibri" pitchFamily="34" charset="0"/>
                          <a:ea typeface="Calibri" pitchFamily="34" charset="-122"/>
                          <a:cs typeface="Calibri" pitchFamily="34" charset="-120"/>
                        </a:rPr>
                        <a:t>−0,106</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200" dirty="0">
                          <a:solidFill>
                            <a:srgbClr val="14202E"/>
                          </a:solidFill>
                          <a:latin typeface="Calibri" pitchFamily="34" charset="0"/>
                          <a:ea typeface="Calibri" pitchFamily="34" charset="-122"/>
                          <a:cs typeface="Calibri" pitchFamily="34" charset="-120"/>
                        </a:rPr>
                        <a:t>−0,106312</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r>
              <a:tr h="0">
                <a:tc>
                  <a:txBody>
                    <a:bodyPr/>
                    <a:lstStyle/>
                    <a:p>
                      <a:pPr algn="r" indent="0" marL="0">
                        <a:buNone/>
                      </a:pPr>
                      <a:r>
                        <a:rPr lang="en-US" sz="1200" dirty="0">
                          <a:solidFill>
                            <a:srgbClr val="14202E"/>
                          </a:solidFill>
                          <a:latin typeface="Calibri" pitchFamily="34" charset="0"/>
                          <a:ea typeface="Calibri" pitchFamily="34" charset="-122"/>
                          <a:cs typeface="Calibri" pitchFamily="34" charset="-120"/>
                        </a:rPr>
                        <a:t>0,617</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200" dirty="0">
                          <a:solidFill>
                            <a:srgbClr val="14202E"/>
                          </a:solidFill>
                          <a:latin typeface="Calibri" pitchFamily="34" charset="0"/>
                          <a:ea typeface="Calibri" pitchFamily="34" charset="-122"/>
                          <a:cs typeface="Calibri" pitchFamily="34" charset="-120"/>
                        </a:rPr>
                        <a:t>0,617288</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200" dirty="0">
                          <a:solidFill>
                            <a:srgbClr val="14202E"/>
                          </a:solidFill>
                          <a:latin typeface="Calibri" pitchFamily="34" charset="0"/>
                          <a:ea typeface="Calibri" pitchFamily="34" charset="-122"/>
                          <a:cs typeface="Calibri" pitchFamily="34" charset="-120"/>
                        </a:rPr>
                        <a:t>0,047 %</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200" dirty="0">
                          <a:solidFill>
                            <a:srgbClr val="14202E"/>
                          </a:solidFill>
                          <a:latin typeface="Calibri" pitchFamily="34" charset="0"/>
                          <a:ea typeface="Calibri" pitchFamily="34" charset="-122"/>
                          <a:cs typeface="Calibri" pitchFamily="34" charset="-120"/>
                        </a:rPr>
                        <a:t>−0,042</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200" dirty="0">
                          <a:solidFill>
                            <a:srgbClr val="14202E"/>
                          </a:solidFill>
                          <a:latin typeface="Calibri" pitchFamily="34" charset="0"/>
                          <a:ea typeface="Calibri" pitchFamily="34" charset="-122"/>
                          <a:cs typeface="Calibri" pitchFamily="34" charset="-120"/>
                        </a:rPr>
                        <a:t>−0,042112</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r>
              <a:tr h="0">
                <a:tc>
                  <a:txBody>
                    <a:bodyPr/>
                    <a:lstStyle/>
                    <a:p>
                      <a:pPr algn="r" indent="0" marL="0">
                        <a:buNone/>
                      </a:pPr>
                      <a:r>
                        <a:rPr lang="en-US" sz="1200" dirty="0">
                          <a:solidFill>
                            <a:srgbClr val="14202E"/>
                          </a:solidFill>
                          <a:latin typeface="Calibri" pitchFamily="34" charset="0"/>
                          <a:ea typeface="Calibri" pitchFamily="34" charset="-122"/>
                          <a:cs typeface="Calibri" pitchFamily="34" charset="-120"/>
                        </a:rPr>
                        <a:t>0,720</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200" dirty="0">
                          <a:solidFill>
                            <a:srgbClr val="14202E"/>
                          </a:solidFill>
                          <a:latin typeface="Calibri" pitchFamily="34" charset="0"/>
                          <a:ea typeface="Calibri" pitchFamily="34" charset="-122"/>
                          <a:cs typeface="Calibri" pitchFamily="34" charset="-120"/>
                        </a:rPr>
                        <a:t>0,719740</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200" dirty="0">
                          <a:solidFill>
                            <a:srgbClr val="14202E"/>
                          </a:solidFill>
                          <a:latin typeface="Calibri" pitchFamily="34" charset="0"/>
                          <a:ea typeface="Calibri" pitchFamily="34" charset="-122"/>
                          <a:cs typeface="Calibri" pitchFamily="34" charset="-120"/>
                        </a:rPr>
                        <a:t>0,036 %</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200" dirty="0">
                          <a:solidFill>
                            <a:srgbClr val="14202E"/>
                          </a:solidFill>
                          <a:latin typeface="Calibri" pitchFamily="34" charset="0"/>
                          <a:ea typeface="Calibri" pitchFamily="34" charset="-122"/>
                          <a:cs typeface="Calibri" pitchFamily="34" charset="-120"/>
                        </a:rPr>
                        <a:t>−0,043</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200" dirty="0">
                          <a:solidFill>
                            <a:srgbClr val="14202E"/>
                          </a:solidFill>
                          <a:latin typeface="Calibri" pitchFamily="34" charset="0"/>
                          <a:ea typeface="Calibri" pitchFamily="34" charset="-122"/>
                          <a:cs typeface="Calibri" pitchFamily="34" charset="-120"/>
                        </a:rPr>
                        <a:t>−0,043313</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r>
            </a:tbl>
          </a:graphicData>
        </a:graphic>
      </p:graphicFrame>
      <p:sp>
        <p:nvSpPr>
          <p:cNvPr id="10" name="Text 5"/>
          <p:cNvSpPr txBox="1"/>
          <p:nvPr/>
        </p:nvSpPr>
        <p:spPr>
          <a:xfrm>
            <a:off x="6807200" y="4318000"/>
            <a:ext cx="4572000" cy="571500"/>
          </a:xfrm>
          <a:prstGeom prst="rect">
            <a:avLst/>
          </a:prstGeom>
          <a:noFill/>
          <a:ln/>
        </p:spPr>
        <p:txBody>
          <a:bodyPr wrap="square" lIns="0" tIns="0" rIns="0" bIns="0" rtlCol="0" anchor="t"/>
          <a:lstStyle/>
          <a:p>
            <a:pPr indent="0" marL="0">
              <a:lnSpc>
                <a:spcPct val="115000"/>
              </a:lnSpc>
              <a:buNone/>
            </a:pPr>
            <a:r>
              <a:rPr lang="en-US" sz="1500" b="1" dirty="0">
                <a:solidFill>
                  <a:srgbClr val="14202E"/>
                </a:solidFill>
                <a:latin typeface="Calibri" pitchFamily="34" charset="0"/>
                <a:ea typeface="Calibri" pitchFamily="34" charset="-122"/>
                <a:cs typeface="Calibri" pitchFamily="34" charset="-120"/>
              </a:rPr>
              <a:t>Alle drei Frequenzen weichen weniger als 0,06 % von den veröffentlichten Werten ab.</a:t>
            </a:r>
            <a:endParaRPr lang="en-US" sz="1500" dirty="0"/>
          </a:p>
        </p:txBody>
      </p:sp>
      <p:sp>
        <p:nvSpPr>
          <p:cNvPr id="25" name="Slide Number Placeholder 0"/>
          <p:cNvSpPr>
            <a:spLocks noGrp="1"/>
          </p:cNvSpPr>
          <p:nvPr>
            <p:ph type="sldNum" sz="quarter" idx="4294967295"/>
          </p:nvPr>
        </p:nvSpPr>
        <p:spPr>
          <a:xfrm>
            <a:off x="10795000" y="6426200"/>
            <a:ext cx="5842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5F6873"/>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812800" y="812800"/>
            <a:ext cx="10566400" cy="215900"/>
          </a:xfrm>
          <a:prstGeom prst="rect">
            <a:avLst/>
          </a:prstGeom>
          <a:noFill/>
          <a:ln/>
        </p:spPr>
        <p:txBody>
          <a:bodyPr wrap="square" lIns="0" tIns="0" rIns="0" bIns="0" rtlCol="0" anchor="t"/>
          <a:lstStyle/>
          <a:p>
            <a:pPr indent="0" marL="0">
              <a:lnSpc>
                <a:spcPct val="115000"/>
              </a:lnSpc>
              <a:buNone/>
            </a:pPr>
            <a:r>
              <a:rPr lang="en-US" sz="1200" spc="100" kern="0" dirty="0">
                <a:solidFill>
                  <a:srgbClr val="B5491B"/>
                </a:solidFill>
                <a:latin typeface="Consolas" pitchFamily="34" charset="0"/>
                <a:ea typeface="Consolas" pitchFamily="34" charset="-122"/>
                <a:cs typeface="Consolas" pitchFamily="34" charset="-120"/>
              </a:rPr>
              <a:t>PRÜFSTUFE 3 · ORDNUNG 12</a:t>
            </a:r>
            <a:endParaRPr lang="en-US" sz="1200" dirty="0"/>
          </a:p>
        </p:txBody>
      </p:sp>
      <p:sp>
        <p:nvSpPr>
          <p:cNvPr id="3" name="Text 0"/>
          <p:cNvSpPr/>
          <p:nvPr>
            <p:ph idx="100" type="title" hasCustomPrompt="1"/>
          </p:nvPr>
        </p:nvSpPr>
        <p:spPr>
          <a:xfrm>
            <a:off x="812800" y="1104900"/>
            <a:ext cx="10566400" cy="508000"/>
          </a:xfrm>
          <a:prstGeom prst="rect">
            <a:avLst/>
          </a:prstGeom>
          <a:noFill/>
          <a:ln/>
        </p:spPr>
        <p:txBody>
          <a:bodyPr wrap="square" lIns="0" tIns="0" rIns="0" bIns="0" rtlCol="0" anchor="t"/>
          <a:lstStyle/>
          <a:p>
            <a:pPr algn="l" indent="0" marL="0">
              <a:buNone/>
            </a:pPr>
            <a:r>
              <a:rPr lang="en-US" sz="3200" b="1" dirty="0">
                <a:solidFill>
                  <a:srgbClr val="14202E"/>
                </a:solidFill>
                <a:latin typeface="Calibri" pitchFamily="34" charset="0"/>
                <a:ea typeface="Calibri" pitchFamily="34" charset="-122"/>
                <a:cs typeface="Calibri" pitchFamily="34" charset="-120"/>
              </a:rPr>
              <a:t>Mexiko: Modellfehler 17,05 %</a:t>
            </a:r>
            <a:endParaRPr lang="en-US" sz="3200" dirty="0"/>
          </a:p>
        </p:txBody>
      </p:sp>
      <p:sp>
        <p:nvSpPr>
          <p:cNvPr id="4" name="Text 2"/>
          <p:cNvSpPr txBox="1"/>
          <p:nvPr/>
        </p:nvSpPr>
        <p:spPr>
          <a:xfrm>
            <a:off x="812800" y="6426200"/>
            <a:ext cx="9779000" cy="228600"/>
          </a:xfrm>
          <a:prstGeom prst="rect">
            <a:avLst/>
          </a:prstGeom>
          <a:noFill/>
          <a:ln/>
        </p:spPr>
        <p:txBody>
          <a:bodyPr wrap="square" lIns="0" tIns="0" rIns="0" bIns="0" rtlCol="0" anchor="t"/>
          <a:lstStyle/>
          <a:p>
            <a:pPr indent="0" marL="0">
              <a:lnSpc>
                <a:spcPct val="115000"/>
              </a:lnSpc>
              <a:buNone/>
            </a:pPr>
            <a:r>
              <a:rPr lang="en-US" sz="1200" dirty="0">
                <a:solidFill>
                  <a:srgbClr val="5F6873"/>
                </a:solidFill>
                <a:latin typeface="Calibri" pitchFamily="34" charset="0"/>
                <a:ea typeface="Calibri" pitchFamily="34" charset="-122"/>
                <a:cs typeface="Calibri" pitchFamily="34" charset="-120"/>
              </a:rPr>
              <a:t>Mittelwert ≈ 59,773 Hz abgezogen · 1 mHz = 0,001 Hz · Ursache des Fehlers im Abschnitt nicht nachgewiesen</a:t>
            </a:r>
            <a:endParaRPr lang="en-US" sz="1200" dirty="0"/>
          </a:p>
        </p:txBody>
      </p:sp>
      <p:pic>
        <p:nvPicPr>
          <p:cNvPr id="6" name="Image 0" descr="C:\Sevgi\projects\prony_matrix_pencil_filter\outputs\ergebnisdeck\08_mexiko_rekonstruktion.png">    </p:cNvPr>
          <p:cNvPicPr>
            <a:picLocks noChangeAspect="1"/>
          </p:cNvPicPr>
          <p:nvPr/>
        </p:nvPicPr>
        <p:blipFill>
          <a:blip r:embed="rId1"/>
          <a:stretch>
            <a:fillRect/>
          </a:stretch>
        </p:blipFill>
        <p:spPr>
          <a:xfrm>
            <a:off x="812800" y="1879600"/>
            <a:ext cx="5969000" cy="3962400"/>
          </a:xfrm>
          <a:prstGeom prst="rect">
            <a:avLst/>
          </a:prstGeom>
        </p:spPr>
      </p:pic>
      <p:sp>
        <p:nvSpPr>
          <p:cNvPr id="7" name="Shape 3"/>
          <p:cNvSpPr/>
          <p:nvPr/>
        </p:nvSpPr>
        <p:spPr>
          <a:xfrm>
            <a:off x="812800" y="1879600"/>
            <a:ext cx="5969000" cy="3962400"/>
          </a:xfrm>
          <a:prstGeom prst="roundRect">
            <a:avLst>
              <a:gd name="adj" fmla="val 2538"/>
            </a:avLst>
          </a:prstGeom>
          <a:ln w="9525">
            <a:solidFill>
              <a:srgbClr val="E1E0D9"/>
            </a:solidFill>
            <a:prstDash val="solid"/>
          </a:ln>
        </p:spPr>
      </p:sp>
      <p:sp>
        <p:nvSpPr>
          <p:cNvPr id="8" name="Text 4"/>
          <p:cNvSpPr txBox="1"/>
          <p:nvPr/>
        </p:nvSpPr>
        <p:spPr>
          <a:xfrm>
            <a:off x="7188200" y="1879600"/>
            <a:ext cx="4191000" cy="533400"/>
          </a:xfrm>
          <a:prstGeom prst="rect">
            <a:avLst/>
          </a:prstGeom>
          <a:noFill/>
          <a:ln/>
        </p:spPr>
        <p:txBody>
          <a:bodyPr wrap="square" lIns="0" tIns="0" rIns="0" bIns="0" rtlCol="0" anchor="t"/>
          <a:lstStyle/>
          <a:p>
            <a:pPr indent="0" marL="0">
              <a:lnSpc>
                <a:spcPct val="115000"/>
              </a:lnSpc>
              <a:buNone/>
            </a:pPr>
            <a:r>
              <a:rPr lang="en-US" sz="3600" b="1" dirty="0">
                <a:solidFill>
                  <a:srgbClr val="B5491B"/>
                </a:solidFill>
                <a:latin typeface="Calibri" pitchFamily="34" charset="0"/>
                <a:ea typeface="Calibri" pitchFamily="34" charset="-122"/>
                <a:cs typeface="Calibri" pitchFamily="34" charset="-120"/>
              </a:rPr>
              <a:t>17,05 %</a:t>
            </a:r>
            <a:endParaRPr lang="en-US" sz="3600" dirty="0"/>
          </a:p>
        </p:txBody>
      </p:sp>
      <p:pic>
        <p:nvPicPr>
          <p:cNvPr id="9" name="Image 1" descr="mx">    </p:cNvPr>
          <p:cNvPicPr>
            <a:picLocks noChangeAspect="1"/>
          </p:cNvPicPr>
          <p:nvPr/>
        </p:nvPicPr>
        <p:blipFill>
          <a:blip r:embed="rId2"/>
          <a:stretch>
            <a:fillRect/>
          </a:stretch>
        </p:blipFill>
        <p:spPr>
          <a:xfrm>
            <a:off x="7188200" y="2463800"/>
            <a:ext cx="2476500" cy="539750"/>
          </a:xfrm>
          <a:prstGeom prst="rect">
            <a:avLst/>
          </a:prstGeom>
        </p:spPr>
      </p:pic>
      <p:sp>
        <p:nvSpPr>
          <p:cNvPr id="10" name="Text 5"/>
          <p:cNvSpPr txBox="1"/>
          <p:nvPr/>
        </p:nvSpPr>
        <p:spPr>
          <a:xfrm>
            <a:off x="7188200" y="3035300"/>
            <a:ext cx="4191000" cy="228600"/>
          </a:xfrm>
          <a:prstGeom prst="rect">
            <a:avLst/>
          </a:prstGeom>
          <a:noFill/>
          <a:ln/>
        </p:spPr>
        <p:txBody>
          <a:bodyPr wrap="square" lIns="0" tIns="0" rIns="0" bIns="0" rtlCol="0" anchor="t"/>
          <a:lstStyle/>
          <a:p>
            <a:pPr indent="0" marL="0">
              <a:lnSpc>
                <a:spcPct val="115000"/>
              </a:lnSpc>
              <a:buNone/>
            </a:pPr>
            <a:r>
              <a:rPr lang="en-US" sz="1200" dirty="0">
                <a:solidFill>
                  <a:srgbClr val="44505E"/>
                </a:solidFill>
                <a:latin typeface="Calibri" pitchFamily="34" charset="0"/>
                <a:ea typeface="Calibri" pitchFamily="34" charset="-122"/>
                <a:cs typeface="Calibri" pitchFamily="34" charset="-120"/>
              </a:rPr>
              <a:t>über dieselben 301 Zeitpunkte</a:t>
            </a:r>
            <a:endParaRPr lang="en-US" sz="1200" dirty="0"/>
          </a:p>
        </p:txBody>
      </p:sp>
      <p:sp>
        <p:nvSpPr>
          <p:cNvPr id="11" name="Text 6"/>
          <p:cNvSpPr txBox="1"/>
          <p:nvPr/>
        </p:nvSpPr>
        <p:spPr>
          <a:xfrm>
            <a:off x="7188200" y="3365500"/>
            <a:ext cx="4191000" cy="266700"/>
          </a:xfrm>
          <a:prstGeom prst="rect">
            <a:avLst/>
          </a:prstGeom>
          <a:noFill/>
          <a:ln/>
        </p:spPr>
        <p:txBody>
          <a:bodyPr wrap="square" lIns="0" tIns="0" rIns="0" bIns="0" rtlCol="0" anchor="t"/>
          <a:lstStyle/>
          <a:p>
            <a:pPr indent="0" marL="0">
              <a:lnSpc>
                <a:spcPct val="115000"/>
              </a:lnSpc>
              <a:buNone/>
            </a:pPr>
            <a:r>
              <a:rPr lang="en-US" sz="1500" b="1" dirty="0">
                <a:solidFill>
                  <a:srgbClr val="14202E"/>
                </a:solidFill>
                <a:latin typeface="Calibri" pitchFamily="34" charset="0"/>
                <a:ea typeface="Calibri" pitchFamily="34" charset="-122"/>
                <a:cs typeface="Calibri" pitchFamily="34" charset="-120"/>
              </a:rPr>
              <a:t>Wo der Fehler entsteht</a:t>
            </a:r>
            <a:endParaRPr lang="en-US" sz="1500" dirty="0"/>
          </a:p>
        </p:txBody>
      </p:sp>
      <p:sp>
        <p:nvSpPr>
          <p:cNvPr id="12" name="Text 7"/>
          <p:cNvSpPr txBox="1"/>
          <p:nvPr/>
        </p:nvSpPr>
        <p:spPr>
          <a:xfrm>
            <a:off x="7188200" y="3683000"/>
            <a:ext cx="4191000" cy="571500"/>
          </a:xfrm>
          <a:prstGeom prst="rect">
            <a:avLst/>
          </a:prstGeom>
          <a:noFill/>
          <a:ln/>
        </p:spPr>
        <p:txBody>
          <a:bodyPr wrap="square" lIns="0" tIns="0" rIns="0" bIns="0" rtlCol="0" anchor="t"/>
          <a:lstStyle/>
          <a:p>
            <a:pPr indent="0" marL="0">
              <a:lnSpc>
                <a:spcPct val="115000"/>
              </a:lnSpc>
              <a:buNone/>
            </a:pPr>
            <a:r>
              <a:rPr lang="en-US" sz="1500" dirty="0">
                <a:solidFill>
                  <a:srgbClr val="44505E"/>
                </a:solidFill>
                <a:latin typeface="Calibri" pitchFamily="34" charset="0"/>
                <a:ea typeface="Calibri" pitchFamily="34" charset="-122"/>
                <a:cs typeface="Calibri" pitchFamily="34" charset="-120"/>
              </a:rPr>
              <a:t>240 bis 243 s: 55 % der Fehlerquadratsumme. Ohne diesen Abschnitt noch 11,8 %.</a:t>
            </a:r>
            <a:endParaRPr lang="en-US" sz="1500" dirty="0"/>
          </a:p>
        </p:txBody>
      </p:sp>
      <p:sp>
        <p:nvSpPr>
          <p:cNvPr id="13" name="Text 8"/>
          <p:cNvSpPr txBox="1"/>
          <p:nvPr/>
        </p:nvSpPr>
        <p:spPr>
          <a:xfrm>
            <a:off x="7188200" y="4368800"/>
            <a:ext cx="4191000" cy="266700"/>
          </a:xfrm>
          <a:prstGeom prst="rect">
            <a:avLst/>
          </a:prstGeom>
          <a:noFill/>
          <a:ln/>
        </p:spPr>
        <p:txBody>
          <a:bodyPr wrap="square" lIns="0" tIns="0" rIns="0" bIns="0" rtlCol="0" anchor="t"/>
          <a:lstStyle/>
          <a:p>
            <a:pPr indent="0" marL="0">
              <a:lnSpc>
                <a:spcPct val="115000"/>
              </a:lnSpc>
              <a:buNone/>
            </a:pPr>
            <a:r>
              <a:rPr lang="en-US" sz="1500" b="1" dirty="0">
                <a:solidFill>
                  <a:srgbClr val="14202E"/>
                </a:solidFill>
                <a:latin typeface="Calibri" pitchFamily="34" charset="0"/>
                <a:ea typeface="Calibri" pitchFamily="34" charset="-122"/>
                <a:cs typeface="Calibri" pitchFamily="34" charset="-120"/>
              </a:rPr>
              <a:t>Kein Mangel von Matrix Pencil</a:t>
            </a:r>
            <a:endParaRPr lang="en-US" sz="1500" dirty="0"/>
          </a:p>
        </p:txBody>
      </p:sp>
      <p:sp>
        <p:nvSpPr>
          <p:cNvPr id="14" name="Text 9"/>
          <p:cNvSpPr txBox="1"/>
          <p:nvPr/>
        </p:nvSpPr>
        <p:spPr>
          <a:xfrm>
            <a:off x="7188200" y="4686300"/>
            <a:ext cx="4191000" cy="571500"/>
          </a:xfrm>
          <a:prstGeom prst="rect">
            <a:avLst/>
          </a:prstGeom>
          <a:noFill/>
          <a:ln/>
        </p:spPr>
        <p:txBody>
          <a:bodyPr wrap="square" lIns="0" tIns="0" rIns="0" bIns="0" rtlCol="0" anchor="t"/>
          <a:lstStyle/>
          <a:p>
            <a:pPr indent="0" marL="0">
              <a:lnSpc>
                <a:spcPct val="115000"/>
              </a:lnSpc>
              <a:buNone/>
            </a:pPr>
            <a:r>
              <a:rPr lang="en-US" sz="1500" dirty="0">
                <a:solidFill>
                  <a:srgbClr val="44505E"/>
                </a:solidFill>
                <a:latin typeface="Calibri" pitchFamily="34" charset="0"/>
                <a:ea typeface="Calibri" pitchFamily="34" charset="-122"/>
                <a:cs typeface="Calibri" pitchFamily="34" charset="-120"/>
              </a:rPr>
              <a:t>Mit den drei Moden der Autoren erreicht selbst die beste Anpassung 40,6 % Fehler.</a:t>
            </a:r>
            <a:endParaRPr lang="en-US" sz="1500" dirty="0"/>
          </a:p>
        </p:txBody>
      </p:sp>
      <p:sp>
        <p:nvSpPr>
          <p:cNvPr id="15" name="Text 10"/>
          <p:cNvSpPr txBox="1"/>
          <p:nvPr/>
        </p:nvSpPr>
        <p:spPr>
          <a:xfrm>
            <a:off x="7188200" y="5372100"/>
            <a:ext cx="4191000" cy="266700"/>
          </a:xfrm>
          <a:prstGeom prst="rect">
            <a:avLst/>
          </a:prstGeom>
          <a:noFill/>
          <a:ln/>
        </p:spPr>
        <p:txBody>
          <a:bodyPr wrap="square" lIns="0" tIns="0" rIns="0" bIns="0" rtlCol="0" anchor="t"/>
          <a:lstStyle/>
          <a:p>
            <a:pPr indent="0" marL="0">
              <a:lnSpc>
                <a:spcPct val="115000"/>
              </a:lnSpc>
              <a:buNone/>
            </a:pPr>
            <a:r>
              <a:rPr lang="en-US" sz="1500" b="1" dirty="0">
                <a:solidFill>
                  <a:srgbClr val="B5491B"/>
                </a:solidFill>
                <a:latin typeface="Calibri" pitchFamily="34" charset="0"/>
                <a:ea typeface="Calibri" pitchFamily="34" charset="-122"/>
                <a:cs typeface="Calibri" pitchFamily="34" charset="-120"/>
              </a:rPr>
              <a:t>Folge: über 10 %, Abzug blockiert.</a:t>
            </a:r>
            <a:endParaRPr lang="en-US" sz="1500" dirty="0"/>
          </a:p>
        </p:txBody>
      </p:sp>
      <p:sp>
        <p:nvSpPr>
          <p:cNvPr id="25" name="Slide Number Placeholder 0"/>
          <p:cNvSpPr>
            <a:spLocks noGrp="1"/>
          </p:cNvSpPr>
          <p:nvPr>
            <p:ph type="sldNum" sz="quarter" idx="4294967295"/>
          </p:nvPr>
        </p:nvSpPr>
        <p:spPr>
          <a:xfrm>
            <a:off x="10795000" y="6426200"/>
            <a:ext cx="5842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5F6873"/>
                </a:solidFill>
                <a:latin typeface="Consolas"/>
                <a:ea typeface="Consolas"/>
                <a:cs typeface="Consola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812800" y="812800"/>
            <a:ext cx="10566400" cy="215900"/>
          </a:xfrm>
          <a:prstGeom prst="rect">
            <a:avLst/>
          </a:prstGeom>
          <a:noFill/>
          <a:ln/>
        </p:spPr>
        <p:txBody>
          <a:bodyPr wrap="square" lIns="0" tIns="0" rIns="0" bIns="0" rtlCol="0" anchor="t"/>
          <a:lstStyle/>
          <a:p>
            <a:pPr indent="0" marL="0">
              <a:lnSpc>
                <a:spcPct val="115000"/>
              </a:lnSpc>
              <a:buNone/>
            </a:pPr>
            <a:r>
              <a:rPr lang="en-US" sz="1200" spc="100" kern="0" dirty="0">
                <a:solidFill>
                  <a:srgbClr val="B5491B"/>
                </a:solidFill>
                <a:latin typeface="Consolas" pitchFamily="34" charset="0"/>
                <a:ea typeface="Consolas" pitchFamily="34" charset="-122"/>
                <a:cs typeface="Consolas" pitchFamily="34" charset="-120"/>
              </a:rPr>
              <a:t>PRÜFSTUFE 3 · ORDNUNGSSTUDIE</a:t>
            </a:r>
            <a:endParaRPr lang="en-US" sz="1200" dirty="0"/>
          </a:p>
        </p:txBody>
      </p:sp>
      <p:sp>
        <p:nvSpPr>
          <p:cNvPr id="3" name="Text 0"/>
          <p:cNvSpPr/>
          <p:nvPr>
            <p:ph idx="100" type="title" hasCustomPrompt="1"/>
          </p:nvPr>
        </p:nvSpPr>
        <p:spPr>
          <a:xfrm>
            <a:off x="812800" y="1104900"/>
            <a:ext cx="10566400" cy="508000"/>
          </a:xfrm>
          <a:prstGeom prst="rect">
            <a:avLst/>
          </a:prstGeom>
          <a:noFill/>
          <a:ln/>
        </p:spPr>
        <p:txBody>
          <a:bodyPr wrap="square" lIns="0" tIns="0" rIns="0" bIns="0" rtlCol="0" anchor="t"/>
          <a:lstStyle/>
          <a:p>
            <a:pPr algn="l" indent="0" marL="0">
              <a:buNone/>
            </a:pPr>
            <a:r>
              <a:rPr lang="en-US" sz="3200" b="1" dirty="0">
                <a:solidFill>
                  <a:srgbClr val="14202E"/>
                </a:solidFill>
                <a:latin typeface="Calibri" pitchFamily="34" charset="0"/>
                <a:ea typeface="Calibri" pitchFamily="34" charset="-122"/>
                <a:cs typeface="Calibri" pitchFamily="34" charset="-120"/>
              </a:rPr>
              <a:t>Mexiko: Warum nicht einfach höhere Ordnung?</a:t>
            </a:r>
            <a:endParaRPr lang="en-US" sz="3200" dirty="0"/>
          </a:p>
        </p:txBody>
      </p:sp>
      <p:sp>
        <p:nvSpPr>
          <p:cNvPr id="4" name="Text 2"/>
          <p:cNvSpPr txBox="1"/>
          <p:nvPr/>
        </p:nvSpPr>
        <p:spPr>
          <a:xfrm>
            <a:off x="812800" y="6426200"/>
            <a:ext cx="9779000" cy="228600"/>
          </a:xfrm>
          <a:prstGeom prst="rect">
            <a:avLst/>
          </a:prstGeom>
          <a:noFill/>
          <a:ln/>
        </p:spPr>
        <p:txBody>
          <a:bodyPr wrap="square" lIns="0" tIns="0" rIns="0" bIns="0" rtlCol="0" anchor="t"/>
          <a:lstStyle/>
          <a:p>
            <a:pPr indent="0" marL="0">
              <a:lnSpc>
                <a:spcPct val="115000"/>
              </a:lnSpc>
              <a:buNone/>
            </a:pPr>
            <a:r>
              <a:rPr lang="en-US" sz="1200" dirty="0">
                <a:solidFill>
                  <a:srgbClr val="5F6873"/>
                </a:solidFill>
                <a:latin typeface="Calibri" pitchFamily="34" charset="0"/>
                <a:ea typeface="Calibri" pitchFamily="34" charset="-122"/>
                <a:cs typeface="Calibri" pitchFamily="34" charset="-120"/>
              </a:rPr>
              <a:t>Gestrichelt: Schutzgrenze des Filters (10 %) · Prüfung innerhalb derselben Aufzeichnung, keine unabhängige Validierung</a:t>
            </a:r>
            <a:endParaRPr lang="en-US" sz="1200" dirty="0"/>
          </a:p>
        </p:txBody>
      </p:sp>
      <p:pic>
        <p:nvPicPr>
          <p:cNvPr id="6" name="Image 0" descr="C:\Sevgi\projects\prony_matrix_pencil_filter\outputs\ergebnisdeck\09_mexiko_ordnung.png">    </p:cNvPr>
          <p:cNvPicPr>
            <a:picLocks noChangeAspect="1"/>
          </p:cNvPicPr>
          <p:nvPr/>
        </p:nvPicPr>
        <p:blipFill>
          <a:blip r:embed="rId1"/>
          <a:stretch>
            <a:fillRect/>
          </a:stretch>
        </p:blipFill>
        <p:spPr>
          <a:xfrm>
            <a:off x="2413000" y="1879600"/>
            <a:ext cx="7366000" cy="2698750"/>
          </a:xfrm>
          <a:prstGeom prst="rect">
            <a:avLst/>
          </a:prstGeom>
        </p:spPr>
      </p:pic>
      <p:sp>
        <p:nvSpPr>
          <p:cNvPr id="7" name="Shape 3"/>
          <p:cNvSpPr/>
          <p:nvPr/>
        </p:nvSpPr>
        <p:spPr>
          <a:xfrm>
            <a:off x="2413000" y="1879600"/>
            <a:ext cx="7366000" cy="2698750"/>
          </a:xfrm>
          <a:prstGeom prst="roundRect">
            <a:avLst>
              <a:gd name="adj" fmla="val 3727"/>
            </a:avLst>
          </a:prstGeom>
          <a:ln w="9525">
            <a:solidFill>
              <a:srgbClr val="E1E0D9"/>
            </a:solidFill>
            <a:prstDash val="solid"/>
          </a:ln>
        </p:spPr>
      </p:sp>
      <p:sp>
        <p:nvSpPr>
          <p:cNvPr id="8" name="Text 4"/>
          <p:cNvSpPr txBox="1"/>
          <p:nvPr/>
        </p:nvSpPr>
        <p:spPr>
          <a:xfrm>
            <a:off x="812800" y="4749800"/>
            <a:ext cx="3352800" cy="762000"/>
          </a:xfrm>
          <a:prstGeom prst="rect">
            <a:avLst/>
          </a:prstGeom>
          <a:noFill/>
          <a:ln/>
        </p:spPr>
        <p:txBody>
          <a:bodyPr wrap="square" lIns="0" tIns="0" rIns="0" bIns="0" rtlCol="0" anchor="t"/>
          <a:lstStyle/>
          <a:p>
            <a:pPr indent="0" marL="0">
              <a:lnSpc>
                <a:spcPct val="115000"/>
              </a:lnSpc>
              <a:buNone/>
            </a:pPr>
            <a:r>
              <a:rPr lang="en-US" sz="1300" b="1" dirty="0">
                <a:solidFill>
                  <a:srgbClr val="14202E"/>
                </a:solidFill>
                <a:latin typeface="Calibri" pitchFamily="34" charset="0"/>
                <a:ea typeface="Calibri" pitchFamily="34" charset="-122"/>
                <a:cs typeface="Calibri" pitchFamily="34" charset="-120"/>
              </a:rPr>
              <a:t>Überanpassung: </a:t>
            </a:r>
            <a:pPr indent="0" marL="0">
              <a:lnSpc>
                <a:spcPct val="115000"/>
              </a:lnSpc>
              <a:buNone/>
            </a:pPr>
            <a:r>
              <a:rPr lang="en-US" sz="1300" dirty="0">
                <a:solidFill>
                  <a:srgbClr val="44505E"/>
                </a:solidFill>
                <a:latin typeface="Calibri" pitchFamily="34" charset="0"/>
                <a:ea typeface="Calibri" pitchFamily="34" charset="-122"/>
                <a:cs typeface="Calibri" pitchFamily="34" charset="-120"/>
              </a:rPr>
              <a:t>Auf den ausgelassenen Punkten steigt der Fehler ab Ordnung 36 wieder, bis 13,99 %.</a:t>
            </a:r>
            <a:endParaRPr lang="en-US" sz="1300" dirty="0"/>
          </a:p>
        </p:txBody>
      </p:sp>
      <p:sp>
        <p:nvSpPr>
          <p:cNvPr id="9" name="Text 5"/>
          <p:cNvSpPr txBox="1"/>
          <p:nvPr/>
        </p:nvSpPr>
        <p:spPr>
          <a:xfrm>
            <a:off x="4419600" y="4749800"/>
            <a:ext cx="3352800" cy="762000"/>
          </a:xfrm>
          <a:prstGeom prst="rect">
            <a:avLst/>
          </a:prstGeom>
          <a:noFill/>
          <a:ln/>
        </p:spPr>
        <p:txBody>
          <a:bodyPr wrap="square" lIns="0" tIns="0" rIns="0" bIns="0" rtlCol="0" anchor="t"/>
          <a:lstStyle/>
          <a:p>
            <a:pPr indent="0" marL="0">
              <a:lnSpc>
                <a:spcPct val="115000"/>
              </a:lnSpc>
              <a:buNone/>
            </a:pPr>
            <a:r>
              <a:rPr lang="en-US" sz="1300" b="1" dirty="0">
                <a:solidFill>
                  <a:srgbClr val="14202E"/>
                </a:solidFill>
                <a:latin typeface="Calibri" pitchFamily="34" charset="0"/>
                <a:ea typeface="Calibri" pitchFamily="34" charset="-122"/>
                <a:cs typeface="Calibri" pitchFamily="34" charset="-120"/>
              </a:rPr>
              <a:t>Andere Zerlegung: </a:t>
            </a:r>
            <a:pPr indent="0" marL="0">
              <a:lnSpc>
                <a:spcPct val="115000"/>
              </a:lnSpc>
              <a:buNone/>
            </a:pPr>
            <a:r>
              <a:rPr lang="en-US" sz="1300" dirty="0">
                <a:solidFill>
                  <a:srgbClr val="44505E"/>
                </a:solidFill>
                <a:latin typeface="Calibri" pitchFamily="34" charset="0"/>
                <a:ea typeface="Calibri" pitchFamily="34" charset="-122"/>
                <a:cs typeface="Calibri" pitchFamily="34" charset="-120"/>
              </a:rPr>
              <a:t>Die Mode bei 0,72 Hz wächst von 4,5 mHz (Ordnung 12) auf 21,3 mHz; die Autoren nennen 4 mHz.</a:t>
            </a:r>
            <a:endParaRPr lang="en-US" sz="1300" dirty="0"/>
          </a:p>
        </p:txBody>
      </p:sp>
      <p:sp>
        <p:nvSpPr>
          <p:cNvPr id="10" name="Text 6"/>
          <p:cNvSpPr txBox="1"/>
          <p:nvPr/>
        </p:nvSpPr>
        <p:spPr>
          <a:xfrm>
            <a:off x="8026400" y="4749800"/>
            <a:ext cx="3352800" cy="762000"/>
          </a:xfrm>
          <a:prstGeom prst="rect">
            <a:avLst/>
          </a:prstGeom>
          <a:noFill/>
          <a:ln/>
        </p:spPr>
        <p:txBody>
          <a:bodyPr wrap="square" lIns="0" tIns="0" rIns="0" bIns="0" rtlCol="0" anchor="t"/>
          <a:lstStyle/>
          <a:p>
            <a:pPr indent="0" marL="0">
              <a:lnSpc>
                <a:spcPct val="115000"/>
              </a:lnSpc>
              <a:buNone/>
            </a:pPr>
            <a:r>
              <a:rPr lang="en-US" sz="1300" b="1" dirty="0">
                <a:solidFill>
                  <a:srgbClr val="14202E"/>
                </a:solidFill>
                <a:latin typeface="Calibri" pitchFamily="34" charset="0"/>
                <a:ea typeface="Calibri" pitchFamily="34" charset="-122"/>
                <a:cs typeface="Calibri" pitchFamily="34" charset="-120"/>
              </a:rPr>
              <a:t>Unphysikalisch: </a:t>
            </a:r>
            <a:pPr indent="0" marL="0">
              <a:lnSpc>
                <a:spcPct val="115000"/>
              </a:lnSpc>
              <a:buNone/>
            </a:pPr>
            <a:r>
              <a:rPr lang="en-US" sz="1300" dirty="0">
                <a:solidFill>
                  <a:srgbClr val="44505E"/>
                </a:solidFill>
                <a:latin typeface="Calibri" pitchFamily="34" charset="0"/>
                <a:ea typeface="Calibri" pitchFamily="34" charset="-122"/>
                <a:cs typeface="Calibri" pitchFamily="34" charset="-120"/>
              </a:rPr>
              <a:t>Bei Ordnung 36 wachsen 2 von 17 Schwingungen an (σ &gt; 0).</a:t>
            </a:r>
            <a:endParaRPr lang="en-US" sz="1300" dirty="0"/>
          </a:p>
        </p:txBody>
      </p:sp>
      <p:sp>
        <p:nvSpPr>
          <p:cNvPr id="11" name="Text 7"/>
          <p:cNvSpPr txBox="1"/>
          <p:nvPr/>
        </p:nvSpPr>
        <p:spPr>
          <a:xfrm>
            <a:off x="812800" y="5613400"/>
            <a:ext cx="10566400" cy="292100"/>
          </a:xfrm>
          <a:prstGeom prst="rect">
            <a:avLst/>
          </a:prstGeom>
          <a:noFill/>
          <a:ln/>
        </p:spPr>
        <p:txBody>
          <a:bodyPr wrap="square" lIns="0" tIns="0" rIns="0" bIns="0" rtlCol="0" anchor="t"/>
          <a:lstStyle/>
          <a:p>
            <a:pPr indent="0" marL="0">
              <a:lnSpc>
                <a:spcPct val="115000"/>
              </a:lnSpc>
              <a:buNone/>
            </a:pPr>
            <a:r>
              <a:rPr lang="en-US" sz="1500" b="1" dirty="0">
                <a:solidFill>
                  <a:srgbClr val="14202E"/>
                </a:solidFill>
                <a:latin typeface="Calibri" pitchFamily="34" charset="0"/>
                <a:ea typeface="Calibri" pitchFamily="34" charset="-122"/>
                <a:cs typeface="Calibri" pitchFamily="34" charset="-120"/>
              </a:rPr>
              <a:t>Die Ordnung so lange zu erhöhen, bis die 10-%-Regel besteht, würde die Schutzregel aushebeln.</a:t>
            </a:r>
            <a:endParaRPr lang="en-US" sz="1500" dirty="0"/>
          </a:p>
        </p:txBody>
      </p:sp>
      <p:sp>
        <p:nvSpPr>
          <p:cNvPr id="25" name="Slide Number Placeholder 0"/>
          <p:cNvSpPr>
            <a:spLocks noGrp="1"/>
          </p:cNvSpPr>
          <p:nvPr>
            <p:ph type="sldNum" sz="quarter" idx="4294967295"/>
          </p:nvPr>
        </p:nvSpPr>
        <p:spPr>
          <a:xfrm>
            <a:off x="10795000" y="6426200"/>
            <a:ext cx="5842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5F6873"/>
                </a:solidFill>
                <a:latin typeface="Consolas"/>
                <a:ea typeface="Consolas"/>
                <a:cs typeface="Consola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812800" y="812800"/>
            <a:ext cx="10566400" cy="215900"/>
          </a:xfrm>
          <a:prstGeom prst="rect">
            <a:avLst/>
          </a:prstGeom>
          <a:noFill/>
          <a:ln/>
        </p:spPr>
        <p:txBody>
          <a:bodyPr wrap="square" lIns="0" tIns="0" rIns="0" bIns="0" rtlCol="0" anchor="t"/>
          <a:lstStyle/>
          <a:p>
            <a:pPr indent="0" marL="0">
              <a:lnSpc>
                <a:spcPct val="115000"/>
              </a:lnSpc>
              <a:buNone/>
            </a:pPr>
            <a:r>
              <a:rPr lang="en-US" sz="1200" spc="100" kern="0" dirty="0">
                <a:solidFill>
                  <a:srgbClr val="1C5CAB"/>
                </a:solidFill>
                <a:latin typeface="Consolas" pitchFamily="34" charset="0"/>
                <a:ea typeface="Consolas" pitchFamily="34" charset="-122"/>
                <a:cs typeface="Consolas" pitchFamily="34" charset="-120"/>
              </a:rPr>
              <a:t>PRÜFSTUFE 4 · EIGENE MESSUNGEN P_POS</a:t>
            </a:r>
            <a:endParaRPr lang="en-US" sz="1200" dirty="0"/>
          </a:p>
        </p:txBody>
      </p:sp>
      <p:sp>
        <p:nvSpPr>
          <p:cNvPr id="3" name="Text 0"/>
          <p:cNvSpPr/>
          <p:nvPr>
            <p:ph idx="100" type="title" hasCustomPrompt="1"/>
          </p:nvPr>
        </p:nvSpPr>
        <p:spPr>
          <a:xfrm>
            <a:off x="812800" y="1104900"/>
            <a:ext cx="10566400" cy="508000"/>
          </a:xfrm>
          <a:prstGeom prst="rect">
            <a:avLst/>
          </a:prstGeom>
          <a:noFill/>
          <a:ln/>
        </p:spPr>
        <p:txBody>
          <a:bodyPr wrap="square" lIns="0" tIns="0" rIns="0" bIns="0" rtlCol="0" anchor="t"/>
          <a:lstStyle/>
          <a:p>
            <a:pPr algn="l" indent="0" marL="0">
              <a:buNone/>
            </a:pPr>
            <a:r>
              <a:rPr lang="en-US" sz="3200" b="1" dirty="0">
                <a:solidFill>
                  <a:srgbClr val="14202E"/>
                </a:solidFill>
                <a:latin typeface="Calibri" pitchFamily="34" charset="0"/>
                <a:ea typeface="Calibri" pitchFamily="34" charset="-122"/>
                <a:cs typeface="Calibri" pitchFamily="34" charset="-120"/>
              </a:rPr>
              <a:t>Sprungantworten im Vergleich</a:t>
            </a:r>
            <a:endParaRPr lang="en-US" sz="3200" dirty="0"/>
          </a:p>
        </p:txBody>
      </p:sp>
      <p:sp>
        <p:nvSpPr>
          <p:cNvPr id="4" name="Text 2"/>
          <p:cNvSpPr txBox="1"/>
          <p:nvPr/>
        </p:nvSpPr>
        <p:spPr>
          <a:xfrm>
            <a:off x="812800" y="6426200"/>
            <a:ext cx="9779000" cy="228600"/>
          </a:xfrm>
          <a:prstGeom prst="rect">
            <a:avLst/>
          </a:prstGeom>
          <a:noFill/>
          <a:ln/>
        </p:spPr>
        <p:txBody>
          <a:bodyPr wrap="square" lIns="0" tIns="0" rIns="0" bIns="0" rtlCol="0" anchor="t"/>
          <a:lstStyle/>
          <a:p>
            <a:pPr indent="0" marL="0">
              <a:lnSpc>
                <a:spcPct val="115000"/>
              </a:lnSpc>
              <a:buNone/>
            </a:pPr>
            <a:r>
              <a:rPr lang="en-US" sz="1200" dirty="0">
                <a:solidFill>
                  <a:srgbClr val="5F6873"/>
                </a:solidFill>
                <a:latin typeface="Calibri" pitchFamily="34" charset="0"/>
                <a:ea typeface="Calibri" pitchFamily="34" charset="-122"/>
                <a:cs typeface="Calibri" pitchFamily="34" charset="-120"/>
              </a:rPr>
              <a:t>Auswertung: examples/presentation_demo.py · Zielband 2,2 Hz ± 20 % = 1,76 bis 2,64 Hz</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12800" y="1879600"/>
          <a:ext cx="10566400" cy="914400"/>
        </p:xfrm>
        <a:graphic>
          <a:graphicData uri="http://schemas.openxmlformats.org/drawingml/2006/table">
            <a:tbl>
              <a:tblPr/>
              <a:tblGrid>
                <a:gridCol w="4864100"/>
                <a:gridCol w="2851150"/>
                <a:gridCol w="2851150"/>
              </a:tblGrid>
              <a:tr h="0">
                <a:tc>
                  <a:txBody>
                    <a:bodyPr/>
                    <a:lstStyle/>
                    <a:p>
                      <a:pPr algn="l" indent="0" marL="0">
                        <a:buNone/>
                      </a:pPr>
                      <a:r>
                        <a:rPr lang="en-US" sz="1500" b="1" dirty="0">
                          <a:solidFill>
                            <a:srgbClr val="14202E"/>
                          </a:solidFill>
                          <a:latin typeface="Calibri" pitchFamily="34" charset="0"/>
                          <a:ea typeface="Calibri" pitchFamily="34" charset="-122"/>
                          <a:cs typeface="Calibri" pitchFamily="34" charset="-120"/>
                        </a:rPr>
                        <a:t>Ordnung 12, Abschnitt 1 bis 7 s</a:t>
                      </a:r>
                      <a:endParaRPr lang="en-US" sz="15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E9E8E2"/>
                    </a:solidFill>
                  </a:tcPr>
                </a:tc>
                <a:tc>
                  <a:txBody>
                    <a:bodyPr/>
                    <a:lstStyle/>
                    <a:p>
                      <a:pPr algn="r" indent="0" marL="0">
                        <a:buNone/>
                      </a:pPr>
                      <a:r>
                        <a:rPr lang="en-US" sz="1500" b="1" dirty="0">
                          <a:solidFill>
                            <a:srgbClr val="14202E"/>
                          </a:solidFill>
                          <a:latin typeface="Calibri" pitchFamily="34" charset="0"/>
                          <a:ea typeface="Calibri" pitchFamily="34" charset="-122"/>
                          <a:cs typeface="Calibri" pitchFamily="34" charset="-120"/>
                        </a:rPr>
                        <a:t>Positiver Sprung</a:t>
                      </a:r>
                      <a:endParaRPr lang="en-US" sz="15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E9E8E2"/>
                    </a:solidFill>
                  </a:tcPr>
                </a:tc>
                <a:tc>
                  <a:txBody>
                    <a:bodyPr/>
                    <a:lstStyle/>
                    <a:p>
                      <a:pPr algn="r" indent="0" marL="0">
                        <a:buNone/>
                      </a:pPr>
                      <a:r>
                        <a:rPr lang="en-US" sz="1500" b="1" dirty="0">
                          <a:solidFill>
                            <a:srgbClr val="14202E"/>
                          </a:solidFill>
                          <a:latin typeface="Calibri" pitchFamily="34" charset="0"/>
                          <a:ea typeface="Calibri" pitchFamily="34" charset="-122"/>
                          <a:cs typeface="Calibri" pitchFamily="34" charset="-120"/>
                        </a:rPr>
                        <a:t>Negativer Sprung</a:t>
                      </a:r>
                      <a:endParaRPr lang="en-US" sz="15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E9E8E2"/>
                    </a:solidFill>
                  </a:tcPr>
                </a:tc>
              </a:tr>
              <a:tr h="0">
                <a:tc>
                  <a:txBody>
                    <a:bodyPr/>
                    <a:lstStyle/>
                    <a:p>
                      <a:pPr algn="l" indent="0" marL="0">
                        <a:buNone/>
                      </a:pPr>
                      <a:r>
                        <a:rPr lang="en-US" sz="1500" dirty="0">
                          <a:solidFill>
                            <a:srgbClr val="14202E"/>
                          </a:solidFill>
                          <a:latin typeface="Calibri" pitchFamily="34" charset="0"/>
                          <a:ea typeface="Calibri" pitchFamily="34" charset="-122"/>
                          <a:cs typeface="Calibri" pitchFamily="34" charset="-120"/>
                        </a:rPr>
                        <a:t>Dominante Frequenz</a:t>
                      </a:r>
                      <a:endParaRPr lang="en-US" sz="15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500" dirty="0">
                          <a:solidFill>
                            <a:srgbClr val="14202E"/>
                          </a:solidFill>
                          <a:latin typeface="Calibri" pitchFamily="34" charset="0"/>
                          <a:ea typeface="Calibri" pitchFamily="34" charset="-122"/>
                          <a:cs typeface="Calibri" pitchFamily="34" charset="-120"/>
                        </a:rPr>
                        <a:t>2,268418 Hz</a:t>
                      </a:r>
                      <a:endParaRPr lang="en-US" sz="15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500" dirty="0">
                          <a:solidFill>
                            <a:srgbClr val="14202E"/>
                          </a:solidFill>
                          <a:latin typeface="Calibri" pitchFamily="34" charset="0"/>
                          <a:ea typeface="Calibri" pitchFamily="34" charset="-122"/>
                          <a:cs typeface="Calibri" pitchFamily="34" charset="-120"/>
                        </a:rPr>
                        <a:t>2,267978 Hz</a:t>
                      </a:r>
                      <a:endParaRPr lang="en-US" sz="15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r>
              <a:tr h="0">
                <a:tc>
                  <a:txBody>
                    <a:bodyPr/>
                    <a:lstStyle/>
                    <a:p>
                      <a:pPr algn="l" indent="0" marL="0">
                        <a:buNone/>
                      </a:pPr>
                      <a:r>
                        <a:rPr lang="en-US" sz="1500" dirty="0">
                          <a:solidFill>
                            <a:srgbClr val="14202E"/>
                          </a:solidFill>
                          <a:latin typeface="Calibri" pitchFamily="34" charset="0"/>
                          <a:ea typeface="Calibri" pitchFamily="34" charset="-122"/>
                          <a:cs typeface="Calibri" pitchFamily="34" charset="-120"/>
                        </a:rPr>
                        <a:t>Abklingrate σ</a:t>
                      </a:r>
                      <a:endParaRPr lang="en-US" sz="15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500" dirty="0">
                          <a:solidFill>
                            <a:srgbClr val="14202E"/>
                          </a:solidFill>
                          <a:latin typeface="Calibri" pitchFamily="34" charset="0"/>
                          <a:ea typeface="Calibri" pitchFamily="34" charset="-122"/>
                          <a:cs typeface="Calibri" pitchFamily="34" charset="-120"/>
                        </a:rPr>
                        <a:t>−0,107 1/s</a:t>
                      </a:r>
                      <a:endParaRPr lang="en-US" sz="15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500" dirty="0">
                          <a:solidFill>
                            <a:srgbClr val="14202E"/>
                          </a:solidFill>
                          <a:latin typeface="Calibri" pitchFamily="34" charset="0"/>
                          <a:ea typeface="Calibri" pitchFamily="34" charset="-122"/>
                          <a:cs typeface="Calibri" pitchFamily="34" charset="-120"/>
                        </a:rPr>
                        <a:t>−0,192 1/s</a:t>
                      </a:r>
                      <a:endParaRPr lang="en-US" sz="15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r>
              <a:tr h="0">
                <a:tc>
                  <a:txBody>
                    <a:bodyPr/>
                    <a:lstStyle/>
                    <a:p>
                      <a:pPr algn="l" indent="0" marL="0">
                        <a:buNone/>
                      </a:pPr>
                      <a:r>
                        <a:rPr lang="en-US" sz="1500" dirty="0">
                          <a:solidFill>
                            <a:srgbClr val="14202E"/>
                          </a:solidFill>
                          <a:latin typeface="Calibri" pitchFamily="34" charset="0"/>
                          <a:ea typeface="Calibri" pitchFamily="34" charset="-122"/>
                          <a:cs typeface="Calibri" pitchFamily="34" charset="-120"/>
                        </a:rPr>
                        <a:t>Anfangsamplitude bei 1 s (Dateieinheit)</a:t>
                      </a:r>
                      <a:endParaRPr lang="en-US" sz="15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500" dirty="0">
                          <a:solidFill>
                            <a:srgbClr val="14202E"/>
                          </a:solidFill>
                          <a:latin typeface="Calibri" pitchFamily="34" charset="0"/>
                          <a:ea typeface="Calibri" pitchFamily="34" charset="-122"/>
                          <a:cs typeface="Calibri" pitchFamily="34" charset="-120"/>
                        </a:rPr>
                        <a:t>22 319</a:t>
                      </a:r>
                      <a:endParaRPr lang="en-US" sz="15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500" dirty="0">
                          <a:solidFill>
                            <a:srgbClr val="14202E"/>
                          </a:solidFill>
                          <a:latin typeface="Calibri" pitchFamily="34" charset="0"/>
                          <a:ea typeface="Calibri" pitchFamily="34" charset="-122"/>
                          <a:cs typeface="Calibri" pitchFamily="34" charset="-120"/>
                        </a:rPr>
                        <a:t>59 143</a:t>
                      </a:r>
                      <a:endParaRPr lang="en-US" sz="15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r>
              <a:tr h="0">
                <a:tc>
                  <a:txBody>
                    <a:bodyPr/>
                    <a:lstStyle/>
                    <a:p>
                      <a:pPr algn="l" indent="0" marL="0">
                        <a:buNone/>
                      </a:pPr>
                      <a:r>
                        <a:rPr lang="en-US" sz="1500" dirty="0">
                          <a:solidFill>
                            <a:srgbClr val="14202E"/>
                          </a:solidFill>
                          <a:latin typeface="Calibri" pitchFamily="34" charset="0"/>
                          <a:ea typeface="Calibri" pitchFamily="34" charset="-122"/>
                          <a:cs typeface="Calibri" pitchFamily="34" charset="-120"/>
                        </a:rPr>
                        <a:t>Relativer Modellfehler (100-Hz-Raster)</a:t>
                      </a:r>
                      <a:endParaRPr lang="en-US" sz="15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500" dirty="0">
                          <a:solidFill>
                            <a:srgbClr val="14202E"/>
                          </a:solidFill>
                          <a:latin typeface="Calibri" pitchFamily="34" charset="0"/>
                          <a:ea typeface="Calibri" pitchFamily="34" charset="-122"/>
                          <a:cs typeface="Calibri" pitchFamily="34" charset="-120"/>
                        </a:rPr>
                        <a:t>0,763 %</a:t>
                      </a:r>
                      <a:endParaRPr lang="en-US" sz="15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500" dirty="0">
                          <a:solidFill>
                            <a:srgbClr val="14202E"/>
                          </a:solidFill>
                          <a:latin typeface="Calibri" pitchFamily="34" charset="0"/>
                          <a:ea typeface="Calibri" pitchFamily="34" charset="-122"/>
                          <a:cs typeface="Calibri" pitchFamily="34" charset="-120"/>
                        </a:rPr>
                        <a:t>0,594 %</a:t>
                      </a:r>
                      <a:endParaRPr lang="en-US" sz="15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r>
              <a:tr h="0">
                <a:tc>
                  <a:txBody>
                    <a:bodyPr/>
                    <a:lstStyle/>
                    <a:p>
                      <a:pPr algn="l" indent="0" marL="0">
                        <a:buNone/>
                      </a:pPr>
                      <a:r>
                        <a:rPr lang="en-US" sz="1500" dirty="0">
                          <a:solidFill>
                            <a:srgbClr val="14202E"/>
                          </a:solidFill>
                          <a:latin typeface="Calibri" pitchFamily="34" charset="0"/>
                          <a:ea typeface="Calibri" pitchFamily="34" charset="-122"/>
                          <a:cs typeface="Calibri" pitchFamily="34" charset="-120"/>
                        </a:rPr>
                        <a:t>Abgezogene Polpaare</a:t>
                      </a:r>
                      <a:endParaRPr lang="en-US" sz="15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500" dirty="0">
                          <a:solidFill>
                            <a:srgbClr val="14202E"/>
                          </a:solidFill>
                          <a:latin typeface="Calibri" pitchFamily="34" charset="0"/>
                          <a:ea typeface="Calibri" pitchFamily="34" charset="-122"/>
                          <a:cs typeface="Calibri" pitchFamily="34" charset="-120"/>
                        </a:rPr>
                        <a:t>2: 2,268 + 2,480 Hz</a:t>
                      </a:r>
                      <a:endParaRPr lang="en-US" sz="15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500" dirty="0">
                          <a:solidFill>
                            <a:srgbClr val="14202E"/>
                          </a:solidFill>
                          <a:latin typeface="Calibri" pitchFamily="34" charset="0"/>
                          <a:ea typeface="Calibri" pitchFamily="34" charset="-122"/>
                          <a:cs typeface="Calibri" pitchFamily="34" charset="-120"/>
                        </a:rPr>
                        <a:t>1: 2,268 Hz</a:t>
                      </a:r>
                      <a:endParaRPr lang="en-US" sz="15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r>
              <a:tr h="0">
                <a:tc>
                  <a:txBody>
                    <a:bodyPr/>
                    <a:lstStyle/>
                    <a:p>
                      <a:pPr algn="l" indent="0" marL="0">
                        <a:buNone/>
                      </a:pPr>
                      <a:r>
                        <a:rPr lang="en-US" sz="1500" dirty="0">
                          <a:solidFill>
                            <a:srgbClr val="14202E"/>
                          </a:solidFill>
                          <a:latin typeface="Calibri" pitchFamily="34" charset="0"/>
                          <a:ea typeface="Calibri" pitchFamily="34" charset="-122"/>
                          <a:cs typeface="Calibri" pitchFamily="34" charset="-120"/>
                        </a:rPr>
                        <a:t>Rückgang Bandenergie 4 bis 7 s</a:t>
                      </a:r>
                      <a:endParaRPr lang="en-US" sz="15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500" dirty="0">
                          <a:solidFill>
                            <a:srgbClr val="14202E"/>
                          </a:solidFill>
                          <a:latin typeface="Calibri" pitchFamily="34" charset="0"/>
                          <a:ea typeface="Calibri" pitchFamily="34" charset="-122"/>
                          <a:cs typeface="Calibri" pitchFamily="34" charset="-120"/>
                        </a:rPr>
                        <a:t>99,87 %</a:t>
                      </a:r>
                      <a:endParaRPr lang="en-US" sz="15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r" indent="0" marL="0">
                        <a:buNone/>
                      </a:pPr>
                      <a:r>
                        <a:rPr lang="en-US" sz="1500" dirty="0">
                          <a:solidFill>
                            <a:srgbClr val="14202E"/>
                          </a:solidFill>
                          <a:latin typeface="Calibri" pitchFamily="34" charset="0"/>
                          <a:ea typeface="Calibri" pitchFamily="34" charset="-122"/>
                          <a:cs typeface="Calibri" pitchFamily="34" charset="-120"/>
                        </a:rPr>
                        <a:t>99,999 %</a:t>
                      </a:r>
                      <a:endParaRPr lang="en-US" sz="15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r>
            </a:tbl>
          </a:graphicData>
        </a:graphic>
      </p:graphicFrame>
      <p:sp>
        <p:nvSpPr>
          <p:cNvPr id="7" name="Text 3"/>
          <p:cNvSpPr txBox="1"/>
          <p:nvPr/>
        </p:nvSpPr>
        <p:spPr>
          <a:xfrm>
            <a:off x="812800" y="4381500"/>
            <a:ext cx="10566400" cy="571500"/>
          </a:xfrm>
          <a:prstGeom prst="rect">
            <a:avLst/>
          </a:prstGeom>
          <a:noFill/>
          <a:ln/>
        </p:spPr>
        <p:txBody>
          <a:bodyPr wrap="square" lIns="0" tIns="0" rIns="0" bIns="0" rtlCol="0" anchor="t"/>
          <a:lstStyle/>
          <a:p>
            <a:pPr indent="0" marL="0">
              <a:lnSpc>
                <a:spcPct val="115000"/>
              </a:lnSpc>
              <a:buNone/>
            </a:pPr>
            <a:r>
              <a:rPr lang="en-US" sz="1500" b="1" dirty="0">
                <a:solidFill>
                  <a:srgbClr val="14202E"/>
                </a:solidFill>
                <a:latin typeface="Calibri" pitchFamily="34" charset="0"/>
                <a:ea typeface="Calibri" pitchFamily="34" charset="-122"/>
                <a:cs typeface="Calibri" pitchFamily="34" charset="-120"/>
              </a:rPr>
              <a:t>Gleich kleiner Fehler, andere Zerlegung: </a:t>
            </a:r>
            <a:pPr indent="0" marL="0">
              <a:lnSpc>
                <a:spcPct val="115000"/>
              </a:lnSpc>
              <a:buNone/>
            </a:pPr>
            <a:r>
              <a:rPr lang="en-US" sz="1500" dirty="0">
                <a:solidFill>
                  <a:srgbClr val="44505E"/>
                </a:solidFill>
                <a:latin typeface="Calibri" pitchFamily="34" charset="0"/>
                <a:ea typeface="Calibri" pitchFamily="34" charset="-122"/>
                <a:cs typeface="Calibri" pitchFamily="34" charset="-120"/>
              </a:rPr>
              <a:t>Beim positiven Sprung wird zusätzlich ein schnell abklingender Anteil bei 2,480 Hz (σ ≈ −0,83 1/s) abgezogen.</a:t>
            </a:r>
            <a:endParaRPr lang="en-US" sz="1500" dirty="0"/>
          </a:p>
        </p:txBody>
      </p:sp>
      <p:sp>
        <p:nvSpPr>
          <p:cNvPr id="25" name="Slide Number Placeholder 0"/>
          <p:cNvSpPr>
            <a:spLocks noGrp="1"/>
          </p:cNvSpPr>
          <p:nvPr>
            <p:ph type="sldNum" sz="quarter" idx="4294967295"/>
          </p:nvPr>
        </p:nvSpPr>
        <p:spPr>
          <a:xfrm>
            <a:off x="10795000" y="6426200"/>
            <a:ext cx="5842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5F6873"/>
                </a:solidFill>
                <a:latin typeface="Consolas"/>
                <a:ea typeface="Consolas"/>
                <a:cs typeface="Consola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812800" y="812800"/>
            <a:ext cx="10566400" cy="215900"/>
          </a:xfrm>
          <a:prstGeom prst="rect">
            <a:avLst/>
          </a:prstGeom>
          <a:noFill/>
          <a:ln/>
        </p:spPr>
        <p:txBody>
          <a:bodyPr wrap="square" lIns="0" tIns="0" rIns="0" bIns="0" rtlCol="0" anchor="t"/>
          <a:lstStyle/>
          <a:p>
            <a:pPr indent="0" marL="0">
              <a:lnSpc>
                <a:spcPct val="115000"/>
              </a:lnSpc>
              <a:buNone/>
            </a:pPr>
            <a:r>
              <a:rPr lang="en-US" sz="1200" spc="100" kern="0" dirty="0">
                <a:solidFill>
                  <a:srgbClr val="1C5CAB"/>
                </a:solidFill>
                <a:latin typeface="Consolas" pitchFamily="34" charset="0"/>
                <a:ea typeface="Consolas" pitchFamily="34" charset="-122"/>
                <a:cs typeface="Consolas" pitchFamily="34" charset="-120"/>
              </a:rPr>
              <a:t>PRÜFSTUFE 4 · NEGATIVER SPRUNG</a:t>
            </a:r>
            <a:endParaRPr lang="en-US" sz="1200" dirty="0"/>
          </a:p>
        </p:txBody>
      </p:sp>
      <p:sp>
        <p:nvSpPr>
          <p:cNvPr id="3" name="Text 0"/>
          <p:cNvSpPr/>
          <p:nvPr>
            <p:ph idx="100" type="title" hasCustomPrompt="1"/>
          </p:nvPr>
        </p:nvSpPr>
        <p:spPr>
          <a:xfrm>
            <a:off x="812800" y="1104900"/>
            <a:ext cx="10566400" cy="508000"/>
          </a:xfrm>
          <a:prstGeom prst="rect">
            <a:avLst/>
          </a:prstGeom>
          <a:noFill/>
          <a:ln/>
        </p:spPr>
        <p:txBody>
          <a:bodyPr wrap="square" lIns="0" tIns="0" rIns="0" bIns="0" rtlCol="0" anchor="t"/>
          <a:lstStyle/>
          <a:p>
            <a:pPr algn="l" indent="0" marL="0">
              <a:buNone/>
            </a:pPr>
            <a:r>
              <a:rPr lang="en-US" sz="3200" b="1" dirty="0">
                <a:solidFill>
                  <a:srgbClr val="14202E"/>
                </a:solidFill>
                <a:latin typeface="Calibri" pitchFamily="34" charset="0"/>
                <a:ea typeface="Calibri" pitchFamily="34" charset="-122"/>
                <a:cs typeface="Calibri" pitchFamily="34" charset="-120"/>
              </a:rPr>
              <a:t>Filterung: negative Sprungantwort</a:t>
            </a:r>
            <a:endParaRPr lang="en-US" sz="3200" dirty="0"/>
          </a:p>
        </p:txBody>
      </p:sp>
      <p:sp>
        <p:nvSpPr>
          <p:cNvPr id="4" name="Text 2"/>
          <p:cNvSpPr txBox="1"/>
          <p:nvPr/>
        </p:nvSpPr>
        <p:spPr>
          <a:xfrm>
            <a:off x="812800" y="6426200"/>
            <a:ext cx="9779000" cy="228600"/>
          </a:xfrm>
          <a:prstGeom prst="rect">
            <a:avLst/>
          </a:prstGeom>
          <a:noFill/>
          <a:ln/>
        </p:spPr>
        <p:txBody>
          <a:bodyPr wrap="square" lIns="0" tIns="0" rIns="0" bIns="0" rtlCol="0" anchor="t"/>
          <a:lstStyle/>
          <a:p>
            <a:pPr indent="0" marL="0">
              <a:lnSpc>
                <a:spcPct val="115000"/>
              </a:lnSpc>
              <a:buNone/>
            </a:pPr>
            <a:r>
              <a:rPr lang="en-US" sz="1200" dirty="0">
                <a:solidFill>
                  <a:srgbClr val="5F6873"/>
                </a:solidFill>
                <a:latin typeface="Calibri" pitchFamily="34" charset="0"/>
                <a:ea typeface="Calibri" pitchFamily="34" charset="-122"/>
                <a:cs typeface="Calibri" pitchFamily="34" charset="-120"/>
              </a:rPr>
              <a:t>Blau: Messung · Orange: Messung minus geschätzter 2,268-Hz-Anteil · P_pos / 10⁶ in Dateieinheit</a:t>
            </a:r>
            <a:endParaRPr lang="en-US" sz="1200" dirty="0"/>
          </a:p>
        </p:txBody>
      </p:sp>
      <p:pic>
        <p:nvPicPr>
          <p:cNvPr id="6" name="Image 0" descr="C:\Sevgi\projects\prony_matrix_pencil_filter\outputs\ergebnisdeck\05_filter_negativ.png">    </p:cNvPr>
          <p:cNvPicPr>
            <a:picLocks noChangeAspect="1"/>
          </p:cNvPicPr>
          <p:nvPr/>
        </p:nvPicPr>
        <p:blipFill>
          <a:blip r:embed="rId1"/>
          <a:stretch>
            <a:fillRect/>
          </a:stretch>
        </p:blipFill>
        <p:spPr>
          <a:xfrm>
            <a:off x="1524000" y="1879600"/>
            <a:ext cx="9144000" cy="3295650"/>
          </a:xfrm>
          <a:prstGeom prst="rect">
            <a:avLst/>
          </a:prstGeom>
        </p:spPr>
      </p:pic>
      <p:sp>
        <p:nvSpPr>
          <p:cNvPr id="7" name="Shape 3"/>
          <p:cNvSpPr/>
          <p:nvPr/>
        </p:nvSpPr>
        <p:spPr>
          <a:xfrm>
            <a:off x="1524000" y="1879600"/>
            <a:ext cx="9144000" cy="3295650"/>
          </a:xfrm>
          <a:prstGeom prst="roundRect">
            <a:avLst>
              <a:gd name="adj" fmla="val 3052"/>
            </a:avLst>
          </a:prstGeom>
          <a:ln w="9525">
            <a:solidFill>
              <a:srgbClr val="E1E0D9"/>
            </a:solidFill>
            <a:prstDash val="solid"/>
          </a:ln>
        </p:spPr>
      </p:sp>
      <p:sp>
        <p:nvSpPr>
          <p:cNvPr id="8" name="Text 4"/>
          <p:cNvSpPr txBox="1"/>
          <p:nvPr/>
        </p:nvSpPr>
        <p:spPr>
          <a:xfrm>
            <a:off x="812800" y="5353050"/>
            <a:ext cx="3314700" cy="266700"/>
          </a:xfrm>
          <a:prstGeom prst="rect">
            <a:avLst/>
          </a:prstGeom>
          <a:noFill/>
          <a:ln/>
        </p:spPr>
        <p:txBody>
          <a:bodyPr wrap="square" lIns="0" tIns="0" rIns="0" bIns="0" rtlCol="0" anchor="t"/>
          <a:lstStyle/>
          <a:p>
            <a:pPr indent="0" marL="0">
              <a:lnSpc>
                <a:spcPct val="115000"/>
              </a:lnSpc>
              <a:buNone/>
            </a:pPr>
            <a:r>
              <a:rPr lang="en-US" sz="1500" b="1" dirty="0">
                <a:solidFill>
                  <a:srgbClr val="14202E"/>
                </a:solidFill>
                <a:latin typeface="Calibri" pitchFamily="34" charset="0"/>
                <a:ea typeface="Calibri" pitchFamily="34" charset="-122"/>
                <a:cs typeface="Calibri" pitchFamily="34" charset="-120"/>
              </a:rPr>
              <a:t>1 Polpaar</a:t>
            </a:r>
            <a:endParaRPr lang="en-US" sz="1500" dirty="0"/>
          </a:p>
        </p:txBody>
      </p:sp>
      <p:sp>
        <p:nvSpPr>
          <p:cNvPr id="9" name="Text 5"/>
          <p:cNvSpPr txBox="1"/>
          <p:nvPr/>
        </p:nvSpPr>
        <p:spPr>
          <a:xfrm>
            <a:off x="812800" y="5645150"/>
            <a:ext cx="3314700" cy="228600"/>
          </a:xfrm>
          <a:prstGeom prst="rect">
            <a:avLst/>
          </a:prstGeom>
          <a:noFill/>
          <a:ln/>
        </p:spPr>
        <p:txBody>
          <a:bodyPr wrap="square" lIns="0" tIns="0" rIns="0" bIns="0" rtlCol="0" anchor="t"/>
          <a:lstStyle/>
          <a:p>
            <a:pPr indent="0" marL="0">
              <a:lnSpc>
                <a:spcPct val="115000"/>
              </a:lnSpc>
              <a:buNone/>
            </a:pPr>
            <a:r>
              <a:rPr lang="en-US" sz="1200" dirty="0">
                <a:solidFill>
                  <a:srgbClr val="44505E"/>
                </a:solidFill>
                <a:latin typeface="Calibri" pitchFamily="34" charset="0"/>
                <a:ea typeface="Calibri" pitchFamily="34" charset="-122"/>
                <a:cs typeface="Calibri" pitchFamily="34" charset="-120"/>
              </a:rPr>
              <a:t>bei 2,268 Hz abgezogen</a:t>
            </a:r>
            <a:endParaRPr lang="en-US" sz="1200" dirty="0"/>
          </a:p>
        </p:txBody>
      </p:sp>
      <p:sp>
        <p:nvSpPr>
          <p:cNvPr id="10" name="Text 6"/>
          <p:cNvSpPr txBox="1"/>
          <p:nvPr/>
        </p:nvSpPr>
        <p:spPr>
          <a:xfrm>
            <a:off x="4436533" y="5353050"/>
            <a:ext cx="3314700" cy="266700"/>
          </a:xfrm>
          <a:prstGeom prst="rect">
            <a:avLst/>
          </a:prstGeom>
          <a:noFill/>
          <a:ln/>
        </p:spPr>
        <p:txBody>
          <a:bodyPr wrap="square" lIns="0" tIns="0" rIns="0" bIns="0" rtlCol="0" anchor="t"/>
          <a:lstStyle/>
          <a:p>
            <a:pPr indent="0" marL="0">
              <a:lnSpc>
                <a:spcPct val="115000"/>
              </a:lnSpc>
              <a:buNone/>
            </a:pPr>
            <a:r>
              <a:rPr lang="en-US" sz="1500" b="1" dirty="0">
                <a:solidFill>
                  <a:srgbClr val="14202E"/>
                </a:solidFill>
                <a:latin typeface="Calibri" pitchFamily="34" charset="0"/>
                <a:ea typeface="Calibri" pitchFamily="34" charset="-122"/>
                <a:cs typeface="Calibri" pitchFamily="34" charset="-120"/>
              </a:rPr>
              <a:t>Unverändert vor 1 s</a:t>
            </a:r>
            <a:endParaRPr lang="en-US" sz="1500" dirty="0"/>
          </a:p>
        </p:txBody>
      </p:sp>
      <p:sp>
        <p:nvSpPr>
          <p:cNvPr id="11" name="Text 7"/>
          <p:cNvSpPr txBox="1"/>
          <p:nvPr/>
        </p:nvSpPr>
        <p:spPr>
          <a:xfrm>
            <a:off x="4436533" y="5645150"/>
            <a:ext cx="3314700" cy="228600"/>
          </a:xfrm>
          <a:prstGeom prst="rect">
            <a:avLst/>
          </a:prstGeom>
          <a:noFill/>
          <a:ln/>
        </p:spPr>
        <p:txBody>
          <a:bodyPr wrap="square" lIns="0" tIns="0" rIns="0" bIns="0" rtlCol="0" anchor="t"/>
          <a:lstStyle/>
          <a:p>
            <a:pPr indent="0" marL="0">
              <a:lnSpc>
                <a:spcPct val="115000"/>
              </a:lnSpc>
              <a:buNone/>
            </a:pPr>
            <a:r>
              <a:rPr lang="en-US" sz="1200" dirty="0">
                <a:solidFill>
                  <a:srgbClr val="44505E"/>
                </a:solidFill>
                <a:latin typeface="Calibri" pitchFamily="34" charset="0"/>
                <a:ea typeface="Calibri" pitchFamily="34" charset="-122"/>
                <a:cs typeface="Calibri" pitchFamily="34" charset="-120"/>
              </a:rPr>
              <a:t>Abzug erst ab Analysebeginn</a:t>
            </a:r>
            <a:endParaRPr lang="en-US" sz="1200" dirty="0"/>
          </a:p>
        </p:txBody>
      </p:sp>
      <p:sp>
        <p:nvSpPr>
          <p:cNvPr id="12" name="Text 8"/>
          <p:cNvSpPr txBox="1"/>
          <p:nvPr/>
        </p:nvSpPr>
        <p:spPr>
          <a:xfrm>
            <a:off x="8060267" y="5353050"/>
            <a:ext cx="3314700" cy="266700"/>
          </a:xfrm>
          <a:prstGeom prst="rect">
            <a:avLst/>
          </a:prstGeom>
          <a:noFill/>
          <a:ln/>
        </p:spPr>
        <p:txBody>
          <a:bodyPr wrap="square" lIns="0" tIns="0" rIns="0" bIns="0" rtlCol="0" anchor="t"/>
          <a:lstStyle/>
          <a:p>
            <a:pPr indent="0" marL="0">
              <a:lnSpc>
                <a:spcPct val="115000"/>
              </a:lnSpc>
              <a:buNone/>
            </a:pPr>
            <a:r>
              <a:rPr lang="en-US" sz="1500" b="1" dirty="0">
                <a:solidFill>
                  <a:srgbClr val="14202E"/>
                </a:solidFill>
                <a:latin typeface="Calibri" pitchFamily="34" charset="0"/>
                <a:ea typeface="Calibri" pitchFamily="34" charset="-122"/>
                <a:cs typeface="Calibri" pitchFamily="34" charset="-120"/>
              </a:rPr>
              <a:t>−99,999 %</a:t>
            </a:r>
            <a:endParaRPr lang="en-US" sz="1500" dirty="0"/>
          </a:p>
        </p:txBody>
      </p:sp>
      <p:sp>
        <p:nvSpPr>
          <p:cNvPr id="13" name="Text 9"/>
          <p:cNvSpPr txBox="1"/>
          <p:nvPr/>
        </p:nvSpPr>
        <p:spPr>
          <a:xfrm>
            <a:off x="8060267" y="5645150"/>
            <a:ext cx="3314700" cy="228600"/>
          </a:xfrm>
          <a:prstGeom prst="rect">
            <a:avLst/>
          </a:prstGeom>
          <a:noFill/>
          <a:ln/>
        </p:spPr>
        <p:txBody>
          <a:bodyPr wrap="square" lIns="0" tIns="0" rIns="0" bIns="0" rtlCol="0" anchor="t"/>
          <a:lstStyle/>
          <a:p>
            <a:pPr indent="0" marL="0">
              <a:lnSpc>
                <a:spcPct val="115000"/>
              </a:lnSpc>
              <a:buNone/>
            </a:pPr>
            <a:r>
              <a:rPr lang="en-US" sz="1200" dirty="0">
                <a:solidFill>
                  <a:srgbClr val="44505E"/>
                </a:solidFill>
                <a:latin typeface="Calibri" pitchFamily="34" charset="0"/>
                <a:ea typeface="Calibri" pitchFamily="34" charset="-122"/>
                <a:cs typeface="Calibri" pitchFamily="34" charset="-120"/>
              </a:rPr>
              <a:t>Bandenergie 1,76–2,64 Hz, 4 bis 7 s</a:t>
            </a:r>
            <a:endParaRPr lang="en-US" sz="1200" dirty="0"/>
          </a:p>
        </p:txBody>
      </p:sp>
      <p:sp>
        <p:nvSpPr>
          <p:cNvPr id="25" name="Slide Number Placeholder 0"/>
          <p:cNvSpPr>
            <a:spLocks noGrp="1"/>
          </p:cNvSpPr>
          <p:nvPr>
            <p:ph type="sldNum" sz="quarter" idx="4294967295"/>
          </p:nvPr>
        </p:nvSpPr>
        <p:spPr>
          <a:xfrm>
            <a:off x="10795000" y="6426200"/>
            <a:ext cx="5842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5F6873"/>
                </a:solidFill>
                <a:latin typeface="Consolas"/>
                <a:ea typeface="Consolas"/>
                <a:cs typeface="Consola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812800" y="812800"/>
            <a:ext cx="10566400" cy="215900"/>
          </a:xfrm>
          <a:prstGeom prst="rect">
            <a:avLst/>
          </a:prstGeom>
          <a:noFill/>
          <a:ln/>
        </p:spPr>
        <p:txBody>
          <a:bodyPr wrap="square" lIns="0" tIns="0" rIns="0" bIns="0" rtlCol="0" anchor="t"/>
          <a:lstStyle/>
          <a:p>
            <a:pPr indent="0" marL="0">
              <a:lnSpc>
                <a:spcPct val="115000"/>
              </a:lnSpc>
              <a:buNone/>
            </a:pPr>
            <a:r>
              <a:rPr lang="en-US" sz="1200" spc="100" kern="0" dirty="0">
                <a:solidFill>
                  <a:srgbClr val="1C5CAB"/>
                </a:solidFill>
                <a:latin typeface="Consolas" pitchFamily="34" charset="0"/>
                <a:ea typeface="Consolas" pitchFamily="34" charset="-122"/>
                <a:cs typeface="Consolas" pitchFamily="34" charset="-120"/>
              </a:rPr>
              <a:t>PRÜFSTUFE 4 · POSITIVER SPRUNG</a:t>
            </a:r>
            <a:endParaRPr lang="en-US" sz="1200" dirty="0"/>
          </a:p>
        </p:txBody>
      </p:sp>
      <p:sp>
        <p:nvSpPr>
          <p:cNvPr id="3" name="Text 0"/>
          <p:cNvSpPr/>
          <p:nvPr>
            <p:ph idx="100" type="title" hasCustomPrompt="1"/>
          </p:nvPr>
        </p:nvSpPr>
        <p:spPr>
          <a:xfrm>
            <a:off x="812800" y="1104900"/>
            <a:ext cx="10566400" cy="508000"/>
          </a:xfrm>
          <a:prstGeom prst="rect">
            <a:avLst/>
          </a:prstGeom>
          <a:noFill/>
          <a:ln/>
        </p:spPr>
        <p:txBody>
          <a:bodyPr wrap="square" lIns="0" tIns="0" rIns="0" bIns="0" rtlCol="0" anchor="t"/>
          <a:lstStyle/>
          <a:p>
            <a:pPr algn="l" indent="0" marL="0">
              <a:buNone/>
            </a:pPr>
            <a:r>
              <a:rPr lang="en-US" sz="3200" b="1" dirty="0">
                <a:solidFill>
                  <a:srgbClr val="14202E"/>
                </a:solidFill>
                <a:latin typeface="Calibri" pitchFamily="34" charset="0"/>
                <a:ea typeface="Calibri" pitchFamily="34" charset="-122"/>
                <a:cs typeface="Calibri" pitchFamily="34" charset="-120"/>
              </a:rPr>
              <a:t>Filterung: positive Sprungantwort</a:t>
            </a:r>
            <a:endParaRPr lang="en-US" sz="3200" dirty="0"/>
          </a:p>
        </p:txBody>
      </p:sp>
      <p:sp>
        <p:nvSpPr>
          <p:cNvPr id="4" name="Text 2"/>
          <p:cNvSpPr txBox="1"/>
          <p:nvPr/>
        </p:nvSpPr>
        <p:spPr>
          <a:xfrm>
            <a:off x="812800" y="6426200"/>
            <a:ext cx="9779000" cy="228600"/>
          </a:xfrm>
          <a:prstGeom prst="rect">
            <a:avLst/>
          </a:prstGeom>
          <a:noFill/>
          <a:ln/>
        </p:spPr>
        <p:txBody>
          <a:bodyPr wrap="square" lIns="0" tIns="0" rIns="0" bIns="0" rtlCol="0" anchor="t"/>
          <a:lstStyle/>
          <a:p>
            <a:pPr indent="0" marL="0">
              <a:lnSpc>
                <a:spcPct val="115000"/>
              </a:lnSpc>
              <a:buNone/>
            </a:pPr>
            <a:r>
              <a:rPr lang="en-US" sz="1200" dirty="0">
                <a:solidFill>
                  <a:srgbClr val="5F6873"/>
                </a:solidFill>
                <a:latin typeface="Calibri" pitchFamily="34" charset="0"/>
                <a:ea typeface="Calibri" pitchFamily="34" charset="-122"/>
                <a:cs typeface="Calibri" pitchFamily="34" charset="-120"/>
              </a:rPr>
              <a:t>Blau: Messung · Orange: Messung minus Summe beider Anteile · P_pos / 10⁶ in Dateieinheit</a:t>
            </a:r>
            <a:endParaRPr lang="en-US" sz="1200" dirty="0"/>
          </a:p>
        </p:txBody>
      </p:sp>
      <p:pic>
        <p:nvPicPr>
          <p:cNvPr id="6" name="Image 0" descr="C:\Sevgi\projects\prony_matrix_pencil_filter\outputs\ergebnisdeck\06_filter_positiv.png">    </p:cNvPr>
          <p:cNvPicPr>
            <a:picLocks noChangeAspect="1"/>
          </p:cNvPicPr>
          <p:nvPr/>
        </p:nvPicPr>
        <p:blipFill>
          <a:blip r:embed="rId1"/>
          <a:stretch>
            <a:fillRect/>
          </a:stretch>
        </p:blipFill>
        <p:spPr>
          <a:xfrm>
            <a:off x="2286000" y="1841500"/>
            <a:ext cx="7620000" cy="2743200"/>
          </a:xfrm>
          <a:prstGeom prst="rect">
            <a:avLst/>
          </a:prstGeom>
        </p:spPr>
      </p:pic>
      <p:sp>
        <p:nvSpPr>
          <p:cNvPr id="7" name="Shape 3"/>
          <p:cNvSpPr/>
          <p:nvPr/>
        </p:nvSpPr>
        <p:spPr>
          <a:xfrm>
            <a:off x="2286000" y="1841500"/>
            <a:ext cx="7620000" cy="2743200"/>
          </a:xfrm>
          <a:prstGeom prst="roundRect">
            <a:avLst>
              <a:gd name="adj" fmla="val 3667"/>
            </a:avLst>
          </a:prstGeom>
          <a:ln w="9525">
            <a:solidFill>
              <a:srgbClr val="E1E0D9"/>
            </a:solidFill>
            <a:prstDash val="solid"/>
          </a:ln>
        </p:spPr>
      </p:sp>
      <p:sp>
        <p:nvSpPr>
          <p:cNvPr id="8" name="Text 4"/>
          <p:cNvSpPr txBox="1"/>
          <p:nvPr/>
        </p:nvSpPr>
        <p:spPr>
          <a:xfrm>
            <a:off x="812800" y="4724400"/>
            <a:ext cx="2514600" cy="266700"/>
          </a:xfrm>
          <a:prstGeom prst="rect">
            <a:avLst/>
          </a:prstGeom>
          <a:noFill/>
          <a:ln/>
        </p:spPr>
        <p:txBody>
          <a:bodyPr wrap="square" lIns="0" tIns="0" rIns="0" bIns="0" rtlCol="0" anchor="t"/>
          <a:lstStyle/>
          <a:p>
            <a:pPr indent="0" marL="0">
              <a:lnSpc>
                <a:spcPct val="115000"/>
              </a:lnSpc>
              <a:buNone/>
            </a:pPr>
            <a:r>
              <a:rPr lang="en-US" sz="1500" b="1" dirty="0">
                <a:solidFill>
                  <a:srgbClr val="14202E"/>
                </a:solidFill>
                <a:latin typeface="Calibri" pitchFamily="34" charset="0"/>
                <a:ea typeface="Calibri" pitchFamily="34" charset="-122"/>
                <a:cs typeface="Calibri" pitchFamily="34" charset="-120"/>
              </a:rPr>
              <a:t>2 Polpaare</a:t>
            </a:r>
            <a:endParaRPr lang="en-US" sz="1500" dirty="0"/>
          </a:p>
        </p:txBody>
      </p:sp>
      <p:sp>
        <p:nvSpPr>
          <p:cNvPr id="9" name="Text 5"/>
          <p:cNvSpPr txBox="1"/>
          <p:nvPr/>
        </p:nvSpPr>
        <p:spPr>
          <a:xfrm>
            <a:off x="812800" y="5016500"/>
            <a:ext cx="2514600" cy="444500"/>
          </a:xfrm>
          <a:prstGeom prst="rect">
            <a:avLst/>
          </a:prstGeom>
          <a:noFill/>
          <a:ln/>
        </p:spPr>
        <p:txBody>
          <a:bodyPr wrap="square" lIns="0" tIns="0" rIns="0" bIns="0" rtlCol="0" anchor="t"/>
          <a:lstStyle/>
          <a:p>
            <a:pPr indent="0" marL="0">
              <a:lnSpc>
                <a:spcPct val="115000"/>
              </a:lnSpc>
              <a:buNone/>
            </a:pPr>
            <a:r>
              <a:rPr lang="en-US" sz="1200" dirty="0">
                <a:solidFill>
                  <a:srgbClr val="44505E"/>
                </a:solidFill>
                <a:latin typeface="Calibri" pitchFamily="34" charset="0"/>
                <a:ea typeface="Calibri" pitchFamily="34" charset="-122"/>
                <a:cs typeface="Calibri" pitchFamily="34" charset="-120"/>
              </a:rPr>
              <a:t>bei 2,268 Hz und 2,480 Hz abgezogen</a:t>
            </a:r>
            <a:endParaRPr lang="en-US" sz="1200" dirty="0"/>
          </a:p>
        </p:txBody>
      </p:sp>
      <p:sp>
        <p:nvSpPr>
          <p:cNvPr id="10" name="Text 6"/>
          <p:cNvSpPr txBox="1"/>
          <p:nvPr/>
        </p:nvSpPr>
        <p:spPr>
          <a:xfrm>
            <a:off x="3517900" y="4724400"/>
            <a:ext cx="2514600" cy="266700"/>
          </a:xfrm>
          <a:prstGeom prst="rect">
            <a:avLst/>
          </a:prstGeom>
          <a:noFill/>
          <a:ln/>
        </p:spPr>
        <p:txBody>
          <a:bodyPr wrap="square" lIns="0" tIns="0" rIns="0" bIns="0" rtlCol="0" anchor="t"/>
          <a:lstStyle/>
          <a:p>
            <a:pPr indent="0" marL="0">
              <a:lnSpc>
                <a:spcPct val="115000"/>
              </a:lnSpc>
              <a:buNone/>
            </a:pPr>
            <a:r>
              <a:rPr lang="en-US" sz="1500" b="1" dirty="0">
                <a:solidFill>
                  <a:srgbClr val="14202E"/>
                </a:solidFill>
                <a:latin typeface="Calibri" pitchFamily="34" charset="0"/>
                <a:ea typeface="Calibri" pitchFamily="34" charset="-122"/>
                <a:cs typeface="Calibri" pitchFamily="34" charset="-120"/>
              </a:rPr>
              <a:t>Unverändert vor 1 s</a:t>
            </a:r>
            <a:endParaRPr lang="en-US" sz="1500" dirty="0"/>
          </a:p>
        </p:txBody>
      </p:sp>
      <p:sp>
        <p:nvSpPr>
          <p:cNvPr id="11" name="Text 7"/>
          <p:cNvSpPr txBox="1"/>
          <p:nvPr/>
        </p:nvSpPr>
        <p:spPr>
          <a:xfrm>
            <a:off x="3517900" y="5016500"/>
            <a:ext cx="2514600" cy="444500"/>
          </a:xfrm>
          <a:prstGeom prst="rect">
            <a:avLst/>
          </a:prstGeom>
          <a:noFill/>
          <a:ln/>
        </p:spPr>
        <p:txBody>
          <a:bodyPr wrap="square" lIns="0" tIns="0" rIns="0" bIns="0" rtlCol="0" anchor="t"/>
          <a:lstStyle/>
          <a:p>
            <a:pPr indent="0" marL="0">
              <a:lnSpc>
                <a:spcPct val="115000"/>
              </a:lnSpc>
              <a:buNone/>
            </a:pPr>
            <a:r>
              <a:rPr lang="en-US" sz="1200" dirty="0">
                <a:solidFill>
                  <a:srgbClr val="44505E"/>
                </a:solidFill>
                <a:latin typeface="Calibri" pitchFamily="34" charset="0"/>
                <a:ea typeface="Calibri" pitchFamily="34" charset="-122"/>
                <a:cs typeface="Calibri" pitchFamily="34" charset="-120"/>
              </a:rPr>
              <a:t>Abzug erst ab Analysebeginn</a:t>
            </a:r>
            <a:endParaRPr lang="en-US" sz="1200" dirty="0"/>
          </a:p>
        </p:txBody>
      </p:sp>
      <p:sp>
        <p:nvSpPr>
          <p:cNvPr id="12" name="Text 8"/>
          <p:cNvSpPr txBox="1"/>
          <p:nvPr/>
        </p:nvSpPr>
        <p:spPr>
          <a:xfrm>
            <a:off x="6223000" y="4724400"/>
            <a:ext cx="2514600" cy="266700"/>
          </a:xfrm>
          <a:prstGeom prst="rect">
            <a:avLst/>
          </a:prstGeom>
          <a:noFill/>
          <a:ln/>
        </p:spPr>
        <p:txBody>
          <a:bodyPr wrap="square" lIns="0" tIns="0" rIns="0" bIns="0" rtlCol="0" anchor="t"/>
          <a:lstStyle/>
          <a:p>
            <a:pPr indent="0" marL="0">
              <a:lnSpc>
                <a:spcPct val="115000"/>
              </a:lnSpc>
              <a:buNone/>
            </a:pPr>
            <a:r>
              <a:rPr lang="en-US" sz="1500" b="1" dirty="0">
                <a:solidFill>
                  <a:srgbClr val="14202E"/>
                </a:solidFill>
                <a:latin typeface="Calibri" pitchFamily="34" charset="0"/>
                <a:ea typeface="Calibri" pitchFamily="34" charset="-122"/>
                <a:cs typeface="Calibri" pitchFamily="34" charset="-120"/>
              </a:rPr>
              <a:t>−99,87 %</a:t>
            </a:r>
            <a:endParaRPr lang="en-US" sz="1500" dirty="0"/>
          </a:p>
        </p:txBody>
      </p:sp>
      <p:sp>
        <p:nvSpPr>
          <p:cNvPr id="13" name="Text 9"/>
          <p:cNvSpPr txBox="1"/>
          <p:nvPr/>
        </p:nvSpPr>
        <p:spPr>
          <a:xfrm>
            <a:off x="6223000" y="5016500"/>
            <a:ext cx="2514600" cy="444500"/>
          </a:xfrm>
          <a:prstGeom prst="rect">
            <a:avLst/>
          </a:prstGeom>
          <a:noFill/>
          <a:ln/>
        </p:spPr>
        <p:txBody>
          <a:bodyPr wrap="square" lIns="0" tIns="0" rIns="0" bIns="0" rtlCol="0" anchor="t"/>
          <a:lstStyle/>
          <a:p>
            <a:pPr indent="0" marL="0">
              <a:lnSpc>
                <a:spcPct val="115000"/>
              </a:lnSpc>
              <a:buNone/>
            </a:pPr>
            <a:r>
              <a:rPr lang="en-US" sz="1200" dirty="0">
                <a:solidFill>
                  <a:srgbClr val="44505E"/>
                </a:solidFill>
                <a:latin typeface="Calibri" pitchFamily="34" charset="0"/>
                <a:ea typeface="Calibri" pitchFamily="34" charset="-122"/>
                <a:cs typeface="Calibri" pitchFamily="34" charset="-120"/>
              </a:rPr>
              <a:t>Bandenergie 1,76–2,64 Hz, 4 bis 7 s</a:t>
            </a:r>
            <a:endParaRPr lang="en-US" sz="1200" dirty="0"/>
          </a:p>
        </p:txBody>
      </p:sp>
      <p:sp>
        <p:nvSpPr>
          <p:cNvPr id="14" name="Text 10"/>
          <p:cNvSpPr txBox="1"/>
          <p:nvPr/>
        </p:nvSpPr>
        <p:spPr>
          <a:xfrm>
            <a:off x="8928100" y="4724400"/>
            <a:ext cx="2514600" cy="266700"/>
          </a:xfrm>
          <a:prstGeom prst="rect">
            <a:avLst/>
          </a:prstGeom>
          <a:noFill/>
          <a:ln/>
        </p:spPr>
        <p:txBody>
          <a:bodyPr wrap="square" lIns="0" tIns="0" rIns="0" bIns="0" rtlCol="0" anchor="t"/>
          <a:lstStyle/>
          <a:p>
            <a:pPr indent="0" marL="0">
              <a:lnSpc>
                <a:spcPct val="115000"/>
              </a:lnSpc>
              <a:buNone/>
            </a:pPr>
            <a:r>
              <a:rPr lang="en-US" sz="1500" b="1" dirty="0">
                <a:solidFill>
                  <a:srgbClr val="B5491B"/>
                </a:solidFill>
                <a:latin typeface="Calibri" pitchFamily="34" charset="0"/>
                <a:ea typeface="Calibri" pitchFamily="34" charset="-122"/>
                <a:cs typeface="Calibri" pitchFamily="34" charset="-120"/>
              </a:rPr>
              <a:t>3 bis 11 % Rest</a:t>
            </a:r>
            <a:endParaRPr lang="en-US" sz="1500" dirty="0"/>
          </a:p>
        </p:txBody>
      </p:sp>
      <p:sp>
        <p:nvSpPr>
          <p:cNvPr id="15" name="Text 11"/>
          <p:cNvSpPr txBox="1"/>
          <p:nvPr/>
        </p:nvSpPr>
        <p:spPr>
          <a:xfrm>
            <a:off x="8928100" y="5016500"/>
            <a:ext cx="2514600" cy="444500"/>
          </a:xfrm>
          <a:prstGeom prst="rect">
            <a:avLst/>
          </a:prstGeom>
          <a:noFill/>
          <a:ln/>
        </p:spPr>
        <p:txBody>
          <a:bodyPr wrap="square" lIns="0" tIns="0" rIns="0" bIns="0" rtlCol="0" anchor="t"/>
          <a:lstStyle/>
          <a:p>
            <a:pPr indent="0" marL="0">
              <a:lnSpc>
                <a:spcPct val="115000"/>
              </a:lnSpc>
              <a:buNone/>
            </a:pPr>
            <a:r>
              <a:rPr lang="en-US" sz="1200" dirty="0">
                <a:solidFill>
                  <a:srgbClr val="44505E"/>
                </a:solidFill>
                <a:latin typeface="Calibri" pitchFamily="34" charset="0"/>
                <a:ea typeface="Calibri" pitchFamily="34" charset="-122"/>
                <a:cs typeface="Calibri" pitchFamily="34" charset="-120"/>
              </a:rPr>
              <a:t>der 2,27-Hz-Amplitude, je Sekunde von 3 bis 7 s</a:t>
            </a:r>
            <a:endParaRPr lang="en-US" sz="1200" dirty="0"/>
          </a:p>
        </p:txBody>
      </p:sp>
      <p:sp>
        <p:nvSpPr>
          <p:cNvPr id="16" name="Text 12"/>
          <p:cNvSpPr txBox="1"/>
          <p:nvPr/>
        </p:nvSpPr>
        <p:spPr>
          <a:xfrm>
            <a:off x="812800" y="5575300"/>
            <a:ext cx="10566400" cy="571500"/>
          </a:xfrm>
          <a:prstGeom prst="rect">
            <a:avLst/>
          </a:prstGeom>
          <a:noFill/>
          <a:ln/>
        </p:spPr>
        <p:txBody>
          <a:bodyPr wrap="square" lIns="0" tIns="0" rIns="0" bIns="0" rtlCol="0" anchor="t"/>
          <a:lstStyle/>
          <a:p>
            <a:pPr indent="0" marL="0">
              <a:lnSpc>
                <a:spcPct val="115000"/>
              </a:lnSpc>
              <a:buNone/>
            </a:pPr>
            <a:r>
              <a:rPr lang="en-US" sz="1300" b="1" dirty="0">
                <a:solidFill>
                  <a:srgbClr val="14202E"/>
                </a:solidFill>
                <a:latin typeface="Calibri" pitchFamily="34" charset="0"/>
                <a:ea typeface="Calibri" pitchFamily="34" charset="-122"/>
                <a:cs typeface="Calibri" pitchFamily="34" charset="-120"/>
              </a:rPr>
              <a:t>Warum Restwellen bleiben: </a:t>
            </a:r>
            <a:pPr indent="0" marL="0">
              <a:lnSpc>
                <a:spcPct val="115000"/>
              </a:lnSpc>
              <a:buNone/>
            </a:pPr>
            <a:r>
              <a:rPr lang="en-US" sz="1300" dirty="0">
                <a:solidFill>
                  <a:srgbClr val="44505E"/>
                </a:solidFill>
                <a:latin typeface="Calibri" pitchFamily="34" charset="0"/>
                <a:ea typeface="Calibri" pitchFamily="34" charset="-122"/>
                <a:cs typeface="Calibri" pitchFamily="34" charset="-120"/>
              </a:rPr>
              <a:t>Die gemessene Amplitude steigt bis etwa 4 s noch an und fällt erst dann. Das Modell kennt nur exponentielles Abklingen und trifft sie daher nur ungefähr. Beim negativen Sprung bleibt weniger als 1 %.</a:t>
            </a:r>
            <a:endParaRPr lang="en-US" sz="1300" dirty="0"/>
          </a:p>
        </p:txBody>
      </p:sp>
      <p:sp>
        <p:nvSpPr>
          <p:cNvPr id="25" name="Slide Number Placeholder 0"/>
          <p:cNvSpPr>
            <a:spLocks noGrp="1"/>
          </p:cNvSpPr>
          <p:nvPr>
            <p:ph type="sldNum" sz="quarter" idx="4294967295"/>
          </p:nvPr>
        </p:nvSpPr>
        <p:spPr>
          <a:xfrm>
            <a:off x="10795000" y="6426200"/>
            <a:ext cx="5842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5F6873"/>
                </a:solidFill>
                <a:latin typeface="Consolas"/>
                <a:ea typeface="Consolas"/>
                <a:cs typeface="Consola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812800" y="812800"/>
            <a:ext cx="10566400" cy="215900"/>
          </a:xfrm>
          <a:prstGeom prst="rect">
            <a:avLst/>
          </a:prstGeom>
          <a:noFill/>
          <a:ln/>
        </p:spPr>
        <p:txBody>
          <a:bodyPr wrap="square" lIns="0" tIns="0" rIns="0" bIns="0" rtlCol="0" anchor="t"/>
          <a:lstStyle/>
          <a:p>
            <a:pPr indent="0" marL="0">
              <a:lnSpc>
                <a:spcPct val="115000"/>
              </a:lnSpc>
              <a:buNone/>
            </a:pPr>
            <a:r>
              <a:rPr lang="en-US" sz="1200" spc="100" kern="0" dirty="0">
                <a:solidFill>
                  <a:srgbClr val="7FB2EE"/>
                </a:solidFill>
                <a:latin typeface="Consolas" pitchFamily="34" charset="0"/>
                <a:ea typeface="Consolas" pitchFamily="34" charset="-122"/>
                <a:cs typeface="Consolas" pitchFamily="34" charset="-120"/>
              </a:rPr>
              <a:t>SCHLUSSFOLGERUNGEN</a:t>
            </a:r>
            <a:endParaRPr lang="en-US" sz="1200" dirty="0"/>
          </a:p>
        </p:txBody>
      </p:sp>
      <p:sp>
        <p:nvSpPr>
          <p:cNvPr id="3" name="Text 0"/>
          <p:cNvSpPr/>
          <p:nvPr>
            <p:ph idx="100" type="title" hasCustomPrompt="1"/>
          </p:nvPr>
        </p:nvSpPr>
        <p:spPr>
          <a:xfrm>
            <a:off x="812800" y="1104900"/>
            <a:ext cx="10566400" cy="508000"/>
          </a:xfrm>
          <a:prstGeom prst="rect">
            <a:avLst/>
          </a:prstGeom>
          <a:noFill/>
          <a:ln/>
        </p:spPr>
        <p:txBody>
          <a:bodyPr wrap="square" lIns="0" tIns="0" rIns="0" bIns="0" rtlCol="0" anchor="t"/>
          <a:lstStyle/>
          <a:p>
            <a:pPr algn="l" indent="0" marL="0">
              <a:buNone/>
            </a:pPr>
            <a:r>
              <a:rPr lang="en-US" sz="3200" b="1" dirty="0">
                <a:solidFill>
                  <a:srgbClr val="F4F3EF"/>
                </a:solidFill>
                <a:latin typeface="Calibri" pitchFamily="34" charset="0"/>
                <a:ea typeface="Calibri" pitchFamily="34" charset="-122"/>
                <a:cs typeface="Calibri" pitchFamily="34" charset="-120"/>
              </a:rPr>
              <a:t>Was die Ergebnisse zeigen</a:t>
            </a:r>
            <a:endParaRPr lang="en-US" sz="3200" dirty="0"/>
          </a:p>
        </p:txBody>
      </p:sp>
      <p:sp>
        <p:nvSpPr>
          <p:cNvPr id="4" name="Text 2"/>
          <p:cNvSpPr txBox="1"/>
          <p:nvPr/>
        </p:nvSpPr>
        <p:spPr>
          <a:xfrm>
            <a:off x="812800" y="6426200"/>
            <a:ext cx="9779000" cy="228600"/>
          </a:xfrm>
          <a:prstGeom prst="rect">
            <a:avLst/>
          </a:prstGeom>
          <a:noFill/>
          <a:ln/>
        </p:spPr>
        <p:txBody>
          <a:bodyPr wrap="square" lIns="0" tIns="0" rIns="0" bIns="0" rtlCol="0" anchor="t"/>
          <a:lstStyle/>
          <a:p>
            <a:pPr indent="0" marL="0">
              <a:lnSpc>
                <a:spcPct val="115000"/>
              </a:lnSpc>
              <a:buNone/>
            </a:pPr>
            <a:r>
              <a:rPr lang="en-US" sz="1200" dirty="0">
                <a:solidFill>
                  <a:srgbClr val="B8C3CF"/>
                </a:solidFill>
                <a:latin typeface="Calibri" pitchFamily="34" charset="0"/>
                <a:ea typeface="Calibri" pitchFamily="34" charset="-122"/>
                <a:cs typeface="Calibri" pitchFamily="34" charset="-120"/>
              </a:rPr>
              <a:t>Projektarbeit Schwingungsanalyse mit Matrix Pencil · Arbeitsfassung 29.10.2026</a:t>
            </a:r>
            <a:endParaRPr lang="en-US" sz="1200" dirty="0"/>
          </a:p>
        </p:txBody>
      </p:sp>
      <p:sp>
        <p:nvSpPr>
          <p:cNvPr id="6" name="Shape 3"/>
          <p:cNvSpPr/>
          <p:nvPr/>
        </p:nvSpPr>
        <p:spPr>
          <a:xfrm>
            <a:off x="812800" y="1841500"/>
            <a:ext cx="5181600" cy="2095500"/>
          </a:xfrm>
          <a:prstGeom prst="roundRect">
            <a:avLst>
              <a:gd name="adj" fmla="val 4800"/>
            </a:avLst>
          </a:prstGeom>
          <a:solidFill>
            <a:srgbClr val="1E2D3F"/>
          </a:solidFill>
          <a:ln w="9525">
            <a:solidFill>
              <a:srgbClr val="33465C"/>
            </a:solidFill>
            <a:prstDash val="solid"/>
          </a:ln>
        </p:spPr>
      </p:sp>
      <p:sp>
        <p:nvSpPr>
          <p:cNvPr id="7" name="Text 4"/>
          <p:cNvSpPr txBox="1"/>
          <p:nvPr/>
        </p:nvSpPr>
        <p:spPr>
          <a:xfrm>
            <a:off x="1041400" y="2044700"/>
            <a:ext cx="4724400" cy="292100"/>
          </a:xfrm>
          <a:prstGeom prst="rect">
            <a:avLst/>
          </a:prstGeom>
          <a:noFill/>
          <a:ln/>
        </p:spPr>
        <p:txBody>
          <a:bodyPr wrap="square" lIns="0" tIns="0" rIns="0" bIns="0" rtlCol="0" anchor="t"/>
          <a:lstStyle/>
          <a:p>
            <a:pPr indent="0" marL="0">
              <a:lnSpc>
                <a:spcPct val="115000"/>
              </a:lnSpc>
              <a:buNone/>
            </a:pPr>
            <a:r>
              <a:rPr lang="en-US" sz="1800" b="1" dirty="0">
                <a:solidFill>
                  <a:srgbClr val="F2A07B"/>
                </a:solidFill>
                <a:latin typeface="Calibri" pitchFamily="34" charset="0"/>
                <a:ea typeface="Calibri" pitchFamily="34" charset="-122"/>
                <a:cs typeface="Calibri" pitchFamily="34" charset="-120"/>
              </a:rPr>
              <a:t>Prüfstufen 1 bis 3</a:t>
            </a:r>
            <a:endParaRPr lang="en-US" sz="1800" dirty="0"/>
          </a:p>
        </p:txBody>
      </p:sp>
      <p:sp>
        <p:nvSpPr>
          <p:cNvPr id="8" name="Text 5"/>
          <p:cNvSpPr txBox="1"/>
          <p:nvPr/>
        </p:nvSpPr>
        <p:spPr>
          <a:xfrm>
            <a:off x="1041400" y="2438400"/>
            <a:ext cx="4724400" cy="1397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D5DDE6"/>
                </a:solidFill>
                <a:latin typeface="Calibri" pitchFamily="34" charset="0"/>
                <a:ea typeface="Calibri" pitchFamily="34" charset="-122"/>
                <a:cs typeface="Calibri" pitchFamily="34" charset="-120"/>
              </a:rPr>
              <a:t>Sollkurve: Abweichung 6,7 · 10⁻¹³, Rechenweg exakt</a:t>
            </a:r>
            <a:endParaRPr lang="en-US" sz="1400" dirty="0"/>
          </a:p>
          <a:p>
            <a:pPr marL="342900" indent="-342900">
              <a:spcAft>
                <a:spcPts val="400"/>
              </a:spcAft>
              <a:buSzPct val="100000"/>
              <a:buChar char="•"/>
            </a:pPr>
            <a:r>
              <a:rPr lang="en-US" sz="1400" dirty="0">
                <a:solidFill>
                  <a:srgbClr val="D5DDE6"/>
                </a:solidFill>
                <a:latin typeface="Calibri" pitchFamily="34" charset="0"/>
                <a:ea typeface="Calibri" pitchFamily="34" charset="-122"/>
                <a:cs typeface="Calibri" pitchFamily="34" charset="-120"/>
              </a:rPr>
              <a:t>NIST: zertifizierte Parameter bis 3 · 10⁻¹⁰ getroffen</a:t>
            </a:r>
            <a:endParaRPr lang="en-US" sz="1400" dirty="0"/>
          </a:p>
          <a:p>
            <a:pPr marL="342900" indent="-342900">
              <a:spcAft>
                <a:spcPts val="400"/>
              </a:spcAft>
              <a:buSzPct val="100000"/>
              <a:buChar char="•"/>
            </a:pPr>
            <a:r>
              <a:rPr lang="en-US" sz="1400" dirty="0">
                <a:solidFill>
                  <a:srgbClr val="D5DDE6"/>
                </a:solidFill>
                <a:latin typeface="Calibri" pitchFamily="34" charset="0"/>
                <a:ea typeface="Calibri" pitchFamily="34" charset="-122"/>
                <a:cs typeface="Calibri" pitchFamily="34" charset="-120"/>
              </a:rPr>
              <a:t>Mexiko: Frequenzen auf &lt; 0,06 % wie veröffentlicht</a:t>
            </a:r>
            <a:endParaRPr lang="en-US" sz="1400" dirty="0"/>
          </a:p>
          <a:p>
            <a:pPr marL="342900" indent="-342900">
              <a:spcAft>
                <a:spcPts val="400"/>
              </a:spcAft>
              <a:buSzPct val="100000"/>
              <a:buChar char="•"/>
            </a:pPr>
            <a:r>
              <a:rPr lang="en-US" sz="1400" dirty="0">
                <a:solidFill>
                  <a:srgbClr val="D5DDE6"/>
                </a:solidFill>
                <a:latin typeface="Calibri" pitchFamily="34" charset="0"/>
                <a:ea typeface="Calibri" pitchFamily="34" charset="-122"/>
                <a:cs typeface="Calibri" pitchFamily="34" charset="-120"/>
              </a:rPr>
              <a:t>Mexiko: Modellfehler 17,05 %, Abzug blockiert; höhere Ordnung passt nur scheinbar besser</a:t>
            </a:r>
            <a:endParaRPr lang="en-US" sz="1400" dirty="0"/>
          </a:p>
        </p:txBody>
      </p:sp>
      <p:sp>
        <p:nvSpPr>
          <p:cNvPr id="9" name="Shape 6"/>
          <p:cNvSpPr/>
          <p:nvPr/>
        </p:nvSpPr>
        <p:spPr>
          <a:xfrm>
            <a:off x="6197600" y="1841500"/>
            <a:ext cx="5181600" cy="2095500"/>
          </a:xfrm>
          <a:prstGeom prst="roundRect">
            <a:avLst>
              <a:gd name="adj" fmla="val 4800"/>
            </a:avLst>
          </a:prstGeom>
          <a:solidFill>
            <a:srgbClr val="1E2D3F"/>
          </a:solidFill>
          <a:ln w="9525">
            <a:solidFill>
              <a:srgbClr val="33465C"/>
            </a:solidFill>
            <a:prstDash val="solid"/>
          </a:ln>
        </p:spPr>
      </p:sp>
      <p:sp>
        <p:nvSpPr>
          <p:cNvPr id="10" name="Text 7"/>
          <p:cNvSpPr txBox="1"/>
          <p:nvPr/>
        </p:nvSpPr>
        <p:spPr>
          <a:xfrm>
            <a:off x="6426200" y="2044700"/>
            <a:ext cx="4724400" cy="292100"/>
          </a:xfrm>
          <a:prstGeom prst="rect">
            <a:avLst/>
          </a:prstGeom>
          <a:noFill/>
          <a:ln/>
        </p:spPr>
        <p:txBody>
          <a:bodyPr wrap="square" lIns="0" tIns="0" rIns="0" bIns="0" rtlCol="0" anchor="t"/>
          <a:lstStyle/>
          <a:p>
            <a:pPr indent="0" marL="0">
              <a:lnSpc>
                <a:spcPct val="115000"/>
              </a:lnSpc>
              <a:buNone/>
            </a:pPr>
            <a:r>
              <a:rPr lang="en-US" sz="1800" b="1" dirty="0">
                <a:solidFill>
                  <a:srgbClr val="7FB2EE"/>
                </a:solidFill>
                <a:latin typeface="Calibri" pitchFamily="34" charset="0"/>
                <a:ea typeface="Calibri" pitchFamily="34" charset="-122"/>
                <a:cs typeface="Calibri" pitchFamily="34" charset="-120"/>
              </a:rPr>
              <a:t>Stufe 4: eigene Messungen P_pos</a:t>
            </a:r>
            <a:endParaRPr lang="en-US" sz="1800" dirty="0"/>
          </a:p>
        </p:txBody>
      </p:sp>
      <p:sp>
        <p:nvSpPr>
          <p:cNvPr id="11" name="Text 8"/>
          <p:cNvSpPr txBox="1"/>
          <p:nvPr/>
        </p:nvSpPr>
        <p:spPr>
          <a:xfrm>
            <a:off x="6426200" y="2438400"/>
            <a:ext cx="4724400" cy="1397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D5DDE6"/>
                </a:solidFill>
                <a:latin typeface="Calibri" pitchFamily="34" charset="0"/>
                <a:ea typeface="Calibri" pitchFamily="34" charset="-122"/>
                <a:cs typeface="Calibri" pitchFamily="34" charset="-120"/>
              </a:rPr>
              <a:t>Pendelung bei 2,268 Hz nach beiden Sprüngen</a:t>
            </a:r>
            <a:endParaRPr lang="en-US" sz="1400" dirty="0"/>
          </a:p>
          <a:p>
            <a:pPr marL="342900" indent="-342900">
              <a:spcAft>
                <a:spcPts val="400"/>
              </a:spcAft>
              <a:buSzPct val="100000"/>
              <a:buChar char="•"/>
            </a:pPr>
            <a:r>
              <a:rPr lang="en-US" sz="1400" dirty="0">
                <a:solidFill>
                  <a:srgbClr val="D5DDE6"/>
                </a:solidFill>
                <a:latin typeface="Calibri" pitchFamily="34" charset="0"/>
                <a:ea typeface="Calibri" pitchFamily="34" charset="-122"/>
                <a:cs typeface="Calibri" pitchFamily="34" charset="-120"/>
              </a:rPr>
              <a:t>Modellfehler 0,763 % (positiv) und 0,594 % (negativ)</a:t>
            </a:r>
            <a:endParaRPr lang="en-US" sz="1400" dirty="0"/>
          </a:p>
          <a:p>
            <a:pPr marL="342900" indent="-342900">
              <a:spcAft>
                <a:spcPts val="400"/>
              </a:spcAft>
              <a:buSzPct val="100000"/>
              <a:buChar char="•"/>
            </a:pPr>
            <a:r>
              <a:rPr lang="en-US" sz="1400" dirty="0">
                <a:solidFill>
                  <a:srgbClr val="D5DDE6"/>
                </a:solidFill>
                <a:latin typeface="Calibri" pitchFamily="34" charset="0"/>
                <a:ea typeface="Calibri" pitchFamily="34" charset="-122"/>
                <a:cs typeface="Calibri" pitchFamily="34" charset="-120"/>
              </a:rPr>
              <a:t>Bandenergie 1,76–2,64 Hz nach dem Abzug um &gt; 99,8 % kleiner</a:t>
            </a:r>
            <a:endParaRPr lang="en-US" sz="1400" dirty="0"/>
          </a:p>
          <a:p>
            <a:pPr marL="342900" indent="-342900">
              <a:spcAft>
                <a:spcPts val="400"/>
              </a:spcAft>
              <a:buSzPct val="100000"/>
              <a:buChar char="•"/>
            </a:pPr>
            <a:r>
              <a:rPr lang="en-US" sz="1400" dirty="0">
                <a:solidFill>
                  <a:srgbClr val="D5DDE6"/>
                </a:solidFill>
                <a:latin typeface="Calibri" pitchFamily="34" charset="0"/>
                <a:ea typeface="Calibri" pitchFamily="34" charset="-122"/>
                <a:cs typeface="Calibri" pitchFamily="34" charset="-120"/>
              </a:rPr>
              <a:t>Beide Abzüge freigegeben, positiv mit zwei Anteilen</a:t>
            </a:r>
            <a:endParaRPr lang="en-US" sz="1400" dirty="0"/>
          </a:p>
        </p:txBody>
      </p:sp>
      <p:sp>
        <p:nvSpPr>
          <p:cNvPr id="12" name="Text 9"/>
          <p:cNvSpPr txBox="1"/>
          <p:nvPr/>
        </p:nvSpPr>
        <p:spPr>
          <a:xfrm>
            <a:off x="812800" y="4216400"/>
            <a:ext cx="10566400" cy="698500"/>
          </a:xfrm>
          <a:prstGeom prst="rect">
            <a:avLst/>
          </a:prstGeom>
          <a:noFill/>
          <a:ln/>
        </p:spPr>
        <p:txBody>
          <a:bodyPr wrap="square" lIns="0" tIns="0" rIns="0" bIns="0" rtlCol="0" anchor="t"/>
          <a:lstStyle/>
          <a:p>
            <a:pPr indent="0" marL="0">
              <a:lnSpc>
                <a:spcPct val="115000"/>
              </a:lnSpc>
              <a:buNone/>
            </a:pPr>
            <a:r>
              <a:rPr lang="en-US" sz="1800" b="1" dirty="0">
                <a:solidFill>
                  <a:srgbClr val="F4F3EF"/>
                </a:solidFill>
                <a:latin typeface="Calibri" pitchFamily="34" charset="0"/>
                <a:ea typeface="Calibri" pitchFamily="34" charset="-122"/>
                <a:cs typeface="Calibri" pitchFamily="34" charset="-120"/>
              </a:rPr>
              <a:t>Erkennen und Freigeben sind getrennt zu bewerten. Für unsere Messungen fehlt eine unabhängig bekannte Sollkurve.</a:t>
            </a:r>
            <a:endParaRPr lang="en-US" sz="1800" dirty="0"/>
          </a:p>
        </p:txBody>
      </p:sp>
      <p:sp>
        <p:nvSpPr>
          <p:cNvPr id="25" name="Slide Number Placeholder 0"/>
          <p:cNvSpPr>
            <a:spLocks noGrp="1"/>
          </p:cNvSpPr>
          <p:nvPr>
            <p:ph type="sldNum" sz="quarter" idx="4294967295"/>
          </p:nvPr>
        </p:nvSpPr>
        <p:spPr>
          <a:xfrm>
            <a:off x="10795000" y="6426200"/>
            <a:ext cx="5842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B8C3CF"/>
                </a:solidFill>
                <a:latin typeface="Consolas"/>
                <a:ea typeface="Consolas"/>
                <a:cs typeface="Consola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812800" y="812800"/>
            <a:ext cx="10566400" cy="215900"/>
          </a:xfrm>
          <a:prstGeom prst="rect">
            <a:avLst/>
          </a:prstGeom>
          <a:noFill/>
          <a:ln/>
        </p:spPr>
        <p:txBody>
          <a:bodyPr wrap="square" lIns="0" tIns="0" rIns="0" bIns="0" rtlCol="0" anchor="t"/>
          <a:lstStyle/>
          <a:p>
            <a:pPr indent="0" marL="0">
              <a:lnSpc>
                <a:spcPct val="115000"/>
              </a:lnSpc>
              <a:buNone/>
            </a:pPr>
            <a:r>
              <a:rPr lang="en-US" sz="1200" spc="100" kern="0" dirty="0">
                <a:solidFill>
                  <a:srgbClr val="1C5CAB"/>
                </a:solidFill>
                <a:latin typeface="Consolas" pitchFamily="34" charset="0"/>
                <a:ea typeface="Consolas" pitchFamily="34" charset="-122"/>
                <a:cs typeface="Consolas" pitchFamily="34" charset="-120"/>
              </a:rPr>
              <a:t>ANHANG</a:t>
            </a:r>
            <a:endParaRPr lang="en-US" sz="1200" dirty="0"/>
          </a:p>
        </p:txBody>
      </p:sp>
      <p:sp>
        <p:nvSpPr>
          <p:cNvPr id="3" name="Text 0"/>
          <p:cNvSpPr/>
          <p:nvPr>
            <p:ph idx="100" type="title" hasCustomPrompt="1"/>
          </p:nvPr>
        </p:nvSpPr>
        <p:spPr>
          <a:xfrm>
            <a:off x="812800" y="1104900"/>
            <a:ext cx="10566400" cy="508000"/>
          </a:xfrm>
          <a:prstGeom prst="rect">
            <a:avLst/>
          </a:prstGeom>
          <a:noFill/>
          <a:ln/>
        </p:spPr>
        <p:txBody>
          <a:bodyPr wrap="square" lIns="0" tIns="0" rIns="0" bIns="0" rtlCol="0" anchor="t"/>
          <a:lstStyle/>
          <a:p>
            <a:pPr algn="l" indent="0" marL="0">
              <a:buNone/>
            </a:pPr>
            <a:r>
              <a:rPr lang="en-US" sz="3200" b="1" dirty="0">
                <a:solidFill>
                  <a:srgbClr val="14202E"/>
                </a:solidFill>
                <a:latin typeface="Calibri" pitchFamily="34" charset="0"/>
                <a:ea typeface="Calibri" pitchFamily="34" charset="-122"/>
                <a:cs typeface="Calibri" pitchFamily="34" charset="-120"/>
              </a:rPr>
              <a:t>Abkürzungen und Formelzeichen</a:t>
            </a:r>
            <a:endParaRPr lang="en-US" sz="3200" dirty="0"/>
          </a:p>
        </p:txBody>
      </p:sp>
      <p:sp>
        <p:nvSpPr>
          <p:cNvPr id="4" name="Text 2"/>
          <p:cNvSpPr txBox="1"/>
          <p:nvPr/>
        </p:nvSpPr>
        <p:spPr>
          <a:xfrm>
            <a:off x="812800" y="6426200"/>
            <a:ext cx="9779000" cy="228600"/>
          </a:xfrm>
          <a:prstGeom prst="rect">
            <a:avLst/>
          </a:prstGeom>
          <a:noFill/>
          <a:ln/>
        </p:spPr>
        <p:txBody>
          <a:bodyPr wrap="square" lIns="0" tIns="0" rIns="0" bIns="0" rtlCol="0" anchor="t"/>
          <a:lstStyle/>
          <a:p>
            <a:pPr indent="0" marL="0">
              <a:lnSpc>
                <a:spcPct val="115000"/>
              </a:lnSpc>
              <a:buNone/>
            </a:pPr>
            <a:r>
              <a:rPr lang="en-US" sz="1200" dirty="0">
                <a:solidFill>
                  <a:srgbClr val="5F6873"/>
                </a:solidFill>
                <a:latin typeface="Calibri" pitchFamily="34" charset="0"/>
                <a:ea typeface="Calibri" pitchFamily="34" charset="-122"/>
                <a:cs typeface="Calibri" pitchFamily="34" charset="-120"/>
              </a:rPr>
              <a:t>Definitionen von SCR, PEmax, p1 und D nach VDE FNN Hinweis Netzbildende Eigenschaften v2.1, Abschnitt 3</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812800" y="1879600"/>
          <a:ext cx="5130800" cy="914400"/>
        </p:xfrm>
        <a:graphic>
          <a:graphicData uri="http://schemas.openxmlformats.org/drawingml/2006/table">
            <a:tbl>
              <a:tblPr/>
              <a:tblGrid>
                <a:gridCol w="1435100"/>
                <a:gridCol w="3695700"/>
              </a:tblGrid>
              <a:tr h="0">
                <a:tc>
                  <a:txBody>
                    <a:bodyPr/>
                    <a:lstStyle/>
                    <a:p>
                      <a:pPr algn="l" indent="0" marL="0">
                        <a:buNone/>
                      </a:pPr>
                      <a:r>
                        <a:rPr lang="en-US" sz="1200" b="1" dirty="0">
                          <a:solidFill>
                            <a:srgbClr val="14202E"/>
                          </a:solidFill>
                          <a:latin typeface="Calibri" pitchFamily="34" charset="0"/>
                          <a:ea typeface="Calibri" pitchFamily="34" charset="-122"/>
                          <a:cs typeface="Calibri" pitchFamily="34" charset="-120"/>
                        </a:rPr>
                        <a:t>Kürzel</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E9E8E2"/>
                    </a:solidFill>
                  </a:tcPr>
                </a:tc>
                <a:tc>
                  <a:txBody>
                    <a:bodyPr/>
                    <a:lstStyle/>
                    <a:p>
                      <a:pPr algn="l" indent="0" marL="0">
                        <a:buNone/>
                      </a:pPr>
                      <a:r>
                        <a:rPr lang="en-US" sz="1200" b="1" dirty="0">
                          <a:solidFill>
                            <a:srgbClr val="14202E"/>
                          </a:solidFill>
                          <a:latin typeface="Calibri" pitchFamily="34" charset="0"/>
                          <a:ea typeface="Calibri" pitchFamily="34" charset="-122"/>
                          <a:cs typeface="Calibri" pitchFamily="34" charset="-120"/>
                        </a:rPr>
                        <a:t>Bedeutung</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E9E8E2"/>
                    </a:solidFill>
                  </a:tcPr>
                </a:tc>
              </a:tr>
              <a:tr h="0">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AV21, AV32</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Verhältnis zweier Überschwinger, z. B. ΔPS2 / ΔPS1</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r>
              <a:tr h="0">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D</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Dämpfungsmaß (Dämpfungsgrad)</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r>
              <a:tr h="0">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ERA</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Eigensystem Realization Algorithm</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r>
              <a:tr h="0">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FFT</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Schnelle Fourier-Transformation</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r>
              <a:tr h="0">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FNET</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Messnetz für die Netzfrequenz</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r>
              <a:tr h="0">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FNN</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Forum Netztechnik/Netzbetrieb im VDE</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r>
              <a:tr h="0">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NIST, StRD</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US-Normungsinstitut, Referenzdatensätze</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r>
            </a:tbl>
          </a:graphicData>
        </a:graphic>
      </p:graphicFrame>
      <p:graphicFrame>
        <p:nvGraphicFramePr>
          <p:cNvPr id="43" name="Table 1"/>
          <p:cNvGraphicFramePr>
            <a:graphicFrameLocks noGrp="1"/>
          </p:cNvGraphicFramePr>
          <p:nvPr>
            <p:extLst>
              <p:ext uri="{D42A27DB-BD31-4B8C-83A1-F6EECF244321}">
                <p14:modId xmlns:p14="http://schemas.microsoft.com/office/powerpoint/2010/main" val="1579011935"/>
              </p:ext>
            </p:extLst>
          </p:nvPr>
        </p:nvGraphicFramePr>
        <p:xfrm>
          <a:off x="6248400" y="1879600"/>
          <a:ext cx="5130800" cy="914400"/>
        </p:xfrm>
        <a:graphic>
          <a:graphicData uri="http://schemas.openxmlformats.org/drawingml/2006/table">
            <a:tbl>
              <a:tblPr/>
              <a:tblGrid>
                <a:gridCol w="1435100"/>
                <a:gridCol w="3695700"/>
              </a:tblGrid>
              <a:tr h="0">
                <a:tc>
                  <a:txBody>
                    <a:bodyPr/>
                    <a:lstStyle/>
                    <a:p>
                      <a:pPr algn="l" indent="0" marL="0">
                        <a:buNone/>
                      </a:pPr>
                      <a:r>
                        <a:rPr lang="en-US" sz="1200" b="1" dirty="0">
                          <a:solidFill>
                            <a:srgbClr val="14202E"/>
                          </a:solidFill>
                          <a:latin typeface="Calibri" pitchFamily="34" charset="0"/>
                          <a:ea typeface="Calibri" pitchFamily="34" charset="-122"/>
                          <a:cs typeface="Calibri" pitchFamily="34" charset="-120"/>
                        </a:rPr>
                        <a:t>Kürzel</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E9E8E2"/>
                    </a:solidFill>
                  </a:tcPr>
                </a:tc>
                <a:tc>
                  <a:txBody>
                    <a:bodyPr/>
                    <a:lstStyle/>
                    <a:p>
                      <a:pPr algn="l" indent="0" marL="0">
                        <a:buNone/>
                      </a:pPr>
                      <a:r>
                        <a:rPr lang="en-US" sz="1200" b="1" dirty="0">
                          <a:solidFill>
                            <a:srgbClr val="14202E"/>
                          </a:solidFill>
                          <a:latin typeface="Calibri" pitchFamily="34" charset="0"/>
                          <a:ea typeface="Calibri" pitchFamily="34" charset="-122"/>
                          <a:cs typeface="Calibri" pitchFamily="34" charset="-120"/>
                        </a:rPr>
                        <a:t>Bedeutung</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E9E8E2"/>
                    </a:solidFill>
                  </a:tcPr>
                </a:tc>
              </a:tr>
              <a:tr h="0">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p1</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Mitsystem-Wirkleistung der Grundschwingung</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r>
              <a:tr h="0">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PEmax</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Maximale Wirkleistung der Einheit</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r>
              <a:tr h="0">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P_pos</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Leistungskanal der Messdatei</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r>
              <a:tr h="0">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RMS, RMSE</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Effektivwert, Wurzel des mittleren Fehlerquadrats</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r>
              <a:tr h="0">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SCR</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Kurzschlussleistungsverhältnis (Short Circuit Ratio)</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r>
              <a:tr h="0">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SVD</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Singulärwertzerlegung</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r>
              <a:tr h="0">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TR8</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c>
                  <a:txBody>
                    <a:bodyPr/>
                    <a:lstStyle/>
                    <a:p>
                      <a:pPr algn="l" indent="0" marL="0">
                        <a:buNone/>
                      </a:pPr>
                      <a:r>
                        <a:rPr lang="en-US" sz="1200" dirty="0">
                          <a:solidFill>
                            <a:srgbClr val="14202E"/>
                          </a:solidFill>
                          <a:latin typeface="Calibri" pitchFamily="34" charset="0"/>
                          <a:ea typeface="Calibri" pitchFamily="34" charset="-122"/>
                          <a:cs typeface="Calibri" pitchFamily="34" charset="-120"/>
                        </a:rPr>
                        <a:t>FGW-Richtlinie 8 zur Zertifizierung</a:t>
                      </a:r>
                      <a:endParaRPr lang="en-US" sz="1200" dirty="0">
                        <a:latin typeface="Calibri" charset="0"/>
                        <a:ea typeface="Calibri" charset="0"/>
                        <a:cs typeface="Calibri" charset="0"/>
                      </a:endParaRPr>
                    </a:p>
                  </a:txBody>
                  <a:tcPr marL="76200" marR="76200" marT="38100" marB="38100" anchor="ctr">
                    <a:lnL w="9525" cap="flat" cmpd="sng" algn="ctr">
                      <a:solidFill>
                        <a:srgbClr val="D9D8D1"/>
                      </a:solidFill>
                      <a:prstDash val="solid"/>
                      <a:round/>
                      <a:headEnd type="none" w="med" len="med"/>
                      <a:tailEnd type="none" w="med" len="med"/>
                    </a:lnL>
                    <a:lnR w="9525" cap="flat" cmpd="sng" algn="ctr">
                      <a:solidFill>
                        <a:srgbClr val="D9D8D1"/>
                      </a:solidFill>
                      <a:prstDash val="solid"/>
                      <a:round/>
                      <a:headEnd type="none" w="med" len="med"/>
                      <a:tailEnd type="none" w="med" len="med"/>
                    </a:lnR>
                    <a:lnT w="9525" cap="flat" cmpd="sng" algn="ctr">
                      <a:solidFill>
                        <a:srgbClr val="D9D8D1"/>
                      </a:solidFill>
                      <a:prstDash val="solid"/>
                      <a:round/>
                      <a:headEnd type="none" w="med" len="med"/>
                      <a:tailEnd type="none" w="med" len="med"/>
                    </a:lnT>
                    <a:lnB w="9525" cap="flat" cmpd="sng" algn="ctr">
                      <a:solidFill>
                        <a:srgbClr val="D9D8D1"/>
                      </a:solidFill>
                      <a:prstDash val="solid"/>
                      <a:round/>
                      <a:headEnd type="none" w="med" len="med"/>
                      <a:tailEnd type="none" w="med" len="med"/>
                    </a:lnB>
                    <a:solidFill>
                      <a:srgbClr val="F4F3EF"/>
                    </a:solidFill>
                  </a:tcPr>
                </a:tc>
              </a:tr>
            </a:tbl>
          </a:graphicData>
        </a:graphic>
      </p:graphicFrame>
      <p:sp>
        <p:nvSpPr>
          <p:cNvPr id="8" name="Text 3"/>
          <p:cNvSpPr txBox="1"/>
          <p:nvPr/>
        </p:nvSpPr>
        <p:spPr>
          <a:xfrm>
            <a:off x="812800" y="4826000"/>
            <a:ext cx="10566400" cy="571500"/>
          </a:xfrm>
          <a:prstGeom prst="rect">
            <a:avLst/>
          </a:prstGeom>
          <a:noFill/>
          <a:ln/>
        </p:spPr>
        <p:txBody>
          <a:bodyPr wrap="square" lIns="0" tIns="0" rIns="0" bIns="0" rtlCol="0" anchor="t"/>
          <a:lstStyle/>
          <a:p>
            <a:pPr indent="0" marL="0">
              <a:lnSpc>
                <a:spcPct val="115000"/>
              </a:lnSpc>
              <a:buNone/>
            </a:pPr>
            <a:r>
              <a:rPr lang="en-US" sz="1500" b="1" dirty="0">
                <a:solidFill>
                  <a:srgbClr val="14202E"/>
                </a:solidFill>
                <a:latin typeface="Calibri" pitchFamily="34" charset="0"/>
                <a:ea typeface="Calibri" pitchFamily="34" charset="-122"/>
                <a:cs typeface="Calibri" pitchFamily="34" charset="-120"/>
              </a:rPr>
              <a:t>Formelzeichen: </a:t>
            </a:r>
            <a:pPr indent="0" marL="0">
              <a:lnSpc>
                <a:spcPct val="115000"/>
              </a:lnSpc>
              <a:buNone/>
            </a:pPr>
            <a:r>
              <a:rPr lang="en-US" sz="1500" dirty="0">
                <a:solidFill>
                  <a:srgbClr val="44505E"/>
                </a:solidFill>
                <a:latin typeface="Calibri" pitchFamily="34" charset="0"/>
                <a:ea typeface="Calibri" pitchFamily="34" charset="-122"/>
                <a:cs typeface="Calibri" pitchFamily="34" charset="-120"/>
              </a:rPr>
              <a:t>z Pol, r = |z| Betrag, θ Winkel pro Schritt, σ Abklingrate in 1/s, f Frequenz in Hz, Δt = 0,01 s Abtastschritt, H0 und H1 Hankel-Matrizen, B reduzierte Matrix.</a:t>
            </a:r>
            <a:endParaRPr lang="en-US" sz="1500" dirty="0"/>
          </a:p>
        </p:txBody>
      </p:sp>
      <p:sp>
        <p:nvSpPr>
          <p:cNvPr id="25" name="Slide Number Placeholder 0"/>
          <p:cNvSpPr>
            <a:spLocks noGrp="1"/>
          </p:cNvSpPr>
          <p:nvPr>
            <p:ph type="sldNum" sz="quarter" idx="4294967295"/>
          </p:nvPr>
        </p:nvSpPr>
        <p:spPr>
          <a:xfrm>
            <a:off x="10795000" y="6426200"/>
            <a:ext cx="5842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5F6873"/>
                </a:solidFill>
                <a:latin typeface="Consolas"/>
                <a:ea typeface="Consolas"/>
                <a:cs typeface="Consolas"/>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Schwingungsanalyse mit Matrix Pencil – Ergebnisse</dc:title>
  <dc:subject>PptxGenJS Presentation</dc:subject>
  <dc:creator>Yunus Sevgi</dc:creator>
  <cp:lastModifiedBy>Yunus Sevgi</cp:lastModifiedBy>
  <cp:revision>1</cp:revision>
  <dcterms:created xsi:type="dcterms:W3CDTF">2026-10-29T16:30:54Z</dcterms:created>
  <dcterms:modified xsi:type="dcterms:W3CDTF">2026-10-29T16:30:54Z</dcterms:modified>
</cp:coreProperties>
</file>